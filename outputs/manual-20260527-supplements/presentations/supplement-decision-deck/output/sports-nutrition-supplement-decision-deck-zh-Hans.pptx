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5d36fc41f34b66" /><Relationship Type="http://schemas.openxmlformats.org/officeDocument/2006/relationships/extended-properties" Target="/docProps/app.xml" Id="R807a7526ed424c29" /><Relationship Type="http://schemas.openxmlformats.org/officeDocument/2006/relationships/officeDocument" Target="/ppt/presentation.xml" Id="R74dfab2482ad4c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b752c8ea234708"/>
  </p:sldMasterIdLst>
  <p:notesMasterIdLst>
    <p:notesMasterId xmlns:r="http://schemas.openxmlformats.org/officeDocument/2006/relationships" r:id="R5acdac67e39d496a"/>
  </p:notesMasterIdLst>
  <p:sldIdLst>
    <p:sldId xmlns:r="http://schemas.openxmlformats.org/officeDocument/2006/relationships" id="256" r:id="Re130ed43999c4183"/>
    <p:sldId xmlns:r="http://schemas.openxmlformats.org/officeDocument/2006/relationships" id="257" r:id="Rb2d565f8b6de4cab"/>
    <p:sldId xmlns:r="http://schemas.openxmlformats.org/officeDocument/2006/relationships" id="258" r:id="Ra485e693302e439f"/>
    <p:sldId xmlns:r="http://schemas.openxmlformats.org/officeDocument/2006/relationships" id="259" r:id="R9aee5e8979074f8e"/>
    <p:sldId xmlns:r="http://schemas.openxmlformats.org/officeDocument/2006/relationships" id="260" r:id="R93635f692c854cee"/>
    <p:sldId xmlns:r="http://schemas.openxmlformats.org/officeDocument/2006/relationships" id="261" r:id="Rd22d4f87c6eb4834"/>
    <p:sldId xmlns:r="http://schemas.openxmlformats.org/officeDocument/2006/relationships" id="262" r:id="R4ad0c0abf37e4475"/>
    <p:sldId xmlns:r="http://schemas.openxmlformats.org/officeDocument/2006/relationships" id="263" r:id="Ra9c6578689644c8c"/>
    <p:sldId xmlns:r="http://schemas.openxmlformats.org/officeDocument/2006/relationships" id="264" r:id="R4530175c1b86460a"/>
    <p:sldId xmlns:r="http://schemas.openxmlformats.org/officeDocument/2006/relationships" id="265" r:id="R43d7e76f083e404e"/>
    <p:sldId xmlns:r="http://schemas.openxmlformats.org/officeDocument/2006/relationships" id="266" r:id="R29df0be488c841f8"/>
    <p:sldId xmlns:r="http://schemas.openxmlformats.org/officeDocument/2006/relationships" id="267" r:id="Re7c1193a257a4b36"/>
    <p:sldId xmlns:r="http://schemas.openxmlformats.org/officeDocument/2006/relationships" id="268" r:id="R631bc3e70fc944a5"/>
    <p:sldId xmlns:r="http://schemas.openxmlformats.org/officeDocument/2006/relationships" id="269" r:id="R09ed9939d4ed44a5"/>
    <p:sldId xmlns:r="http://schemas.openxmlformats.org/officeDocument/2006/relationships" id="270" r:id="R251f71bd49d74682"/>
    <p:sldId xmlns:r="http://schemas.openxmlformats.org/officeDocument/2006/relationships" id="271" r:id="R6ed9a3654f39442f"/>
    <p:sldId xmlns:r="http://schemas.openxmlformats.org/officeDocument/2006/relationships" id="272" r:id="R0bcffa502ad64297"/>
    <p:sldId xmlns:r="http://schemas.openxmlformats.org/officeDocument/2006/relationships" id="273" r:id="R294b3fe02b854d12"/>
    <p:sldId xmlns:r="http://schemas.openxmlformats.org/officeDocument/2006/relationships" id="274" r:id="Rf460388ebf784d64"/>
    <p:sldId xmlns:r="http://schemas.openxmlformats.org/officeDocument/2006/relationships" id="275" r:id="R7e16be63a685443b"/>
    <p:sldId xmlns:r="http://schemas.openxmlformats.org/officeDocument/2006/relationships" id="276" r:id="R62ebc3626dc2450d"/>
    <p:sldId xmlns:r="http://schemas.openxmlformats.org/officeDocument/2006/relationships" id="277" r:id="R1abb1e0180c744d2"/>
    <p:sldId xmlns:r="http://schemas.openxmlformats.org/officeDocument/2006/relationships" id="278" r:id="Ra4b2d9c56bbd46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b752c8ea234708" /><Relationship Type="http://schemas.openxmlformats.org/officeDocument/2006/relationships/theme" Target="/ppt/theme/theme1.xml" Id="Ra86b676edd294883" /><Relationship Type="http://schemas.openxmlformats.org/officeDocument/2006/relationships/notesMaster" Target="/ppt/notesMasters/notesMaster1.xml" Id="R5acdac67e39d496a" /><Relationship Type="http://schemas.openxmlformats.org/officeDocument/2006/relationships/presProps" Target="/ppt/presProps.xml" Id="Re02c7a43c1f347dd" /><Relationship Type="http://schemas.openxmlformats.org/officeDocument/2006/relationships/viewProps" Target="/ppt/viewProps.xml" Id="R59a96742f2664da1" /><Relationship Type="http://schemas.openxmlformats.org/officeDocument/2006/relationships/tableStyles" Target="/ppt/tableStyles.xml" Id="Rd9cdc02744f14f03" /><Relationship Type="http://schemas.openxmlformats.org/officeDocument/2006/relationships/slide" Target="/ppt/slides/slide1.xml" Id="Re130ed43999c4183" /><Relationship Type="http://schemas.openxmlformats.org/officeDocument/2006/relationships/slide" Target="/ppt/slides/slide2.xml" Id="Rb2d565f8b6de4cab" /><Relationship Type="http://schemas.openxmlformats.org/officeDocument/2006/relationships/slide" Target="/ppt/slides/slide3.xml" Id="Ra485e693302e439f" /><Relationship Type="http://schemas.openxmlformats.org/officeDocument/2006/relationships/slide" Target="/ppt/slides/slide4.xml" Id="R9aee5e8979074f8e" /><Relationship Type="http://schemas.openxmlformats.org/officeDocument/2006/relationships/slide" Target="/ppt/slides/slide5.xml" Id="R93635f692c854cee" /><Relationship Type="http://schemas.openxmlformats.org/officeDocument/2006/relationships/slide" Target="/ppt/slides/slide6.xml" Id="Rd22d4f87c6eb4834" /><Relationship Type="http://schemas.openxmlformats.org/officeDocument/2006/relationships/slide" Target="/ppt/slides/slide7.xml" Id="R4ad0c0abf37e4475" /><Relationship Type="http://schemas.openxmlformats.org/officeDocument/2006/relationships/slide" Target="/ppt/slides/slide8.xml" Id="Ra9c6578689644c8c" /><Relationship Type="http://schemas.openxmlformats.org/officeDocument/2006/relationships/slide" Target="/ppt/slides/slide9.xml" Id="R4530175c1b86460a" /><Relationship Type="http://schemas.openxmlformats.org/officeDocument/2006/relationships/slide" Target="/ppt/slides/slide10.xml" Id="R43d7e76f083e404e" /><Relationship Type="http://schemas.openxmlformats.org/officeDocument/2006/relationships/slide" Target="/ppt/slides/slide11.xml" Id="R29df0be488c841f8" /><Relationship Type="http://schemas.openxmlformats.org/officeDocument/2006/relationships/slide" Target="/ppt/slides/slide12.xml" Id="Re7c1193a257a4b36" /><Relationship Type="http://schemas.openxmlformats.org/officeDocument/2006/relationships/slide" Target="/ppt/slides/slide13.xml" Id="R631bc3e70fc944a5" /><Relationship Type="http://schemas.openxmlformats.org/officeDocument/2006/relationships/slide" Target="/ppt/slides/slide14.xml" Id="R09ed9939d4ed44a5" /><Relationship Type="http://schemas.openxmlformats.org/officeDocument/2006/relationships/slide" Target="/ppt/slides/slide15.xml" Id="R251f71bd49d74682" /><Relationship Type="http://schemas.openxmlformats.org/officeDocument/2006/relationships/slide" Target="/ppt/slides/slide16.xml" Id="R6ed9a3654f39442f" /><Relationship Type="http://schemas.openxmlformats.org/officeDocument/2006/relationships/slide" Target="/ppt/slides/slide17.xml" Id="R0bcffa502ad64297" /><Relationship Type="http://schemas.openxmlformats.org/officeDocument/2006/relationships/slide" Target="/ppt/slides/slide18.xml" Id="R294b3fe02b854d12" /><Relationship Type="http://schemas.openxmlformats.org/officeDocument/2006/relationships/slide" Target="/ppt/slides/slide19.xml" Id="Rf460388ebf784d64" /><Relationship Type="http://schemas.openxmlformats.org/officeDocument/2006/relationships/slide" Target="/ppt/slides/slide20.xml" Id="R7e16be63a685443b" /><Relationship Type="http://schemas.openxmlformats.org/officeDocument/2006/relationships/slide" Target="/ppt/slides/slide21.xml" Id="R62ebc3626dc2450d" /><Relationship Type="http://schemas.openxmlformats.org/officeDocument/2006/relationships/slide" Target="/ppt/slides/slide22.xml" Id="R1abb1e0180c744d2" /><Relationship Type="http://schemas.openxmlformats.org/officeDocument/2006/relationships/slide" Target="/ppt/slides/slide23.xml" Id="Ra4b2d9c56bbd46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5101a18216644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0523177d7f43ad" /><Relationship Type="http://schemas.openxmlformats.org/officeDocument/2006/relationships/notesMaster" Target="/ppt/notesMasters/notesMaster1.xml" Id="R4d37060e333740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06f6875cac4c25" /><Relationship Type="http://schemas.openxmlformats.org/officeDocument/2006/relationships/notesMaster" Target="/ppt/notesMasters/notesMaster1.xml" Id="R2fc204d9ac9543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715b15190447ec" /><Relationship Type="http://schemas.openxmlformats.org/officeDocument/2006/relationships/notesMaster" Target="/ppt/notesMasters/notesMaster1.xml" Id="Re7d6999edb0d41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70eb0311344243" /><Relationship Type="http://schemas.openxmlformats.org/officeDocument/2006/relationships/notesMaster" Target="/ppt/notesMasters/notesMaster1.xml" Id="R2279e4b3f1fc49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649902f05b40a7" /><Relationship Type="http://schemas.openxmlformats.org/officeDocument/2006/relationships/notesMaster" Target="/ppt/notesMasters/notesMaster1.xml" Id="R2146ec5797b744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c90f53ef634810" /><Relationship Type="http://schemas.openxmlformats.org/officeDocument/2006/relationships/notesMaster" Target="/ppt/notesMasters/notesMaster1.xml" Id="R1277f74b42fa44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7a6c88f8e0488c" /><Relationship Type="http://schemas.openxmlformats.org/officeDocument/2006/relationships/notesMaster" Target="/ppt/notesMasters/notesMaster1.xml" Id="R190e3333d46443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0e475fcde84332" /><Relationship Type="http://schemas.openxmlformats.org/officeDocument/2006/relationships/notesMaster" Target="/ppt/notesMasters/notesMaster1.xml" Id="R7f15170bf15b4a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bde210c69d42c5" /><Relationship Type="http://schemas.openxmlformats.org/officeDocument/2006/relationships/notesMaster" Target="/ppt/notesMasters/notesMaster1.xml" Id="Rd4760e7f0a434b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1814f3f6dc48ab" /><Relationship Type="http://schemas.openxmlformats.org/officeDocument/2006/relationships/notesMaster" Target="/ppt/notesMasters/notesMaster1.xml" Id="Ra03479cc91444d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1cb68174844db2" /><Relationship Type="http://schemas.openxmlformats.org/officeDocument/2006/relationships/notesMaster" Target="/ppt/notesMasters/notesMaster1.xml" Id="Rd27cb62fdb3042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8535f2ebbc4f03" /><Relationship Type="http://schemas.openxmlformats.org/officeDocument/2006/relationships/notesMaster" Target="/ppt/notesMasters/notesMaster1.xml" Id="R41dfd7f5a10248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8581532b0a437a" /><Relationship Type="http://schemas.openxmlformats.org/officeDocument/2006/relationships/notesMaster" Target="/ppt/notesMasters/notesMaster1.xml" Id="Ra1346fee196042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177ce610ef44b2" /><Relationship Type="http://schemas.openxmlformats.org/officeDocument/2006/relationships/notesMaster" Target="/ppt/notesMasters/notesMaster1.xml" Id="Rd762e50b34e04b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b165ce57165453c" /><Relationship Type="http://schemas.openxmlformats.org/officeDocument/2006/relationships/notesMaster" Target="/ppt/notesMasters/notesMaster1.xml" Id="R0c5bc0a40fdd4bf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f914e1f98c403c" /><Relationship Type="http://schemas.openxmlformats.org/officeDocument/2006/relationships/notesMaster" Target="/ppt/notesMasters/notesMaster1.xml" Id="Rf93a879d4b3343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6e1d55d37034b71" /><Relationship Type="http://schemas.openxmlformats.org/officeDocument/2006/relationships/notesMaster" Target="/ppt/notesMasters/notesMaster1.xml" Id="R020123671248402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b81d84f74ec45a3" /><Relationship Type="http://schemas.openxmlformats.org/officeDocument/2006/relationships/notesMaster" Target="/ppt/notesMasters/notesMaster1.xml" Id="Rf675c88ea136427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02813a403724dac" /><Relationship Type="http://schemas.openxmlformats.org/officeDocument/2006/relationships/notesMaster" Target="/ppt/notesMasters/notesMaster1.xml" Id="Rb2183d59ee3d432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a72168a09de46af" /><Relationship Type="http://schemas.openxmlformats.org/officeDocument/2006/relationships/notesMaster" Target="/ppt/notesMasters/notesMaster1.xml" Id="Rcc0c4171b5e04a3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77959dd3df94b3b" /><Relationship Type="http://schemas.openxmlformats.org/officeDocument/2006/relationships/notesMaster" Target="/ppt/notesMasters/notesMaster1.xml" Id="R0a1fdbac431e4ac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f24228ee76b4ca3" /><Relationship Type="http://schemas.openxmlformats.org/officeDocument/2006/relationships/notesMaster" Target="/ppt/notesMasters/notesMaster1.xml" Id="Rac659c31a9164b1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537d884d8fb4e29" /><Relationship Type="http://schemas.openxmlformats.org/officeDocument/2006/relationships/notesMaster" Target="/ppt/notesMasters/notesMaster1.xml" Id="Re84e00962d894f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87fb74a83485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71aa9cf9e054501" /><Relationship Type="http://schemas.openxmlformats.org/officeDocument/2006/relationships/slideLayout" Target="/ppt/slideLayouts/slideLayout2.xml" Id="R5c56ca06557944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56ca06557944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53e3ceee1b4682" /><Relationship Type="http://schemas.openxmlformats.org/officeDocument/2006/relationships/notesSlide" Target="/ppt/notesSlides/notesSlide1.xml" Id="R4bb4cc1ea60041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773e85e0d54dd9" /><Relationship Type="http://schemas.openxmlformats.org/officeDocument/2006/relationships/notesSlide" Target="/ppt/notesSlides/notesSlide2.xml" Id="R9cc2bd9667aa48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9e874fdebb49c6" /><Relationship Type="http://schemas.openxmlformats.org/officeDocument/2006/relationships/notesSlide" Target="/ppt/notesSlides/notesSlide3.xml" Id="Re89ee9b978da45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787bc9e4b0417c" /><Relationship Type="http://schemas.openxmlformats.org/officeDocument/2006/relationships/notesSlide" Target="/ppt/notesSlides/notesSlide4.xml" Id="R9d3842a1dcf943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f60dd9adaf4229" /><Relationship Type="http://schemas.openxmlformats.org/officeDocument/2006/relationships/notesSlide" Target="/ppt/notesSlides/notesSlide5.xml" Id="R05f175a8aefb4c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593138cfd6408c" /><Relationship Type="http://schemas.openxmlformats.org/officeDocument/2006/relationships/notesSlide" Target="/ppt/notesSlides/notesSlide6.xml" Id="R507e7eb3696f41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f5d2166a634993" /><Relationship Type="http://schemas.openxmlformats.org/officeDocument/2006/relationships/notesSlide" Target="/ppt/notesSlides/notesSlide7.xml" Id="Rc3d2d6c9484041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a6235aeab44a61" /><Relationship Type="http://schemas.openxmlformats.org/officeDocument/2006/relationships/notesSlide" Target="/ppt/notesSlides/notesSlide8.xml" Id="R8b1e4e1bb96043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e1362cea2d4fcf" /><Relationship Type="http://schemas.openxmlformats.org/officeDocument/2006/relationships/notesSlide" Target="/ppt/notesSlides/notesSlide9.xml" Id="R7a423635f8224e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ec09395a3d4fb9" /><Relationship Type="http://schemas.openxmlformats.org/officeDocument/2006/relationships/notesSlide" Target="/ppt/notesSlides/notesSlide10.xml" Id="R4db3e0059bc246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0aa2d2cc4a4f69" /><Relationship Type="http://schemas.openxmlformats.org/officeDocument/2006/relationships/notesSlide" Target="/ppt/notesSlides/notesSlide11.xml" Id="R69bfa1afb3fc4c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e401ffd55a4944" /><Relationship Type="http://schemas.openxmlformats.org/officeDocument/2006/relationships/notesSlide" Target="/ppt/notesSlides/notesSlide12.xml" Id="R07d3bf57fcc44c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36f1c0d8c84ed5" /><Relationship Type="http://schemas.openxmlformats.org/officeDocument/2006/relationships/notesSlide" Target="/ppt/notesSlides/notesSlide13.xml" Id="R45aee3cc86a545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911930fb8549a7" /><Relationship Type="http://schemas.openxmlformats.org/officeDocument/2006/relationships/notesSlide" Target="/ppt/notesSlides/notesSlide14.xml" Id="R0c369e60658448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09d3021651492c" /><Relationship Type="http://schemas.openxmlformats.org/officeDocument/2006/relationships/notesSlide" Target="/ppt/notesSlides/notesSlide15.xml" Id="R8b493e901d3641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cc437a88d04969" /><Relationship Type="http://schemas.openxmlformats.org/officeDocument/2006/relationships/notesSlide" Target="/ppt/notesSlides/notesSlide16.xml" Id="Rcad70177f34e43f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346e00eab44608" /><Relationship Type="http://schemas.openxmlformats.org/officeDocument/2006/relationships/notesSlide" Target="/ppt/notesSlides/notesSlide17.xml" Id="R3640e37a8f4647c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6ac3635ac34a8d" /><Relationship Type="http://schemas.openxmlformats.org/officeDocument/2006/relationships/notesSlide" Target="/ppt/notesSlides/notesSlide18.xml" Id="Rcc7f742169d94ae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565d8df32f4905" /><Relationship Type="http://schemas.openxmlformats.org/officeDocument/2006/relationships/notesSlide" Target="/ppt/notesSlides/notesSlide19.xml" Id="R6082797be5d44da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0e42f19d644d64" /><Relationship Type="http://schemas.openxmlformats.org/officeDocument/2006/relationships/notesSlide" Target="/ppt/notesSlides/notesSlide20.xml" Id="R929783d48bf2442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b77bb765134bbc" /><Relationship Type="http://schemas.openxmlformats.org/officeDocument/2006/relationships/notesSlide" Target="/ppt/notesSlides/notesSlide21.xml" Id="R6eed3062ef9e43b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875aaea13f4782" /><Relationship Type="http://schemas.openxmlformats.org/officeDocument/2006/relationships/notesSlide" Target="/ppt/notesSlides/notesSlide22.xml" Id="R96a114bdd543438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4a9e6c60a54f89" /><Relationship Type="http://schemas.openxmlformats.org/officeDocument/2006/relationships/notesSlide" Target="/ppt/notesSlides/notesSlide23.xml" Id="R5507550a9af54a57" /></Relationships>
</file>

<file path=ppt/slides/slide1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DC04EA03-54DE-426B-9DE7-0E0C8A584854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6CB2EB69-2289-4CA0-A0F0-1C772148A745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AF8"/>
              </a:gs>
              <a:gs pos="58000">
                <a:srgbClr val="E7F2EC"/>
              </a:gs>
              <a:gs pos="100000">
                <a:srgbClr val="F9F4E6"/>
              </a:gs>
            </a:gsLst>
            <a:lin ang="8100000"/>
          </a:gradFill>
        </ns0:spPr>
      </ns0:sp>
      <ns0:sp>
        <ns0:nvSpPr>
          <ns0:cNvPr id="3" name="">
            <a:extLst>
              <a:ext uri="{FF2B5EF4-FFF2-40B4-BE49-F238E27FC236}">
                <ns2:creationId id="{476BB138-AACB-4E28-8C5D-7FCFF23E2713}"/>
              </a:ext>
            </a:extLst>
          </ns0:cNvPr>
          <ns0:cNvSpPr>
            <a:spLocks noGrp="1"/>
          </ns0:cNvSpPr>
          <ns0:nvPr/>
        </ns0:nvSpPr>
        <ns0:spPr>
          <a:xfrm>
            <a:off x="514350" y="609600"/>
            <a:ext cx="6858000" cy="57150"/>
          </a:xfrm>
          <a:prstGeom prst="rect">
            <a:avLst/>
          </a:prstGeom>
          <a:solidFill>
            <a:srgbClr val="1F7A4D"/>
          </a:solidFill>
        </ns0:spPr>
      </ns0:sp>
      <ns0:sp>
        <ns0:nvSpPr>
          <ns0:cNvPr id="4" name="">
            <a:extLst>
              <a:ext uri="{FF2B5EF4-FFF2-40B4-BE49-F238E27FC236}">
                <ns2:creationId id="{59F1CE27-0D4A-4D20-B07E-70068C587512}"/>
              </a:ext>
            </a:extLst>
          </ns0:cNvPr>
          <ns0:cNvSpPr>
            <a:spLocks noGrp="1"/>
          </ns0:cNvSpPr>
          <ns0:nvPr/>
        </ns0:nvSpPr>
        <ns0:spPr>
          <a:xfrm>
            <a:off x="533400" y="857250"/>
            <a:ext cx="4000500" cy="2476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SPORTS NUTRITION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D5655746-6289-46E9-AF0E-1CFECCE3ECC0}"/>
              </a:ext>
            </a:extLst>
          </ns0:cNvPr>
          <ns0:cNvSpPr>
            <a:spLocks noGrp="1"/>
          </ns0:cNvSpPr>
          <ns0:nvPr/>
        </ns0:nvSpPr>
        <ns0:spPr>
          <a:xfrm>
            <a:off x="514350" y="1238250"/>
            <a:ext cx="6667500" cy="666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360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补剂决策简报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9CBC31B1-4B06-40EB-9A7E-3B142A7B9968}"/>
              </a:ext>
            </a:extLst>
          </ns0:cNvPr>
          <ns0:cNvSpPr>
            <a:spLocks noGrp="1"/>
          </ns0:cNvSpPr>
          <ns0:nvPr/>
        </ns0:nvSpPr>
        <ns0:spPr>
          <a:xfrm>
            <a:off x="552450" y="2038350"/>
            <a:ext cx="6191250" cy="4191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87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适用人群、不适用人群、核心用途与文献来源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F2F9D033-FD9C-4769-827D-E4647DF04590}"/>
              </a:ext>
            </a:extLst>
          </ns0:cNvPr>
          <ns0:cNvSpPr>
            <a:spLocks noGrp="1"/>
          </ns0:cNvSpPr>
          <ns0:nvPr/>
        </ns0:nvSpPr>
        <ns0:spPr>
          <a:xfrm>
            <a:off x="514350" y="3105150"/>
            <a:ext cx="32385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8" name="">
            <a:extLst>
              <a:ext uri="{FF2B5EF4-FFF2-40B4-BE49-F238E27FC236}">
                <ns2:creationId id="{C9A121AC-48C6-453D-8191-C9400F8FDDC0}"/>
              </a:ext>
            </a:extLst>
          </ns0:cNvPr>
          <ns0:cNvSpPr>
            <a:spLocks noGrp="1"/>
          </ns0:cNvSpPr>
          <ns0:nvPr/>
        </ns0:nvSpPr>
        <ns0:spPr>
          <a:xfrm>
            <a:off x="762000" y="3333750"/>
            <a:ext cx="19050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设计用途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BEFDA0FA-6823-4B00-81C3-FB4027DF84A3}"/>
              </a:ext>
            </a:extLst>
          </ns0:cNvPr>
          <ns0:cNvSpPr>
            <a:spLocks noGrp="1"/>
          </ns0:cNvSpPr>
          <ns0:nvPr/>
        </ns0:nvSpPr>
        <ns0:spPr>
          <a:xfrm>
            <a:off x="762000" y="3695700"/>
            <a:ext cx="257175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知识博主、课程、付费资讯产品、补剂避坑内容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6ABF0B07-2ED5-4B5B-B412-A3F2F2494968}"/>
              </a:ext>
            </a:extLst>
          </ns0:cNvPr>
          <ns0:cNvSpPr>
            <a:spLocks noGrp="1"/>
          </ns0:cNvSpPr>
          <ns0:nvPr/>
        </ns0:nvSpPr>
        <ns0:spPr>
          <a:xfrm>
            <a:off x="4076700" y="3105150"/>
            <a:ext cx="32385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1" name="">
            <a:extLst>
              <a:ext uri="{FF2B5EF4-FFF2-40B4-BE49-F238E27FC236}">
                <ns2:creationId id="{E9439D8C-9268-45FC-A09D-DD24602B80C3}"/>
              </a:ext>
            </a:extLst>
          </ns0:cNvPr>
          <ns0:cNvSpPr>
            <a:spLocks noGrp="1"/>
          </ns0:cNvSpPr>
          <ns0:nvPr/>
        </ns0:nvSpPr>
        <ns0:spPr>
          <a:xfrm>
            <a:off x="4324350" y="3333750"/>
            <a:ext cx="19050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证据优先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7983DC39-4759-428D-AC22-CB8A7B7ACF6F}"/>
              </a:ext>
            </a:extLst>
          </ns0:cNvPr>
          <ns0:cNvSpPr>
            <a:spLocks noGrp="1"/>
          </ns0:cNvSpPr>
          <ns0:nvPr/>
        </ns0:nvSpPr>
        <ns0:spPr>
          <a:xfrm>
            <a:off x="4324350" y="3695700"/>
            <a:ext cx="25908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优先采用 IOC / AIS / ISSN / ACSM / meta-analysis</a:t>
            </a:r>
          </a:p>
        </ns0:txBody>
      </ns0:sp>
      <ns0:sp>
        <ns0:nvSpPr>
          <ns0:cNvPr id="13" name="">
            <a:extLst>
              <a:ext uri="{FF2B5EF4-FFF2-40B4-BE49-F238E27FC236}">
                <ns2:creationId id="{7CBAFEC6-F90F-4BC2-BE3B-181B42F05EC2}"/>
              </a:ext>
            </a:extLst>
          </ns0:cNvPr>
          <ns0:cNvSpPr>
            <a:spLocks noGrp="1"/>
          </ns0:cNvSpPr>
          <ns0:nvPr/>
        </ns0:nvSpPr>
        <ns0:spPr>
          <a:xfrm>
            <a:off x="7905750" y="0"/>
            <a:ext cx="4286250" cy="6858000"/>
          </a:xfrm>
          <a:prstGeom prst="rect">
            <a:avLst/>
          </a:prstGeom>
          <a:solidFill>
            <a:srgbClr val="16231E"/>
          </a:solidFill>
        </ns0:spPr>
      </ns0:sp>
      <ns0:sp>
        <ns0:nvSpPr>
          <ns0:cNvPr id="14" name="">
            <a:extLst>
              <a:ext uri="{FF2B5EF4-FFF2-40B4-BE49-F238E27FC236}">
                <ns2:creationId id="{B4203C1A-3AFF-42CF-A2D2-67962CB4AD72}"/>
              </a:ext>
            </a:extLst>
          </ns0:cNvPr>
          <ns0:cNvSpPr>
            <a:spLocks noGrp="1"/>
          </ns0:cNvSpPr>
          <ns0:nvPr/>
        </ns0:nvSpPr>
        <ns0:spPr>
          <a:xfrm>
            <a:off x="8286750" y="876300"/>
            <a:ext cx="2667000" cy="2476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500" b="1">
                <a:solidFill>
                  <a:srgbClr val="B7E2CD"/>
                </a:solidFill>
                <a:latin typeface="Aptos"/>
                <a:ea typeface="Aptos"/>
                <a:cs typeface="Aptos"/>
              </a:defRPr>
            </a:pPr>
            <a:r>
              <a:t>一句话定位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8C979919-DDD0-4957-BDDC-D81DD124C602}"/>
              </a:ext>
            </a:extLst>
          </ns0:cNvPr>
          <ns0:cNvSpPr>
            <a:spLocks noGrp="1"/>
          </ns0:cNvSpPr>
          <ns0:nvPr/>
        </ns0:nvSpPr>
        <ns0:spPr>
          <a:xfrm>
            <a:off x="8286750" y="1352550"/>
            <a:ext cx="3143250" cy="13335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补剂不是地基；训练、饮食、睡眠才是。补剂只在对的情境放大结果。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D34ACC33-BB72-42B1-8103-F92B22C634AC}"/>
              </a:ext>
            </a:extLst>
          </ns0:cNvPr>
          <ns0:cNvSpPr>
            <a:spLocks noGrp="1"/>
          </ns0:cNvSpPr>
          <ns0:nvPr/>
        </ns0:nvSpPr>
        <ns0:spPr>
          <a:xfrm>
            <a:off x="8286750" y="5981700"/>
            <a:ext cx="228600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0">
                <a:solidFill>
                  <a:srgbClr val="BFD0C8"/>
                </a:solidFill>
                <a:latin typeface="Aptos"/>
                <a:ea typeface="Aptos"/>
                <a:cs typeface="Aptos"/>
              </a:defRPr>
            </a:pPr>
            <a:r>
              <a:t>Version 2026-05-27</a:t>
            </a:r>
          </a:p>
        </ns0:txBody>
      </ns0:sp>
    </ns0:spTree>
    <ns0:extLst>
      <ns0:ext uri="{BB962C8B-B14F-4D97-AF65-F5344CB8AC3E}">
        <ns3:creationId val="633871637"/>
      </ns0:ext>
    </ns0:extLst>
  </ns0:cSld>
</ns0:sld>
</file>

<file path=ppt/slides/slide2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BBB89159-8C89-4E9A-92A3-6C0707D6510A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0D9207DC-F7E7-498A-AB89-5CC5F756B1FA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2563A8"/>
          </a:solidFill>
        </ns0:spPr>
      </ns0:sp>
      <ns0:sp>
        <ns0:nvSpPr>
          <ns0:cNvPr id="3" name="">
            <a:extLst>
              <a:ext uri="{FF2B5EF4-FFF2-40B4-BE49-F238E27FC236}">
                <ns2:creationId id="{03208970-F349-4BA1-A8F5-816058970860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补剂简报｜决策框架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387A9682-4614-4C9A-B3E5-E1045A8ED713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先用证据等级，而不是用行销热度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F08D6843-8E4C-4E7F-A9CE-F88F20B8196B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1E836151-D562-4B66-82E3-7BAA66C5D419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文献来源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BAAF2FAE-80C1-4665-AB3C-8D0E50986BB9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IOC consensus statement, Br J Sports Med, 2018, PMCID: PMC5867441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AIS Sports Supplement Framework / Group A, Australian Institute of Sport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ISSN position stands: creatine, caffeine, omega-3, beta-alanine, sodium bicarbonate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60A866B4-5ECB-43A6-B119-236DD76A0743}"/>
              </a:ext>
            </a:extLst>
          </ns0:cNvPr>
          <ns0:cNvSpPr>
            <a:spLocks noGrp="1"/>
          </ns0:cNvSpPr>
          <ns0:nvPr/>
        </ns0:nvSpPr>
        <ns0:spPr>
          <a:xfrm>
            <a:off x="495300" y="1428750"/>
            <a:ext cx="757237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9" name="">
            <a:extLst>
              <a:ext uri="{FF2B5EF4-FFF2-40B4-BE49-F238E27FC236}">
                <ns2:creationId id="{BF54897E-4589-49AF-BE74-F1D545EDE29A}"/>
              </a:ext>
            </a:extLst>
          </ns0:cNvPr>
          <ns0:cNvSpPr>
            <a:spLocks noGrp="1"/>
          </ns0:cNvSpPr>
          <ns0:nvPr/>
        </ns0:nvSpPr>
        <ns0:spPr>
          <a:xfrm>
            <a:off x="704850" y="159067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F7A4D"/>
          </a:solidFill>
        </ns0:spPr>
      </ns0:sp>
      <ns0:sp>
        <ns0:nvSpPr>
          <ns0:cNvPr id="10" name="">
            <a:extLst>
              <a:ext uri="{FF2B5EF4-FFF2-40B4-BE49-F238E27FC236}">
                <ns2:creationId id="{FCF6DF38-9A18-4792-AF88-D74422B89FF8}"/>
              </a:ext>
            </a:extLst>
          </ns0:cNvPr>
          <ns0:cNvSpPr>
            <a:spLocks noGrp="1"/>
          </ns0:cNvSpPr>
          <ns0:nvPr/>
        </ns0:nvSpPr>
        <ns0:spPr>
          <a:xfrm>
            <a:off x="704850" y="1666875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E5C8BD41-6B8D-4174-88D2-1BB3DF19A0F1}"/>
              </a:ext>
            </a:extLst>
          </ns0:cNvPr>
          <ns0:cNvSpPr>
            <a:spLocks noGrp="1"/>
          </ns0:cNvSpPr>
          <ns0:nvPr/>
        </ns0:nvSpPr>
        <ns0:spPr>
          <a:xfrm>
            <a:off x="704850" y="1924050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证据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83DF5A60-F899-4D98-A461-FC3124F4AD13}"/>
              </a:ext>
            </a:extLst>
          </ns0:cNvPr>
          <ns0:cNvSpPr>
            <a:spLocks noGrp="1"/>
          </ns0:cNvSpPr>
          <ns0:nvPr/>
        </ns0:nvSpPr>
        <ns0:spPr>
          <a:xfrm>
            <a:off x="1428750" y="1600200"/>
            <a:ext cx="1619250" cy="2476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主力补剂</a:t>
            </a:r>
          </a:p>
        </ns0:txBody>
      </ns0:sp>
      <ns0:sp>
        <ns0:nvSpPr>
          <ns0:cNvPr id="13" name="">
            <a:extLst>
              <a:ext uri="{FF2B5EF4-FFF2-40B4-BE49-F238E27FC236}">
                <ns2:creationId id="{B2963988-7D22-4F44-8FE1-BD62F2632F32}"/>
              </a:ext>
            </a:extLst>
          </ns0:cNvPr>
          <ns0:cNvSpPr>
            <a:spLocks noGrp="1"/>
          </ns0:cNvSpPr>
          <ns0:nvPr/>
        </ns0:nvSpPr>
        <ns0:spPr>
          <a:xfrm>
            <a:off x="3086100" y="1600200"/>
            <a:ext cx="3429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肌酸、蛋白粉、咖啡因、硝酸盐、beta-alanine、碳酸氢钠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9055FAA5-088B-4BF3-9DB3-7335DEB94121}"/>
              </a:ext>
            </a:extLst>
          </ns0:cNvPr>
          <ns0:cNvSpPr>
            <a:spLocks noGrp="1"/>
          </ns0:cNvSpPr>
          <ns0:nvPr/>
        </ns0:nvSpPr>
        <ns0:spPr>
          <a:xfrm>
            <a:off x="6667500" y="1666875"/>
            <a:ext cx="11430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可做主内容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88C653F3-9B58-42DA-B52C-F29CCF3E49EC}"/>
              </a:ext>
            </a:extLst>
          </ns0:cNvPr>
          <ns0:cNvSpPr>
            <a:spLocks noGrp="1"/>
          </ns0:cNvSpPr>
          <ns0:nvPr/>
        </ns0:nvSpPr>
        <ns0:spPr>
          <a:xfrm>
            <a:off x="495300" y="2419350"/>
            <a:ext cx="757237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DA862AA8-C897-429C-99E9-33732C1646B0}"/>
              </a:ext>
            </a:extLst>
          </ns0:cNvPr>
          <ns0:cNvSpPr>
            <a:spLocks noGrp="1"/>
          </ns0:cNvSpPr>
          <ns0:nvPr/>
        </ns0:nvSpPr>
        <ns0:spPr>
          <a:xfrm>
            <a:off x="704850" y="258127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2563A8"/>
          </a:solidFill>
        </ns0:spPr>
      </ns0:sp>
      <ns0:sp>
        <ns0:nvSpPr>
          <ns0:cNvPr id="17" name="">
            <a:extLst>
              <a:ext uri="{FF2B5EF4-FFF2-40B4-BE49-F238E27FC236}">
                <ns2:creationId id="{5FD0AF14-CABB-4B2A-B521-F0C3DDD442D1}"/>
              </a:ext>
            </a:extLst>
          </ns0:cNvPr>
          <ns0:cNvSpPr>
            <a:spLocks noGrp="1"/>
          </ns0:cNvSpPr>
          <ns0:nvPr/>
        </ns0:nvSpPr>
        <ns0:spPr>
          <a:xfrm>
            <a:off x="704850" y="2657475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42F677EE-4888-46D8-BD0C-416237469B43}"/>
              </a:ext>
            </a:extLst>
          </ns0:cNvPr>
          <ns0:cNvSpPr>
            <a:spLocks noGrp="1"/>
          </ns0:cNvSpPr>
          <ns0:nvPr/>
        </ns0:nvSpPr>
        <ns0:spPr>
          <a:xfrm>
            <a:off x="704850" y="2914650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证据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A699785E-68E5-4551-9684-BD54ECE30E18}"/>
              </a:ext>
            </a:extLst>
          </ns0:cNvPr>
          <ns0:cNvSpPr>
            <a:spLocks noGrp="1"/>
          </ns0:cNvSpPr>
          <ns0:nvPr/>
        </ns0:nvSpPr>
        <ns0:spPr>
          <a:xfrm>
            <a:off x="1428750" y="2590800"/>
            <a:ext cx="1619250" cy="2476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情境补剂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2F3468EC-B38F-4EC7-9D5C-EA5355855CA1}"/>
              </a:ext>
            </a:extLst>
          </ns0:cNvPr>
          <ns0:cNvSpPr>
            <a:spLocks noGrp="1"/>
          </ns0:cNvSpPr>
          <ns0:nvPr/>
        </ns0:nvSpPr>
        <ns0:spPr>
          <a:xfrm>
            <a:off x="3086100" y="2590800"/>
            <a:ext cx="3429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omega-3、citrulline、HMB、tart cherry/polyphenols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866D6A2C-BDFB-4767-8856-1134A74CB568}"/>
              </a:ext>
            </a:extLst>
          </ns0:cNvPr>
          <ns0:cNvSpPr>
            <a:spLocks noGrp="1"/>
          </ns0:cNvSpPr>
          <ns0:nvPr/>
        </ns0:nvSpPr>
        <ns0:spPr>
          <a:xfrm>
            <a:off x="6667500" y="2657475"/>
            <a:ext cx="11430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要讲族群与目的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6CAED733-9886-4D94-8BBC-3298C674F563}"/>
              </a:ext>
            </a:extLst>
          </ns0:cNvPr>
          <ns0:cNvSpPr>
            <a:spLocks noGrp="1"/>
          </ns0:cNvSpPr>
          <ns0:nvPr/>
        </ns0:nvSpPr>
        <ns0:spPr>
          <a:xfrm>
            <a:off x="495300" y="3409950"/>
            <a:ext cx="757237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23" name="">
            <a:extLst>
              <a:ext uri="{FF2B5EF4-FFF2-40B4-BE49-F238E27FC236}">
                <ns2:creationId id="{CF25B688-F64B-47DD-8669-45A3AC5E633A}"/>
              </a:ext>
            </a:extLst>
          </ns0:cNvPr>
          <ns0:cNvSpPr>
            <a:spLocks noGrp="1"/>
          </ns0:cNvSpPr>
          <ns0:nvPr/>
        </ns0:nvSpPr>
        <ns0:spPr>
          <a:xfrm>
            <a:off x="704850" y="357187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B7791F"/>
          </a:solidFill>
        </ns0:spPr>
      </ns0:sp>
      <ns0:sp>
        <ns0:nvSpPr>
          <ns0:cNvPr id="24" name="">
            <a:extLst>
              <a:ext uri="{FF2B5EF4-FFF2-40B4-BE49-F238E27FC236}">
                <ns2:creationId id="{6B1E1DA9-F9E9-4E8B-831D-D90B545568BA}"/>
              </a:ext>
            </a:extLst>
          </ns0:cNvPr>
          <ns0:cNvSpPr>
            <a:spLocks noGrp="1"/>
          </ns0:cNvSpPr>
          <ns0:nvPr/>
        </ns0:nvSpPr>
        <ns0:spPr>
          <a:xfrm>
            <a:off x="704850" y="3648075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A62A8569-54D2-4ED7-A9A5-9EB58D0F817D}"/>
              </a:ext>
            </a:extLst>
          </ns0:cNvPr>
          <ns0:cNvSpPr>
            <a:spLocks noGrp="1"/>
          </ns0:cNvSpPr>
          <ns0:nvPr/>
        </ns0:nvSpPr>
        <ns0:spPr>
          <a:xfrm>
            <a:off x="704850" y="3905250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证据</a:t>
            </a:r>
          </a:p>
        </ns0:txBody>
      </ns0:sp>
      <ns0:sp>
        <ns0:nvSpPr>
          <ns0:cNvPr id="26" name="">
            <a:extLst>
              <a:ext uri="{FF2B5EF4-FFF2-40B4-BE49-F238E27FC236}">
                <ns2:creationId id="{0C224D25-C450-4626-BA44-EC0AB4367D07}"/>
              </a:ext>
            </a:extLst>
          </ns0:cNvPr>
          <ns0:cNvSpPr>
            <a:spLocks noGrp="1"/>
          </ns0:cNvSpPr>
          <ns0:nvPr/>
        </ns0:nvSpPr>
        <ns0:spPr>
          <a:xfrm>
            <a:off x="1428750" y="3581400"/>
            <a:ext cx="1619250" cy="2476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谨慎补剂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072EB6C5-FEA4-4750-AF19-D904EBD10B6E}"/>
              </a:ext>
            </a:extLst>
          </ns0:cNvPr>
          <ns0:cNvSpPr>
            <a:spLocks noGrp="1"/>
          </ns0:cNvSpPr>
          <ns0:nvPr/>
        </ns0:nvSpPr>
        <ns0:spPr>
          <a:xfrm>
            <a:off x="3086100" y="3581400"/>
            <a:ext cx="3429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glutamine、GABA、一般抗氧化补剂</a:t>
            </a:r>
          </a:p>
        </ns0:txBody>
      </ns0:sp>
      <ns0:sp>
        <ns0:nvSpPr>
          <ns0:cNvPr id="28" name="">
            <a:extLst>
              <a:ext uri="{FF2B5EF4-FFF2-40B4-BE49-F238E27FC236}">
                <ns2:creationId id="{7F8818D0-E8C2-4973-AB6E-EFE8325D6785}"/>
              </a:ext>
            </a:extLst>
          </ns0:cNvPr>
          <ns0:cNvSpPr>
            <a:spLocks noGrp="1"/>
          </ns0:cNvSpPr>
          <ns0:nvPr/>
        </ns0:nvSpPr>
        <ns0:spPr>
          <a:xfrm>
            <a:off x="6667500" y="3648075"/>
            <a:ext cx="11430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适合做避坑内容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AD235006-0693-48AE-8BF9-BCB792BE1976}"/>
              </a:ext>
            </a:extLst>
          </ns0:cNvPr>
          <ns0:cNvSpPr>
            <a:spLocks noGrp="1"/>
          </ns0:cNvSpPr>
          <ns0:nvPr/>
        </ns0:nvSpPr>
        <ns0:spPr>
          <a:xfrm>
            <a:off x="495300" y="4400550"/>
            <a:ext cx="757237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0" name="">
            <a:extLst>
              <a:ext uri="{FF2B5EF4-FFF2-40B4-BE49-F238E27FC236}">
                <ns2:creationId id="{15755F3C-A0E2-4998-B021-63E6DFC37740}"/>
              </a:ext>
            </a:extLst>
          </ns0:cNvPr>
          <ns0:cNvSpPr>
            <a:spLocks noGrp="1"/>
          </ns0:cNvSpPr>
          <ns0:nvPr/>
        </ns0:nvSpPr>
        <ns0:spPr>
          <a:xfrm>
            <a:off x="704850" y="456247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A94438"/>
          </a:solidFill>
        </ns0:spPr>
      </ns0:sp>
      <ns0:sp>
        <ns0:nvSpPr>
          <ns0:cNvPr id="31" name="">
            <a:extLst>
              <a:ext uri="{FF2B5EF4-FFF2-40B4-BE49-F238E27FC236}">
                <ns2:creationId id="{8FF1EBCD-C870-46FE-A784-69A220A1C13D}"/>
              </a:ext>
            </a:extLst>
          </ns0:cNvPr>
          <ns0:cNvSpPr>
            <a:spLocks noGrp="1"/>
          </ns0:cNvSpPr>
          <ns0:nvPr/>
        </ns0:nvSpPr>
        <ns0:spPr>
          <a:xfrm>
            <a:off x="704850" y="4638675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D</a:t>
            </a:r>
          </a:p>
        </ns0:txBody>
      </ns0:sp>
      <ns0:sp>
        <ns0:nvSpPr>
          <ns0:cNvPr id="32" name="">
            <a:extLst>
              <a:ext uri="{FF2B5EF4-FFF2-40B4-BE49-F238E27FC236}">
                <ns2:creationId id="{F928B505-179F-4C39-9707-CDE2C0DCD083}"/>
              </a:ext>
            </a:extLst>
          </ns0:cNvPr>
          <ns0:cNvSpPr>
            <a:spLocks noGrp="1"/>
          </ns0:cNvSpPr>
          <ns0:nvPr/>
        </ns0:nvSpPr>
        <ns0:spPr>
          <a:xfrm>
            <a:off x="704850" y="4895850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证据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BA8390E6-294A-4F19-B968-AB7327AA98D5}"/>
              </a:ext>
            </a:extLst>
          </ns0:cNvPr>
          <ns0:cNvSpPr>
            <a:spLocks noGrp="1"/>
          </ns0:cNvSpPr>
          <ns0:nvPr/>
        </ns0:nvSpPr>
        <ns0:spPr>
          <a:xfrm>
            <a:off x="1428750" y="4572000"/>
            <a:ext cx="1619250" cy="2476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不建议包装</a:t>
            </a:r>
          </a:p>
        </ns0:txBody>
      </ns0:sp>
      <ns0:sp>
        <ns0:nvSpPr>
          <ns0:cNvPr id="34" name="">
            <a:extLst>
              <a:ext uri="{FF2B5EF4-FFF2-40B4-BE49-F238E27FC236}">
                <ns2:creationId id="{4403E727-D621-4E2E-A97C-CB3A206A5032}"/>
              </a:ext>
            </a:extLst>
          </ns0:cNvPr>
          <ns0:cNvSpPr>
            <a:spLocks noGrp="1"/>
          </ns0:cNvSpPr>
          <ns0:nvPr/>
        </ns0:nvSpPr>
        <ns0:spPr>
          <a:xfrm>
            <a:off x="3086100" y="4572000"/>
            <a:ext cx="3429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宣称过强、成分不明、多成分刺激型产品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E220F466-79EE-496D-8D4D-D86B4EB30D1F}"/>
              </a:ext>
            </a:extLst>
          </ns0:cNvPr>
          <ns0:cNvSpPr>
            <a:spLocks noGrp="1"/>
          </ns0:cNvSpPr>
          <ns0:nvPr/>
        </ns0:nvSpPr>
        <ns0:spPr>
          <a:xfrm>
            <a:off x="6667500" y="4638675"/>
            <a:ext cx="11430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高风险/低可信</a:t>
            </a:r>
          </a:p>
        </ns0:txBody>
      </ns0:sp>
      <ns0:sp>
        <ns0:nvSpPr>
          <ns0:cNvPr id="36" name="">
            <a:extLst>
              <a:ext uri="{FF2B5EF4-FFF2-40B4-BE49-F238E27FC236}">
                <ns2:creationId id="{E65ED4D6-95B9-4247-88AA-C7466F728A3D}"/>
              </a:ext>
            </a:extLst>
          </ns0:cNvPr>
          <ns0:cNvSpPr>
            <a:spLocks noGrp="1"/>
          </ns0:cNvSpPr>
          <ns0:nvPr/>
        </ns0:nvSpPr>
        <ns0:spPr>
          <a:xfrm>
            <a:off x="666750" y="5619750"/>
            <a:ext cx="7239000" cy="3238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80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商业化原则：卖判断框架，不卖「神效承诺」。</a:t>
            </a:r>
          </a:p>
        </ns0:txBody>
      </ns0:sp>
    </ns0:spTree>
    <ns0:extLst>
      <ns0:ext uri="{BB962C8B-B14F-4D97-AF65-F5344CB8AC3E}">
        <ns3:creationId val="1053054422"/>
      </ns0:ext>
    </ns0:extLst>
  </ns0:cSld>
</ns0:sld>
</file>

<file path=ppt/slides/slide3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1BC6B898-BAFD-40C8-B3DD-927DF7FAE724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C8303005-E15B-43FA-98CD-AEB3741DA2DB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2563A8"/>
          </a:solidFill>
        </ns0:spPr>
      </ns0:sp>
      <ns0:sp>
        <ns0:nvSpPr>
          <ns0:cNvPr id="3" name="">
            <a:extLst>
              <a:ext uri="{FF2B5EF4-FFF2-40B4-BE49-F238E27FC236}">
                <ns2:creationId id="{250F6960-6A25-45AB-8A7E-E575DB029104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补剂简报｜文献真实性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082F30FC-D68F-4B65-A18F-63867A0797AA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来源核对：只保留可追溯文献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3C04B4C1-E039-4B8E-9940-4A062F4F002A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46A646F5-6A91-4E9B-ACF5-C05120999BC3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文献来源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0D419705-0413-4DDD-A189-97DC492E4770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PubMed / PMC records were checked for PMID, PMCID or DOI traceability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NIH Office of Dietary Supplements pages were used for zinc and multivitamin safety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/ IOC / ISSN / ACSM were prioritized for consensus-level sport nutrition guidance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C8DA7ADB-6901-4845-93FD-226CF2C94CEB}"/>
              </a:ext>
            </a:extLst>
          </ns0:cNvPr>
          <ns0:cNvSpPr>
            <a:spLocks noGrp="1"/>
          </ns0:cNvSpPr>
          <ns0:nvPr/>
        </ns0:nvSpPr>
        <ns0:spPr>
          <a:xfrm>
            <a:off x="457200" y="1333500"/>
            <a:ext cx="7677150" cy="409575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9" name="">
            <a:extLst>
              <a:ext uri="{FF2B5EF4-FFF2-40B4-BE49-F238E27FC236}">
                <ns2:creationId id="{AB8AD7AD-C045-4EB3-87F1-B12A612954B6}"/>
              </a:ext>
            </a:extLst>
          </ns0:cNvPr>
          <ns0:cNvSpPr>
            <a:spLocks noGrp="1"/>
          </ns0:cNvSpPr>
          <ns0:nvPr/>
        </ns0:nvSpPr>
        <ns0:spPr>
          <a:xfrm>
            <a:off x="704850" y="1543050"/>
            <a:ext cx="238125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80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已核对来源类型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DD277B39-B53D-461C-AF19-90342CCBF884}"/>
              </a:ext>
            </a:extLst>
          </ns0:cNvPr>
          <ns0:cNvSpPr>
            <a:spLocks noGrp="1"/>
          </ns0:cNvSpPr>
          <ns0:nvPr/>
        </ns0:nvSpPr>
        <ns0:spPr>
          <a:xfrm>
            <a:off x="762000" y="2143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11" name="">
            <a:extLst>
              <a:ext uri="{FF2B5EF4-FFF2-40B4-BE49-F238E27FC236}">
                <ns2:creationId id="{8FA97384-BAF8-435D-822F-C80654601565}"/>
              </a:ext>
            </a:extLst>
          </ns0:cNvPr>
          <ns0:cNvSpPr>
            <a:spLocks noGrp="1"/>
          </ns0:cNvSpPr>
          <ns0:nvPr/>
        </ns0:nvSpPr>
        <ns0:spPr>
          <a:xfrm>
            <a:off x="933450" y="2076450"/>
            <a:ext cx="6400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PubMed / PMC：有 PMID、PMCID 或 DOI 可回查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9D8224BA-98A4-4D07-A94D-A3D9971B2CD4}"/>
              </a:ext>
            </a:extLst>
          </ns0:cNvPr>
          <ns0:cNvSpPr>
            <a:spLocks noGrp="1"/>
          </ns0:cNvSpPr>
          <ns0:nvPr/>
        </ns0:nvSpPr>
        <ns0:spPr>
          <a:xfrm>
            <a:off x="762000" y="2543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13" name="">
            <a:extLst>
              <a:ext uri="{FF2B5EF4-FFF2-40B4-BE49-F238E27FC236}">
                <ns2:creationId id="{D83015E4-A234-43AE-9303-0989AF69757D}"/>
              </a:ext>
            </a:extLst>
          </ns0:cNvPr>
          <ns0:cNvSpPr>
            <a:spLocks noGrp="1"/>
          </ns0:cNvSpPr>
          <ns0:nvPr/>
        </ns0:nvSpPr>
        <ns0:spPr>
          <a:xfrm>
            <a:off x="933450" y="2476500"/>
            <a:ext cx="6400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官方机构：NIH ODS、AIS、IOC、ACSM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4A5BB3D7-8211-440A-A61E-F3DC2A396DE4}"/>
              </a:ext>
            </a:extLst>
          </ns0:cNvPr>
          <ns0:cNvSpPr>
            <a:spLocks noGrp="1"/>
          </ns0:cNvSpPr>
          <ns0:nvPr/>
        </ns0:nvSpPr>
        <ns0:spPr>
          <a:xfrm>
            <a:off x="762000" y="2943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15" name="">
            <a:extLst>
              <a:ext uri="{FF2B5EF4-FFF2-40B4-BE49-F238E27FC236}">
                <ns2:creationId id="{1F7C1498-3544-46E9-9A35-252150FC05C1}"/>
              </a:ext>
            </a:extLst>
          </ns0:cNvPr>
          <ns0:cNvSpPr>
            <a:spLocks noGrp="1"/>
          </ns0:cNvSpPr>
          <ns0:nvPr/>
        </ns0:nvSpPr>
        <ns0:spPr>
          <a:xfrm>
            <a:off x="933450" y="2876550"/>
            <a:ext cx="6400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学会立场声明：ISSN position stand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9B37C253-CACE-4BFE-936D-207F8FD06AA2}"/>
              </a:ext>
            </a:extLst>
          </ns0:cNvPr>
          <ns0:cNvSpPr>
            <a:spLocks noGrp="1"/>
          </ns0:cNvSpPr>
          <ns0:nvPr/>
        </ns0:nvSpPr>
        <ns0:spPr>
          <a:xfrm>
            <a:off x="762000" y="3343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17" name="">
            <a:extLst>
              <a:ext uri="{FF2B5EF4-FFF2-40B4-BE49-F238E27FC236}">
                <ns2:creationId id="{042FDC49-3DF4-423A-9419-D393F9B86D87}"/>
              </a:ext>
            </a:extLst>
          </ns0:cNvPr>
          <ns0:cNvSpPr>
            <a:spLocks noGrp="1"/>
          </ns0:cNvSpPr>
          <ns0:nvPr/>
        </ns0:nvSpPr>
        <ns0:spPr>
          <a:xfrm>
            <a:off x="933450" y="3276600"/>
            <a:ext cx="6400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删除或替换：无法稳定追溯的年份、期刊或泛称引用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BA96B315-15A9-4BBA-825D-A974B63CC647}"/>
              </a:ext>
            </a:extLst>
          </ns0:cNvPr>
          <ns0:cNvSpPr>
            <a:spLocks noGrp="1"/>
          </ns0:cNvSpPr>
          <ns0:nvPr/>
        </ns0:nvSpPr>
        <ns0:spPr>
          <a:xfrm>
            <a:off x="723900" y="3829050"/>
            <a:ext cx="6915150" cy="9525"/>
          </a:xfrm>
          <a:prstGeom prst="rect">
            <a:avLst/>
          </a:prstGeom>
          <a:solidFill>
            <a:srgbClr val="D8E1DB"/>
          </a:solidFill>
        </ns0:spPr>
      </ns0:sp>
      <ns0:sp>
        <ns0:nvSpPr>
          <ns0:cNvPr id="19" name="">
            <a:extLst>
              <a:ext uri="{FF2B5EF4-FFF2-40B4-BE49-F238E27FC236}">
                <ns2:creationId id="{9D16BCB5-12A1-4ADF-BF65-82A12A2B83E1}"/>
              </a:ext>
            </a:extLst>
          </ns0:cNvPr>
          <ns0:cNvSpPr>
            <a:spLocks noGrp="1"/>
          </ns0:cNvSpPr>
          <ns0:nvPr/>
        </ns0:nvSpPr>
        <ns0:spPr>
          <a:xfrm>
            <a:off x="704850" y="4076700"/>
            <a:ext cx="2381250" cy="2476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新增微量营养素引用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7C5F9F48-E989-48B0-B708-646551D3DF81}"/>
              </a:ext>
            </a:extLst>
          </ns0:cNvPr>
          <ns0:cNvSpPr>
            <a:spLocks noGrp="1"/>
          </ns0:cNvSpPr>
          <ns0:nvPr/>
        </ns0:nvSpPr>
        <ns0:spPr>
          <a:xfrm>
            <a:off x="762000" y="4457700"/>
            <a:ext cx="666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锌片：NIH ODS Zinc Fact Sheet、IOC supplement consensus、AIS Group A / zinc。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1FA4461E-909A-48BE-9643-BE157E97F343}"/>
              </a:ext>
            </a:extLst>
          </ns0:cNvPr>
          <ns0:cNvSpPr>
            <a:spLocks noGrp="1"/>
          </ns0:cNvSpPr>
          <ns0:nvPr/>
        </ns0:nvSpPr>
        <ns0:spPr>
          <a:xfrm>
            <a:off x="762000" y="4819650"/>
            <a:ext cx="666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复合维生素：NIH ODS Multivitamin/mineral Fact Sheet、IOC supplement consensus、AIS framework。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C311980E-8CAB-4FC5-98DF-EEF3029C9B11}"/>
              </a:ext>
            </a:extLst>
          </ns0:cNvPr>
          <ns0:cNvSpPr>
            <a:spLocks noGrp="1"/>
          </ns0:cNvSpPr>
          <ns0:nvPr/>
        </ns0:nvSpPr>
        <ns0:spPr>
          <a:xfrm>
            <a:off x="590550" y="5810250"/>
            <a:ext cx="7239000" cy="3048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5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使用提醒：PPT 内的来源文字刻意保留 PMID / PMCID / DOI / 官方页名称，方便你未来整理成知识库。</a:t>
            </a:r>
          </a:p>
        </ns0:txBody>
      </ns0:sp>
    </ns0:spTree>
    <ns0:extLst>
      <ns0:ext uri="{BB962C8B-B14F-4D97-AF65-F5344CB8AC3E}">
        <ns3:creationId val="2011112152"/>
      </ns0:ext>
    </ns0:extLst>
  </ns0:cSld>
</ns0:sld>
</file>

<file path=ppt/slides/slide4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32366274-6641-4F2C-8B34-AC8BB144AE55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AD4B4641-3714-40CE-8EA2-64656B701303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1F7A4D"/>
          </a:solidFill>
        </ns0:spPr>
      </ns0:sp>
      <ns0:sp>
        <ns0:nvSpPr>
          <ns0:cNvPr id="3" name="">
            <a:extLst>
              <a:ext uri="{FF2B5EF4-FFF2-40B4-BE49-F238E27FC236}">
                <ns2:creationId id="{D5DAA7C0-D869-4A75-9B29-1AABCBE777A7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补剂简报｜快速地图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396D58C1-BD53-4141-913C-3E48F97FE95F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补剂总览：先问目的，再问产品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51108A92-8114-4734-B6AD-9C59694075DC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BAD4C742-C07D-4CD3-BBEE-7488AEB9CBCF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文献来源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39889EF2-73F6-451E-80A1-30AB6079F2D4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AIS Group A: supported for specific sport situations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2018: supplement use must be scenario-based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ISSN position stands: ingredient-specific evidence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F113BA06-B7CD-4963-BD48-80EC7E41210C}"/>
              </a:ext>
            </a:extLst>
          </ns0:cNvPr>
          <ns0:cNvSpPr>
            <a:spLocks noGrp="1"/>
          </ns0:cNvSpPr>
          <ns0:nvPr/>
        </ns0:nvSpPr>
        <ns0:spPr>
          <a:xfrm>
            <a:off x="457200" y="1333500"/>
            <a:ext cx="7677150" cy="428625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9" name="">
            <a:extLst>
              <a:ext uri="{FF2B5EF4-FFF2-40B4-BE49-F238E27FC236}">
                <ns2:creationId id="{E915CD77-5440-4E54-B9EF-7645E1937F8E}"/>
              </a:ext>
            </a:extLst>
          </ns0:cNvPr>
          <ns0:cNvSpPr>
            <a:spLocks noGrp="1"/>
          </ns0:cNvSpPr>
          <ns0:nvPr/>
        </ns0:nvSpPr>
        <ns0:spPr>
          <a:xfrm>
            <a:off x="714375" y="1543050"/>
            <a:ext cx="1047750" cy="2476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1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目的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B90E9626-BEE2-4143-887C-76ACF1CC11EB}"/>
              </a:ext>
            </a:extLst>
          </ns0:cNvPr>
          <ns0:cNvSpPr>
            <a:spLocks noGrp="1"/>
          </ns0:cNvSpPr>
          <ns0:nvPr/>
        </ns0:nvSpPr>
        <ns0:spPr>
          <a:xfrm>
            <a:off x="2362200" y="1543050"/>
            <a:ext cx="1619250" cy="2476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1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优先补剂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23531A2A-0BD7-4D39-82A1-3972CFB4D8DE}"/>
              </a:ext>
            </a:extLst>
          </ns0:cNvPr>
          <ns0:cNvSpPr>
            <a:spLocks noGrp="1"/>
          </ns0:cNvSpPr>
          <ns0:nvPr/>
        </ns0:nvSpPr>
        <ns0:spPr>
          <a:xfrm>
            <a:off x="4762500" y="1543050"/>
            <a:ext cx="2095500" cy="2476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1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最适合人群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FECA38F8-E4DC-42F0-9982-7FBD9D339089}"/>
              </a:ext>
            </a:extLst>
          </ns0:cNvPr>
          <ns0:cNvSpPr>
            <a:spLocks noGrp="1"/>
          </ns0:cNvSpPr>
          <ns0:nvPr/>
        </ns0:nvSpPr>
        <ns0:spPr>
          <a:xfrm>
            <a:off x="666750" y="1885950"/>
            <a:ext cx="7181850" cy="9525"/>
          </a:xfrm>
          <a:prstGeom prst="rect">
            <a:avLst/>
          </a:prstGeom>
          <a:solidFill>
            <a:srgbClr val="D8E1DB"/>
          </a:solidFill>
        </ns0:spPr>
      </ns0:sp>
      <ns0:sp>
        <ns0:nvSpPr>
          <ns0:cNvPr id="13" name="">
            <a:extLst>
              <a:ext uri="{FF2B5EF4-FFF2-40B4-BE49-F238E27FC236}">
                <ns2:creationId id="{1D6B39AB-B393-4FE6-B876-F530F1BA29B6}"/>
              </a:ext>
            </a:extLst>
          </ns0:cNvPr>
          <ns0:cNvSpPr>
            <a:spLocks noGrp="1"/>
          </ns0:cNvSpPr>
          <ns0:nvPr/>
        </ns0:nvSpPr>
        <ns0:spPr>
          <a:xfrm>
            <a:off x="714375" y="1981200"/>
            <a:ext cx="14287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增肌/力量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26469C30-900C-4864-89CC-7CB53F40D02E}"/>
              </a:ext>
            </a:extLst>
          </ns0:cNvPr>
          <ns0:cNvSpPr>
            <a:spLocks noGrp="1"/>
          </ns0:cNvSpPr>
          <ns0:nvPr/>
        </ns0:nvSpPr>
        <ns0:spPr>
          <a:xfrm>
            <a:off x="2362200" y="1981200"/>
            <a:ext cx="20955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肌酸、蛋白粉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4C75CD84-5B72-4BED-B17B-2B9FE7F9C9DC}"/>
              </a:ext>
            </a:extLst>
          </ns0:cNvPr>
          <ns0:cNvSpPr>
            <a:spLocks noGrp="1"/>
          </ns0:cNvSpPr>
          <ns0:nvPr/>
        </ns0:nvSpPr>
        <ns0:spPr>
          <a:xfrm>
            <a:off x="4762500" y="1981200"/>
            <a:ext cx="27432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抗阻训练者、蛋白不足者、素食者、老年人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CAE7C767-ECAC-4E27-86E7-9D3E5441B45A}"/>
              </a:ext>
            </a:extLst>
          </ns0:cNvPr>
          <ns0:cNvSpPr>
            <a:spLocks noGrp="1"/>
          </ns0:cNvSpPr>
          <ns0:nvPr/>
        </ns0:nvSpPr>
        <ns0:spPr>
          <a:xfrm>
            <a:off x="666750" y="2457450"/>
            <a:ext cx="7181850" cy="9525"/>
          </a:xfrm>
          <a:prstGeom prst="rect">
            <a:avLst/>
          </a:prstGeom>
          <a:solidFill>
            <a:srgbClr val="D8E1DB"/>
          </a:solidFill>
        </ns0:spPr>
      </ns0:sp>
      <ns0:sp>
        <ns0:nvSpPr>
          <ns0:cNvPr id="17" name="">
            <a:extLst>
              <a:ext uri="{FF2B5EF4-FFF2-40B4-BE49-F238E27FC236}">
                <ns2:creationId id="{12A35725-B13E-4220-8AB2-C6A3424B00A3}"/>
              </a:ext>
            </a:extLst>
          </ns0:cNvPr>
          <ns0:cNvSpPr>
            <a:spLocks noGrp="1"/>
          </ns0:cNvSpPr>
          <ns0:nvPr/>
        </ns0:nvSpPr>
        <ns0:spPr>
          <a:xfrm>
            <a:off x="714375" y="2552700"/>
            <a:ext cx="14287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耐力/高强度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9E804CAD-D026-41FD-BEEC-69F8D4484B83}"/>
              </a:ext>
            </a:extLst>
          </ns0:cNvPr>
          <ns0:cNvSpPr>
            <a:spLocks noGrp="1"/>
          </ns0:cNvSpPr>
          <ns0:nvPr/>
        </ns0:nvSpPr>
        <ns0:spPr>
          <a:xfrm>
            <a:off x="2362200" y="2552700"/>
            <a:ext cx="20955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咖啡因、硝酸盐、beta-alanine、碳酸氢钠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8BE848D8-400D-46D1-BED2-2389A3BEE182}"/>
              </a:ext>
            </a:extLst>
          </ns0:cNvPr>
          <ns0:cNvSpPr>
            <a:spLocks noGrp="1"/>
          </ns0:cNvSpPr>
          <ns0:nvPr/>
        </ns0:nvSpPr>
        <ns0:spPr>
          <a:xfrm>
            <a:off x="4762500" y="2552700"/>
            <a:ext cx="27432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耐力、格斗、球类、反复冲刺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7B40EC68-841B-4996-85B8-FF9E3E6E04B9}"/>
              </a:ext>
            </a:extLst>
          </ns0:cNvPr>
          <ns0:cNvSpPr>
            <a:spLocks noGrp="1"/>
          </ns0:cNvSpPr>
          <ns0:nvPr/>
        </ns0:nvSpPr>
        <ns0:spPr>
          <a:xfrm>
            <a:off x="666750" y="3028950"/>
            <a:ext cx="7181850" cy="9525"/>
          </a:xfrm>
          <a:prstGeom prst="rect">
            <a:avLst/>
          </a:prstGeom>
          <a:solidFill>
            <a:srgbClr val="D8E1DB"/>
          </a:solidFill>
        </ns0:spPr>
      </ns0:sp>
      <ns0:sp>
        <ns0:nvSpPr>
          <ns0:cNvPr id="21" name="">
            <a:extLst>
              <a:ext uri="{FF2B5EF4-FFF2-40B4-BE49-F238E27FC236}">
                <ns2:creationId id="{E2F74FC0-806C-490D-B056-2252E7695CC2}"/>
              </a:ext>
            </a:extLst>
          </ns0:cNvPr>
          <ns0:cNvSpPr>
            <a:spLocks noGrp="1"/>
          </ns0:cNvSpPr>
          <ns0:nvPr/>
        </ns0:nvSpPr>
        <ns0:spPr>
          <a:xfrm>
            <a:off x="714375" y="3124200"/>
            <a:ext cx="14287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恢复/健康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83023365-D20F-462F-BEF2-F00E75C85BED}"/>
              </a:ext>
            </a:extLst>
          </ns0:cNvPr>
          <ns0:cNvSpPr>
            <a:spLocks noGrp="1"/>
          </ns0:cNvSpPr>
          <ns0:nvPr/>
        </ns0:nvSpPr>
        <ns0:spPr>
          <a:xfrm>
            <a:off x="2362200" y="3124200"/>
            <a:ext cx="20955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omega-3、tart cherry、多酚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BB4EB3F1-1176-4E18-9841-7DD62BFC49DE}"/>
              </a:ext>
            </a:extLst>
          </ns0:cNvPr>
          <ns0:cNvSpPr>
            <a:spLocks noGrp="1"/>
          </ns0:cNvSpPr>
          <ns0:nvPr/>
        </ns0:nvSpPr>
        <ns0:spPr>
          <a:xfrm>
            <a:off x="4762500" y="3124200"/>
            <a:ext cx="27432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低鱼类摄取、高训练量、比赛密集者</a:t>
            </a:r>
          </a:p>
        </ns0:txBody>
      </ns0:sp>
      <ns0:sp>
        <ns0:nvSpPr>
          <ns0:cNvPr id="24" name="">
            <a:extLst>
              <a:ext uri="{FF2B5EF4-FFF2-40B4-BE49-F238E27FC236}">
                <ns2:creationId id="{0B237B47-2CC2-4282-9676-967D155C9230}"/>
              </a:ext>
            </a:extLst>
          </ns0:cNvPr>
          <ns0:cNvSpPr>
            <a:spLocks noGrp="1"/>
          </ns0:cNvSpPr>
          <ns0:nvPr/>
        </ns0:nvSpPr>
        <ns0:spPr>
          <a:xfrm>
            <a:off x="666750" y="3600450"/>
            <a:ext cx="7181850" cy="9525"/>
          </a:xfrm>
          <a:prstGeom prst="rect">
            <a:avLst/>
          </a:prstGeom>
          <a:solidFill>
            <a:srgbClr val="D8E1DB"/>
          </a:solidFill>
        </ns0:spPr>
      </ns0:sp>
      <ns0:sp>
        <ns0:nvSpPr>
          <ns0:cNvPr id="25" name="">
            <a:extLst>
              <a:ext uri="{FF2B5EF4-FFF2-40B4-BE49-F238E27FC236}">
                <ns2:creationId id="{5B54AE0F-C5E9-47C5-BB91-DE5FAA6880FB}"/>
              </a:ext>
            </a:extLst>
          </ns0:cNvPr>
          <ns0:cNvSpPr>
            <a:spLocks noGrp="1"/>
          </ns0:cNvSpPr>
          <ns0:nvPr/>
        </ns0:nvSpPr>
        <ns0:spPr>
          <a:xfrm>
            <a:off x="714375" y="3695700"/>
            <a:ext cx="14287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营养缺口</a:t>
            </a:r>
          </a:p>
        </ns0:txBody>
      </ns0:sp>
      <ns0:sp>
        <ns0:nvSpPr>
          <ns0:cNvPr id="26" name="">
            <a:extLst>
              <a:ext uri="{FF2B5EF4-FFF2-40B4-BE49-F238E27FC236}">
                <ns2:creationId id="{DE255701-3EF0-4242-8EBA-7403AC28FCB0}"/>
              </a:ext>
            </a:extLst>
          </ns0:cNvPr>
          <ns0:cNvSpPr>
            <a:spLocks noGrp="1"/>
          </ns0:cNvSpPr>
          <ns0:nvPr/>
        </ns0:nvSpPr>
        <ns0:spPr>
          <a:xfrm>
            <a:off x="2362200" y="3695700"/>
            <a:ext cx="20955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锌、维生素D、复合维生素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8A7DBB26-E6B0-4B6E-9FDD-FD2092A21E59}"/>
              </a:ext>
            </a:extLst>
          </ns0:cNvPr>
          <ns0:cNvSpPr>
            <a:spLocks noGrp="1"/>
          </ns0:cNvSpPr>
          <ns0:nvPr/>
        </ns0:nvSpPr>
        <ns0:spPr>
          <a:xfrm>
            <a:off x="4762500" y="3695700"/>
            <a:ext cx="27432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限制饮食、热量赤字、素食、饮食不规律</a:t>
            </a:r>
          </a:p>
        </ns0:txBody>
      </ns0:sp>
      <ns0:sp>
        <ns0:nvSpPr>
          <ns0:cNvPr id="28" name="">
            <a:extLst>
              <a:ext uri="{FF2B5EF4-FFF2-40B4-BE49-F238E27FC236}">
                <ns2:creationId id="{5D2B40B0-7A18-4DE8-BAE8-B3BFF76D6E2F}"/>
              </a:ext>
            </a:extLst>
          </ns0:cNvPr>
          <ns0:cNvSpPr>
            <a:spLocks noGrp="1"/>
          </ns0:cNvSpPr>
          <ns0:nvPr/>
        </ns0:nvSpPr>
        <ns0:spPr>
          <a:xfrm>
            <a:off x="666750" y="4171950"/>
            <a:ext cx="7181850" cy="9525"/>
          </a:xfrm>
          <a:prstGeom prst="rect">
            <a:avLst/>
          </a:prstGeom>
          <a:solidFill>
            <a:srgbClr val="D8E1DB"/>
          </a:solidFill>
        </ns0:spPr>
      </ns0:sp>
      <ns0:sp>
        <ns0:nvSpPr>
          <ns0:cNvPr id="29" name="">
            <a:extLst>
              <a:ext uri="{FF2B5EF4-FFF2-40B4-BE49-F238E27FC236}">
                <ns2:creationId id="{5A2E2249-2974-4ED5-8A9D-AEDB23EEE2F5}"/>
              </a:ext>
            </a:extLst>
          </ns0:cNvPr>
          <ns0:cNvSpPr>
            <a:spLocks noGrp="1"/>
          </ns0:cNvSpPr>
          <ns0:nvPr/>
        </ns0:nvSpPr>
        <ns0:spPr>
          <a:xfrm>
            <a:off x="714375" y="4267200"/>
            <a:ext cx="14287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睡眠/压力</a:t>
            </a:r>
          </a:p>
        </ns0:txBody>
      </ns0:sp>
      <ns0:sp>
        <ns0:nvSpPr>
          <ns0:cNvPr id="30" name="">
            <a:extLst>
              <a:ext uri="{FF2B5EF4-FFF2-40B4-BE49-F238E27FC236}">
                <ns2:creationId id="{334E1F9B-A729-48C1-92A6-B2A807877E05}"/>
              </a:ext>
            </a:extLst>
          </ns0:cNvPr>
          <ns0:cNvSpPr>
            <a:spLocks noGrp="1"/>
          </ns0:cNvSpPr>
          <ns0:nvPr/>
        </ns0:nvSpPr>
        <ns0:spPr>
          <a:xfrm>
            <a:off x="2362200" y="4267200"/>
            <a:ext cx="20955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GABA、镁、L-theanine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F0E56FA7-861B-4974-A23A-2D7CADAE0770}"/>
              </a:ext>
            </a:extLst>
          </ns0:cNvPr>
          <ns0:cNvSpPr>
            <a:spLocks noGrp="1"/>
          </ns0:cNvSpPr>
          <ns0:nvPr/>
        </ns0:nvSpPr>
        <ns0:spPr>
          <a:xfrm>
            <a:off x="4762500" y="4267200"/>
            <a:ext cx="27432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睡眠差或压力高者，但证据较弱</a:t>
            </a:r>
          </a:p>
        </ns0:txBody>
      </ns0:sp>
      <ns0:sp>
        <ns0:nvSpPr>
          <ns0:cNvPr id="32" name="">
            <a:extLst>
              <a:ext uri="{FF2B5EF4-FFF2-40B4-BE49-F238E27FC236}">
                <ns2:creationId id="{2BA6E2AE-BB6A-4F73-B061-4425EF9ACB21}"/>
              </a:ext>
            </a:extLst>
          </ns0:cNvPr>
          <ns0:cNvSpPr>
            <a:spLocks noGrp="1"/>
          </ns0:cNvSpPr>
          <ns0:nvPr/>
        </ns0:nvSpPr>
        <ns0:spPr>
          <a:xfrm>
            <a:off x="666750" y="4743450"/>
            <a:ext cx="7181850" cy="9525"/>
          </a:xfrm>
          <a:prstGeom prst="rect">
            <a:avLst/>
          </a:prstGeom>
          <a:solidFill>
            <a:srgbClr val="D8E1DB"/>
          </a:solidFill>
        </ns0:spPr>
      </ns0:sp>
      <ns0:sp>
        <ns0:nvSpPr>
          <ns0:cNvPr id="33" name="">
            <a:extLst>
              <a:ext uri="{FF2B5EF4-FFF2-40B4-BE49-F238E27FC236}">
                <ns2:creationId id="{72FD138B-7B74-4772-AB66-4DF3425CA9FD}"/>
              </a:ext>
            </a:extLst>
          </ns0:cNvPr>
          <ns0:cNvSpPr>
            <a:spLocks noGrp="1"/>
          </ns0:cNvSpPr>
          <ns0:nvPr/>
        </ns0:nvSpPr>
        <ns0:spPr>
          <a:xfrm>
            <a:off x="714375" y="4838700"/>
            <a:ext cx="14287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免疫/肠道</a:t>
            </a:r>
          </a:p>
        </ns0:txBody>
      </ns0:sp>
      <ns0:sp>
        <ns0:nvSpPr>
          <ns0:cNvPr id="34" name="">
            <a:extLst>
              <a:ext uri="{FF2B5EF4-FFF2-40B4-BE49-F238E27FC236}">
                <ns2:creationId id="{04660451-2729-4D8E-88F3-AC55683E0048}"/>
              </a:ext>
            </a:extLst>
          </ns0:cNvPr>
          <ns0:cNvSpPr>
            <a:spLocks noGrp="1"/>
          </ns0:cNvSpPr>
          <ns0:nvPr/>
        </ns0:nvSpPr>
        <ns0:spPr>
          <a:xfrm>
            <a:off x="2362200" y="4838700"/>
            <a:ext cx="20955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益生菌、glutamine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853B2C02-D024-41B0-8030-2C545AAF5C6B}"/>
              </a:ext>
            </a:extLst>
          </ns0:cNvPr>
          <ns0:cNvSpPr>
            <a:spLocks noGrp="1"/>
          </ns0:cNvSpPr>
          <ns0:nvPr/>
        </ns0:nvSpPr>
        <ns0:spPr>
          <a:xfrm>
            <a:off x="4762500" y="4838700"/>
            <a:ext cx="27432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肠胃症状、旅行、极高压力或特殊族群</a:t>
            </a:r>
          </a:p>
        </ns0:txBody>
      </ns0:sp>
      <ns0:sp>
        <ns0:nvSpPr>
          <ns0:cNvPr id="36" name="">
            <a:extLst>
              <a:ext uri="{FF2B5EF4-FFF2-40B4-BE49-F238E27FC236}">
                <ns2:creationId id="{4A3FF12C-E7A2-4122-A849-8E7DDBFA9F48}"/>
              </a:ext>
            </a:extLst>
          </ns0:cNvPr>
          <ns0:cNvSpPr>
            <a:spLocks noGrp="1"/>
          </ns0:cNvSpPr>
          <ns0:nvPr/>
        </ns0:nvSpPr>
        <ns0:spPr>
          <a:xfrm>
            <a:off x="552450" y="5905500"/>
            <a:ext cx="7239000" cy="3048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最容易卖错：把 C 级补剂讲成 A 级，把 marker 改善讲成表现提升。</a:t>
            </a:r>
          </a:p>
        </ns0:txBody>
      </ns0:sp>
    </ns0:spTree>
    <ns0:extLst>
      <ns0:ext uri="{BB962C8B-B14F-4D97-AF65-F5344CB8AC3E}">
        <ns3:creationId val="550063059"/>
      </ns0:ext>
    </ns0:extLst>
  </ns0:cSld>
</ns0:sld>
</file>

<file path=ppt/slides/slide5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64F75E80-F734-4624-BD3E-2996D754882F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778246B8-31F5-458E-84DB-63B96BBD4DCF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1F7A4D"/>
          </a:solidFill>
        </ns0:spPr>
      </ns0:sp>
      <ns0:sp>
        <ns0:nvSpPr>
          <ns0:cNvPr id="3" name="">
            <a:extLst>
              <a:ext uri="{FF2B5EF4-FFF2-40B4-BE49-F238E27FC236}">
                <ns2:creationId id="{6E205CE7-30E4-473F-9D0B-8F6FC926B144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A 级｜力量与增肌最值得优先讲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2D0285AA-DC22-4526-A9AB-F8999B5137B7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肌酸 Creatine Monohydrate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04371D74-FE81-4AC8-B34A-50D406B780AD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62D297C8-F5D3-4ABB-A7C0-BD6E0F9ACFD6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文献来源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B18CE049-886E-453F-BCA0-0B4FBC686A7C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Kreider et al. ISSN creatine position stand, JISSN, 2017. PMCID: PMC5469049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statement on dietary supplements, BJSM, 2018. PMCID: PMC5867441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Group A supplement framework: creatine listed for specific performance uses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54660411-F86D-4ADE-8B32-5E8B67F75A6D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F7A4D"/>
          </a:solidFill>
        </ns0:spPr>
      </ns0:sp>
      <ns0:sp>
        <ns0:nvSpPr>
          <ns0:cNvPr id="9" name="">
            <a:extLst>
              <a:ext uri="{FF2B5EF4-FFF2-40B4-BE49-F238E27FC236}">
                <ns2:creationId id="{57B86401-E383-44A6-8176-A9F6442C29E7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14F57D86-0815-49D3-BBF5-94964DFBC589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证据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F8D9BA96-EE93-416F-8449-2B272A49B754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核心用途：高强度输出、力量、瘦体重/肌肉量、抗阻训练适应。常见策略：3-5 g/day；或 loading 20 g/day 5-7 天后维持。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8AD7A36C-4EBA-475F-91D1-170AFF5C47B4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D3EB965B-89CD-454D-A350-63B94700A58B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81B33D78-4C02-45AA-AB84-6B853EC6F221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增加肌肉 phosphocreatine 储备，帮助短时间高强度时更快再合成 ATP。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3C274689-7E32-4F85-ADDA-024A719D4EDE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CEE3D591-B805-4D4A-8FA7-FE63DA3CF8ED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0E077265-60D7-4437-9F2A-60B24D91C159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适用人群 / 情境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95636344-CFFB-4D8E-8E23-66BC92462BE0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不适用 / 慎用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12BE5710-F475-416C-B27D-D5EAB4708E9C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E38C33C9-806F-45C9-BAC3-011CF10C7BED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规律抗阻训练者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1B985F0B-EC84-4371-8BAD-235B17CA5945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9A7F3643-C425-4659-8104-B09B87A9AAB4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爆发力/冲刺/球类运动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1ED56ED5-BD16-4AB8-9335-8B9ED73405DF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583BDE91-57D5-48FC-852E-FC8F35297D44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素食或肌酸摄取较低者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6876E667-4B36-4FD2-9038-716D14436D65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260D39A0-D5B0-400A-9C65-E70485A3BED5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中老年肌力与功能维持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AE8220AE-3665-4409-BE33-1EA0EFD891D7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566877D0-C743-4FDC-9355-E5795162AEE3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肾脏疾病或肾功能异常者先问医师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9A875FF8-033D-41E9-8411-B86AEB4BDE5B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5CB12944-9B3B-4E0C-8863-802AE0BFBF97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需短期严格控体重者慎用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40E873A1-E091-4487-82B7-A9E7BBC80D18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3464EF94-AE93-4BCF-81A6-E622BD4A4C85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怀孕、青少年、用药族群需专业评估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48B98913-8A71-4500-A8B7-854E439BCE59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F3DD7BB8-353D-4B75-B3D6-2D48282EBCFC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期待『不训练也增肌』者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B5CE15A8-6ECA-4EA5-B925-B37AA1FC4F7A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B3593113-4B16-479F-AEBC-D97CEA0BDCC2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讲法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0EB8F2B2-D700-4782-A8FB-6F8C84B3C23A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可作主力产品内容。重点是安全性、剂量、体重上升多为水分/瘦体重，不是伤肾神话。</a:t>
            </a:r>
          </a:p>
        </ns0:txBody>
      </ns0:sp>
    </ns0:spTree>
    <ns0:extLst>
      <ns0:ext uri="{BB962C8B-B14F-4D97-AF65-F5344CB8AC3E}">
        <ns3:creationId val="1666618983"/>
      </ns0:ext>
    </ns0:extLst>
  </ns0:cSld>
</ns0:sld>
</file>

<file path=ppt/slides/slide6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10F112D6-C365-4B9F-A7C9-4DADE5D13963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7A65A6F8-2EE4-406D-BE21-B72B3114CCAC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1F7A4D"/>
          </a:solidFill>
        </ns0:spPr>
      </ns0:sp>
      <ns0:sp>
        <ns0:nvSpPr>
          <ns0:cNvPr id="3" name="">
            <a:extLst>
              <a:ext uri="{FF2B5EF4-FFF2-40B4-BE49-F238E27FC236}">
                <ns2:creationId id="{50BF16C3-E12A-4D7E-85C1-4CCD351CA5AD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A 级｜先达到每日总量，再谈 timing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6D3847A9-4937-42D6-BC82-A4F7F59F84F6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蛋白粉 / EAA / Whey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F7B4D1A1-1B70-4BEA-94C5-5B02741DF679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9AC20BD6-85BF-4688-A799-85E0CC07FC6A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文献来源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5DBF1905-2161-446A-B7E6-8E331C948B11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Campbell et al. ISSN protein and exercise position stand, JISSN, 2017. DOI: 10.1186/s12970-017-0177-8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Antonio et al. Protein supplementation misconceptions, 2024. PMCID: PMC11022925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Casuso &amp; Goossens protein timing meta-analysis, 2025. PMID: 40647175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164664F6-D6D8-4EF8-AE5B-5CE898C82FD9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F7A4D"/>
          </a:solidFill>
        </ns0:spPr>
      </ns0:sp>
      <ns0:sp>
        <ns0:nvSpPr>
          <ns0:cNvPr id="9" name="">
            <a:extLst>
              <a:ext uri="{FF2B5EF4-FFF2-40B4-BE49-F238E27FC236}">
                <ns2:creationId id="{A52C39FA-DDCF-40A0-9EF2-5DB30D020505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E0AF4A77-9119-4126-BC22-D534906C280A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证据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F914183C-2FA3-49F6-BE67-EE73A780393F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核心用途：肌肥大、恢复、维持瘦体重。多数运动者常用目标约 1.4-2.0 g/kg/day；热量赤字或高训练量可更情境化。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50E82128-EDAB-4A2E-81BC-3D50B31AD7B7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BE465F6D-D5CB-4ABF-8925-47EC62591E23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04D29C72-09A9-4FC1-9D9D-7EF87B65962B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提供 EAA / leucine 作为肌肉蛋白质合成原料与讯号，支持修复与生长。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9DCA6DC3-81FA-48CA-9041-8CC26A3662E1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679F8BC0-B162-4A32-BBA9-B2B82D6E8CCD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55E8A26F-3F69-4C0F-B027-4636A8133367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适用人群 / 情境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459148C1-2CFB-4782-BEEC-6CAE8007DB80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不适用 / 慎用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DA467382-5508-41D9-AD71-5A4B3E5DD423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80402318-DA1C-4BAC-AA61-E07F79302A5A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蛋白质摄取不足者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F7BD193D-3C0C-4918-AF83-052B263BD96D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0551BFA9-D9D9-48EB-B666-6B0929CFE843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增肌/减脂期抗阻训练者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75CC92C8-9CBA-4FDD-9E86-A9AC6EC22E74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0B841E5F-819A-4BB8-A6F6-A09CD7F8A282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忙碌、食物摄取不方便者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4EC5AEDB-65BF-4FAE-9890-88B4A288F9D7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513588DF-5512-4F31-BD6D-E3EA4A11A7ED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老年或食欲较低者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FC88B2B8-6656-48F1-BD39-919732C225A1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8F63EE7D-589A-4C63-A4DB-2CCCFD1BDE4E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每日蛋白已充足者未必需要粉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581E0C0D-B36A-49AD-8A5D-4735AD5A069A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ECA18385-1D55-4C8A-B319-81C3B4088E03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严重肾脏疾病需医疗指导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A251D7AD-ED02-49EC-A5BB-D6BAC713DAF2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20CE139F-581A-472D-8492-133CE860A08E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乳糖不耐或乳清过敏者需换来源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8E7A2A7D-FA45-4733-973C-038B3556B1F8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6AEC91D3-A34C-42A2-AE8A-A5632CAD311B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把 BCAA 当完整蛋白替代者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FBC18924-82AF-4B37-8EC6-FE18D4CCAF0B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FC875186-EBF8-47ED-9AC4-C7E80AE4EBA5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讲法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F8479490-4914-4100-854A-22FBB7238A11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内容主轴：蛋白粉是工具，不是魔法。先教会读者算总量，再谈每餐分配与训练前后。</a:t>
            </a:r>
          </a:p>
        </ns0:txBody>
      </ns0:sp>
    </ns0:spTree>
    <ns0:extLst>
      <ns0:ext uri="{BB962C8B-B14F-4D97-AF65-F5344CB8AC3E}">
        <ns3:creationId val="1147697423"/>
      </ns0:ext>
    </ns0:extLst>
  </ns0:cSld>
</ns0:sld>
</file>

<file path=ppt/slides/slide7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F5AEC1F2-5730-4AD4-990D-97DF8AA9B099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30B3E343-AD82-42D0-8803-6967328FC679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2563A8"/>
          </a:solidFill>
        </ns0:spPr>
      </ns0:sp>
      <ns0:sp>
        <ns0:nvSpPr>
          <ns0:cNvPr id="3" name="">
            <a:extLst>
              <a:ext uri="{FF2B5EF4-FFF2-40B4-BE49-F238E27FC236}">
                <ns2:creationId id="{29B1A427-1F1B-4A38-8AB9-AA00C5A8AEAB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A 级｜急性表现补剂，但要付睡眠成本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40E5C427-82CA-487A-A663-57AFEF830E8F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咖啡因 Caffeine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DA023AEE-2845-4704-8A1F-A0DBAE0FD73D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E65F6E19-0337-4B7D-8C0E-6C664983DA9B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文献来源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774D7FEC-8998-4D83-A191-56649EC64BD0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Guest et al. ISSN caffeine and exercise performance, 2021. PMCID: PMC7777221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statement, BJSM, 2018. PMCID: PMC5867441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Group A supplement framework: caffeine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FF6EC2FB-1EDA-4903-976E-D789B76D9B43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2563A8"/>
          </a:solidFill>
        </ns0:spPr>
      </ns0:sp>
      <ns0:sp>
        <ns0:nvSpPr>
          <ns0:cNvPr id="9" name="">
            <a:extLst>
              <a:ext uri="{FF2B5EF4-FFF2-40B4-BE49-F238E27FC236}">
                <ns2:creationId id="{35DA7105-6DC4-4709-BD8B-A2F8B197ADD5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952581D0-CF41-43E8-A230-89EA0E343BA2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证据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E4552623-4BFF-44E1-9A88-464B70BF6C7C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核心用途：耐力、力量耐力、冲刺、警觉、睡眠不足情境下的认知与表现。常见剂量 3-6 mg/kg，运动前约 60 分钟。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E6079646-F759-4F72-8723-F800A4DF43DD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A95624B7-04E8-4591-AAED-42989B889BF6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08B72506-9AF2-41D2-BADD-0ECDE28A1629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拮抗 adenosine receptor，提升中枢警觉、降低主观疲劳并改善输出意愿。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09256DE8-679E-408A-81CF-281A46D05073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5D474095-4C52-4B83-97EF-F0950B89FCDE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B046A550-DB5C-4A05-8965-B3546F39F36A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适用人群 / 情境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A8B4E28C-82F2-43C0-855C-728CF1ACEA4B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不适用 / 慎用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CE53CD69-0133-4ED5-8F2C-23DA6FB5772A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26ACB424-B802-4B98-B742-9A439FA19744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耐力与球类运动员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40FE7E72-D272-47B1-94FE-A84DD1254089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8D8A822F-FD41-470F-91DD-3D902B5276FC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HIIT / 反复冲刺训练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10B8401D-1D61-46C7-960A-5E1E9FF71038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6686CFAE-5C6C-4DFB-A0EB-901E690904FF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比赛日需要提升警觉者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5E4A9D04-F7B9-4F4A-B61C-7474BAC6216E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417F8589-9363-4732-B7F1-76365CAE9EA6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对咖啡因反应良好者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55ABAFF0-2DF5-4431-AD34-316451D3F7A3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77373FE0-9DC2-41F7-9204-CD71BFC63D58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焦虑、心悸、失眠者慎用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2774079D-F33A-4D05-B4D7-112F3740098C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D85AF6B4-9D43-4825-88C9-568EE6B03201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下午/晚上训练且睡眠重要者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BE11C5C5-AC15-4BC6-925A-7AAAF95E3D0C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1243E1E3-2D62-4463-9013-4251C79956FA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孕期、高血压或心律问题需专业评估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8251B7C6-15A8-4BB7-B646-C24F9E541879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9D653C50-21DD-4146-A5C4-1518BDF30B8D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对刺激物敏感者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FD0AD6AB-01B9-4F24-AC44-EF32573BD651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9765D208-38B4-45EC-AABE-632DCACAE5AF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讲法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75A49534-5A78-4E13-8360-ED53EF5AED46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很适合做『有效但不能乱用』内容。卖点不是更猛，而是剂量、时间、个体差异与睡眠取舍。</a:t>
            </a:r>
          </a:p>
        </ns0:txBody>
      </ns0:sp>
    </ns0:spTree>
    <ns0:extLst>
      <ns0:ext uri="{BB962C8B-B14F-4D97-AF65-F5344CB8AC3E}">
        <ns3:creationId val="589625351"/>
      </ns0:ext>
    </ns0:extLst>
  </ns0:cSld>
</ns0:sld>
</file>

<file path=ppt/slides/slide8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45EA3292-31E0-4110-8915-E0E57E700485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B6D709C6-8354-4C45-AA6B-B2633947A593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2563A8"/>
          </a:solidFill>
        </ns0:spPr>
      </ns0:sp>
      <ns0:sp>
        <ns0:nvSpPr>
          <ns0:cNvPr id="3" name="">
            <a:extLst>
              <a:ext uri="{FF2B5EF4-FFF2-40B4-BE49-F238E27FC236}">
                <ns2:creationId id="{42D80C60-0D9B-445D-A348-11A7CA2882B7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A-B 级｜运动经济性与血管-代谢效率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AA8FC4BB-13CA-4945-BC0A-73D2ED86EF2A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硝酸盐 / 甜菜根汁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EEDF1FF2-9CA7-42ED-BFFB-7D8480277493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3D654C8D-60AA-4E3F-9CA9-7809CB093BDC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文献来源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3002B673-0E6E-4FD1-BCB3-4B0D85A5F323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Jones dietary nitrate supplementation review, Sports Med, 2014. PMID: 24791915 / PMCID: PMC4008816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Ponce-Davila et al. beetroot juice oxidative stress meta-analysis, 2026. PMID: 41642915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Group A supplement framework: nitrate / beetroot juice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3743C53D-6CD0-461D-97B7-C5736BDB63ED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2563A8"/>
          </a:solidFill>
        </ns0:spPr>
      </ns0:sp>
      <ns0:sp>
        <ns0:nvSpPr>
          <ns0:cNvPr id="9" name="">
            <a:extLst>
              <a:ext uri="{FF2B5EF4-FFF2-40B4-BE49-F238E27FC236}">
                <ns2:creationId id="{33195B7C-B5EE-4A81-89FC-60181250D38B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A/B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EDDC89B3-9A9F-48B1-98DA-38FAA6D08A21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证据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DB7337A0-72E3-4AC3-8BC0-85E69658E1CA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核心用途：nitrate-nitrite-NO pathway，降低亚最大运动耗氧成本，可能改善耐力、高强度耐受与血压/redox 指标。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F9073966-E4D2-49B5-BF40-C81CF16F9BE5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B865FB2C-95D0-4F39-B995-B1A1E03B9CD0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336D2D1A-5CD1-4F84-A12B-787C9B86F2B2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nitrate 转为 nitrite / nitric oxide，影响血管舒张、氧气利用与运动经济性。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88661044-FA23-4EF9-A404-8AEC5F474449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E50E6264-D6A8-46E5-B761-CC2DFC3C4EC5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FEB9EDA9-AEC8-4446-A16B-CF67CBCD1961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适用人群 / 情境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F8A95CB0-E672-42CD-9DC9-4E5217A05ED5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不适用 / 慎用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3B48DAE8-4D98-4388-8D78-96A4C48CD994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F5C36FD1-9CBA-4DB5-B2CA-837CE74E5C9F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耐力跑、单车、划船等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9916FA50-9865-4D58-87EC-6C4712DDA12C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27FB52A5-0BC2-47FE-8B0E-5D808B3EA4A1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中高强度持续或间歇项目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F56589C7-4FF9-45F9-ACF8-35A7D7BE2601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57C32FD5-492C-492C-8DD1-8E263C9E2A66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非菁英或反应较明显者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CD2DA53A-E46E-4575-BDEF-7C97E7428352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081CBF10-E569-4314-9F37-2E2AD91030EA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希望以食物优先补充者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D6B63671-604F-4A51-9F3C-AD4DD31C7735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A7E84B32-18AF-40B7-9B90-B15C31B4B33A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低血压或相关用药者慎用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E4DDB783-D927-49FE-837E-CED357BC39F2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D1B1D924-5565-4637-A714-8A69C1B22388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使用抗菌漱口水者可能削弱效果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30FA2299-C2D1-4EC5-815C-C5F240EF09EF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B617BE06-3962-4AA6-9657-A3D5C2D691FC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肠胃敏感者需测试耐受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9B9684F7-CA90-426A-ABE0-9B055F6EEC0C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B573CDF5-3754-4CBD-92AC-2EC40F10DAF8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期待所有 time trial 都显著进步者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5A17341E-86B4-4AC5-8475-7D84E4388B92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1D43E5A7-9489-47AF-8514-1F79A351AE71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讲法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61B170B6-0FAB-4799-ABFB-BC1076FCA830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甜菜根汁不是『泵感神水』。主线应讲 NO pathway、运动经济性、剂量标准化与个体反应。</a:t>
            </a:r>
          </a:p>
        </ns0:txBody>
      </ns0:sp>
    </ns0:spTree>
    <ns0:extLst>
      <ns0:ext uri="{BB962C8B-B14F-4D97-AF65-F5344CB8AC3E}">
        <ns3:creationId val="1533576823"/>
      </ns0:ext>
    </ns0:extLst>
  </ns0:cSld>
</ns0:sld>
</file>

<file path=ppt/slides/slide9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AE600C82-496E-4DC1-AE87-7B750420F266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E21ED54B-04FD-4663-A138-1B583F45009B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B7791F"/>
          </a:solidFill>
        </ns0:spPr>
      </ns0:sp>
      <ns0:sp>
        <ns0:nvSpPr>
          <ns0:cNvPr id="3" name="">
            <a:extLst>
              <a:ext uri="{FF2B5EF4-FFF2-40B4-BE49-F238E27FC236}">
                <ns2:creationId id="{2A621D5F-4BF1-498A-A118-433862C09E2C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A-B 级｜高强度酸碱缓冲，不是一般增肌必需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449047EE-7FB8-478B-A43E-05E281B8522D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β-丙胺酸 Beta-alanine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1227A562-0361-424A-AEC7-197122FFEFA5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E6FCBF74-E2B8-4DA0-AC8F-5E45EE8ECA2A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文献来源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61D9285F-BB2A-47F2-9592-84489BA095D6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ISSN beta-alanine position stand, JISSN, 2015. DOI: 10.1186/s12970-015-0090-y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statement, BJSM, 2018. PMCID: PMC5867441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Group A supplement framework: beta-alanine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CFA358B9-B9A7-4650-B277-C54A59D59D8F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B7791F"/>
          </a:solidFill>
        </ns0:spPr>
      </ns0:sp>
      <ns0:sp>
        <ns0:nvSpPr>
          <ns0:cNvPr id="9" name="">
            <a:extLst>
              <a:ext uri="{FF2B5EF4-FFF2-40B4-BE49-F238E27FC236}">
                <ns2:creationId id="{46348822-69DC-493C-999E-753B5B6D227F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A/B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109FD251-3303-4028-8CC9-AE20515CF8E6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证据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F668389B-DE94-4AD6-89B1-DB232DCE98C4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核心用途：提高肌肉 carnosine，增强肌内 H+ 缓冲能力。较适合 1-4 分钟高强度、反复冲刺、格斗、游泳/划船短中距离。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4465CA2E-C75C-41A3-A871-228B526A4551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4492208E-4FB6-4459-80A5-C00540A7BDC6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840B9901-DE51-4E3C-942F-58A53D9D876F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β-丙胺酸是 carnosine 合成的限制性前驱物；carnosine 可在肌肉内缓冲 H+。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DC914619-B397-477F-B18E-0ADCD481C65C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14A97F2D-E38F-4BD0-8DEA-0815F45CFBA2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DBC68EFC-AA30-4D8C-9A1B-18CDA3F12288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适用人群 / 情境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B1AA224A-1645-4FCB-992D-2BD6007C0D65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不适用 / 慎用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51C6CB6C-6550-47B2-B187-12A4FDF831D7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A7F530EF-2F0D-48A6-B4D7-1745DE8A09E1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HIIT、格斗、球类反复冲刺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948FA831-E4EF-4A22-A2E7-DFA4511A59B4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65C149F1-C094-4C03-9758-AACD8C8F305F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1-4 分钟高强度输出项目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E145C3DB-BEA3-4D09-9601-EF32FF1F0A87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ABEABFCE-440E-47BA-B208-219C3689BBF3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能接受皮肤刺痒/麻感者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83C3DE83-1471-4BD4-B841-242EFC7CE12B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A0895A68-10FF-454D-AB45-BBE7450D1A30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愿意连续补充数周而非只赛前吃者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7AE0A620-CBBF-4BD6-A015-8C1B0D192660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249CD71C-7EF8-4CC7-853A-6357249FCAAB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纯最大肌力或低强度长耐力不优先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DF3DDD92-E2B2-4128-8007-59C1F1BB5BE3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F9DF0B34-5B0E-4E35-8020-954201AACA44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对 paresthesia 刺痒感很敏感者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7DA7EC6F-50F3-4541-8D87-7EC12483DC11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B1C91AEC-0D65-4622-9D6E-AF92C7E2AECF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期待立即增肌者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502DABFB-B8CF-434A-AFA2-166EC46A7A72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8F8F6A73-8FDE-4EA5-AC87-40AED9DE56C1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把它误认为碳酸氢钠者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9B3E9246-6ABE-40AE-A2B3-F1E2C67E9878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F0881AAD-9068-4128-9D7E-13185908EC7B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讲法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2AD940DF-6CB6-408D-9E0D-37A8047F710A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β-丙胺酸不是碳酸氢钠。它是提高肌内 carnosine 的补剂，效果偏长期累积，重点是运动项目与补充周期。</a:t>
            </a:r>
          </a:p>
        </ns0:txBody>
      </ns0:sp>
    </ns0:spTree>
    <ns0:extLst>
      <ns0:ext uri="{BB962C8B-B14F-4D97-AF65-F5344CB8AC3E}">
        <ns3:creationId val="930722461"/>
      </ns0:ext>
    </ns0:extLst>
  </ns0:cSld>
</ns0:sld>
</file>

<file path=ppt/slides/slide10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5823F1D8-E855-4895-ADAD-2E7883C10A1F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1C7CAEF2-F455-47EF-9E0A-15CDC059DB7B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B7791F"/>
          </a:solidFill>
        </ns0:spPr>
      </ns0:sp>
      <ns0:sp>
        <ns0:nvSpPr>
          <ns0:cNvPr id="3" name="">
            <a:extLst>
              <a:ext uri="{FF2B5EF4-FFF2-40B4-BE49-F238E27FC236}">
                <ns2:creationId id="{214A9BCA-97E8-4A49-82EF-26ED656230AE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A-B 级｜细胞外缓冲，效果与肠胃耐受绑在一起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F62DBA18-26EA-452B-977E-89F98D44110D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碳酸氢钠 Sodium Bicarbonate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C1584FF4-E004-45BD-9A35-1BD7BF4C0463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D1E15E73-2341-4AF1-9344-2C06120F37C2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文献来源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9DCBE9AC-BB32-44C3-A4CB-F32B01476F68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ISSN sodium bicarbonate position stand, JISSN, 2021. DOI: 10.1186/s12970-021-00458-w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statement, BJSM, 2018. PMCID: PMC5867441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Group A supplement framework: sodium bicarbonate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4D977A1D-CCDD-4B36-99AB-3AB803BC1395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B7791F"/>
          </a:solidFill>
        </ns0:spPr>
      </ns0:sp>
      <ns0:sp>
        <ns0:nvSpPr>
          <ns0:cNvPr id="9" name="">
            <a:extLst>
              <a:ext uri="{FF2B5EF4-FFF2-40B4-BE49-F238E27FC236}">
                <ns2:creationId id="{B2EABB12-22C8-452C-96D7-AE1F91FE631F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A/B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638C3487-C8B7-4F37-B930-E8A1D6096165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证据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B8C15F42-EEA2-49E7-9D0A-F4E1E440684A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核心用途：提高血液 bicarbonate，增强细胞外 H+ 缓冲能力。较适合反复高强度、格斗、游泳/划船短中距离等项目。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E72B976B-F122-4E71-8611-BC85AA742D40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E9F6DC6B-0073-4952-A8BD-4310E3F4070C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FBB5BA8A-59D0-43FA-8897-61EF173D003D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提高细胞外 bicarbonate 与 pH 缓冲容量，促进 H+ 外排，延后酸中毒相关疲劳。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85436F0D-7A07-4CF5-A634-846CEFC7DAA7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F3B0594A-1EA8-4454-A3AE-B1D43822AEDB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A42CB1C9-9281-4158-8691-D19AA267925E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适用人群 / 情境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DD0C7D08-46C9-4F38-9F60-C0AD34225683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不适用 / 慎用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8C95E2C0-070F-47F8-9974-47857D2C3890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7CD51E17-9084-4AA9-9BC7-EBFD4866B233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1-7 分钟高强度或反复冲刺项目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9E7F0129-C5C1-4D4C-89D2-0F42E3C74888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1D6EECB2-A749-46A0-B033-14DBF30F6D57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格斗、游泳、划船、场上球类运动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3B00FD69-1B5E-48A0-9FCB-5A90072AFA2D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A7ADF15F-4B76-499D-A080-252AB391BF4F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已在训练日测试肠胃耐受者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867A3FC5-7AEE-4EA1-937B-C3BAB91638A1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88979031-21ED-4C7E-867D-1C263A01E791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能安排赛前剂量与分次摄取者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DA362599-A9A2-45E6-9886-064E9B467314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FA16F8A6-2BC4-4278-A9BD-F20207F329A8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肠胃敏感或赛前容易腹泻者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A652DAE8-BA96-43C6-8488-841CF566CD04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4ABDCD68-DA31-4C27-A256-5A679E87AC6E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限钠、高血压、肾脏疾病者慎用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3A407A34-99C7-42E4-8051-1CCEE630F9B9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23240E93-935F-4AF2-A6CE-EC055C0B4DDE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未测试就比赛日第一次使用者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A24CAFEF-F787-47EC-8DAA-AF30EBBAE4F3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E50A0080-9647-4104-9333-20B0B9468112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期待它像肌酸一样长期增肌者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9B9D3BE9-8AA8-4B5D-8811-EAFB52F6A448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9C62F4A6-41E6-482F-B32B-440A236F5ADA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讲法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FABD6E07-34CF-4375-B074-9D9C865302D8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碳酸氢钠和 β-丙胺酸同属酸碱缓冲策略，但位置不同：一个偏细胞外缓冲，一个偏肌内 carnosine。</a:t>
            </a:r>
          </a:p>
        </ns0:txBody>
      </ns0:sp>
    </ns0:spTree>
    <ns0:extLst>
      <ns0:ext uri="{BB962C8B-B14F-4D97-AF65-F5344CB8AC3E}">
        <ns3:creationId val="1546422367"/>
      </ns0:ext>
    </ns0:extLst>
  </ns0:cSld>
</ns0:sld>
</file>

<file path=ppt/slides/slide11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778FBD05-646B-46C5-B737-27B4B7123BA4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37ED67B9-19F9-4C7E-A212-BE661BD6B3C0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2563A8"/>
          </a:solidFill>
        </ns0:spPr>
      </ns0:sp>
      <ns0:sp>
        <ns0:nvSpPr>
          <ns0:cNvPr id="3" name="">
            <a:extLst>
              <a:ext uri="{FF2B5EF4-FFF2-40B4-BE49-F238E27FC236}">
                <ns2:creationId id="{ABDFB166-A3B8-4BB8-8E6F-E516FB2BC8BA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B 级｜状态管理、恢复与长期健康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FD7040E2-CA8E-47D8-85BD-7D0E53C3D5F6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Omega-3 EPA/DHA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019410F8-587C-4BED-9E3C-623256B65E91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F014C4BF-8382-456C-83DD-4F875BAA834A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文献来源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FAA50F19-31A5-4086-9359-4832584CED30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Jager et al. ISSN omega-3 position stand, 2025. PMCID: PMC11737053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Heileson et al. omega-3 index in athletes, 2025. Journal of Exercise and Nutrition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Fernandez-Lazaro et al. omega-3 recovery systematic review, 2024. PMCID: PMC11243702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47DCA782-BE85-4BC9-B9B2-B87907B932FF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2563A8"/>
          </a:solidFill>
        </ns0:spPr>
      </ns0:sp>
      <ns0:sp>
        <ns0:nvSpPr>
          <ns0:cNvPr id="9" name="">
            <a:extLst>
              <a:ext uri="{FF2B5EF4-FFF2-40B4-BE49-F238E27FC236}">
                <ns2:creationId id="{268B17C8-8468-4D55-A18D-91C654E67A5F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E1CD6EE6-1605-4460-9495-1254DDD322B7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证据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D6228B8C-E09D-4FEB-904D-E6D457148D66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核心用途：EPA/DHA 状态、心血管健康、发炎与恢复、肌肉功能、睡眠/免疫讯号。更像长期状态补剂，不是急性增能。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04A7ABB4-4C8B-4CF5-8E9F-A26304747AB0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DD0F0ADC-0EE3-423F-A0D5-C010E27B79D3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11C38043-B8B9-4595-BA6E-B6FF88738F13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EPA/DHA 进入细胞膜并调节发炎介质、血管功能与神经肌肉/恢复相关讯号。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488E0802-F95D-412E-B86D-A812764082FA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E048CBBB-E9F2-43AA-BCDA-5016AE6E8A7F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E3E8B9FA-A4C7-4C7D-823B-1318FA8B5A12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适用人群 / 情境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082A7B5A-4FB1-433F-82B2-1A98520BB462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不适用 / 慎用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CB92BC2E-85FC-40C5-AD0A-0E32AC78DB36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053BBBE1-34AC-4159-910D-B7BA00731AF7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鱼类摄取少或 O3i 偏低者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55C381CE-3499-4167-ADDD-F33E40462275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F1467E0E-A421-426C-A68E-1A8501588F5E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高训练量/恢复压力高者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C8611778-AC3B-4FE6-BD22-7769482444E7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99334F58-1786-490D-95DF-716200AD9165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耐力或接触运动员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EFD75CF3-C2E2-46CC-A695-A5ACBF64E72D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960984BC-5ABF-40A2-A629-05FE0A837F45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重视心血管与长期健康者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5599BB70-5BD5-4547-A21F-3E810A348361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B4573832-D739-49BA-80FF-7125935D482D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鱼类/海鲜过敏者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CCC4C994-1668-4241-A222-95646987238E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9831547B-3838-46FD-A32A-0C88C4AAB18F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抗凝血药、手术前后需医疗评估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9528DADB-2EDA-46D4-98B7-A9B1CB38C422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A909E92E-3054-4110-AB98-A5F7C1D7A9F2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高剂量且有心房颤动风险者慎用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048FFC9F-B56C-4D17-B4EA-545F6337D3FB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BBDFF4D7-0840-4FA0-B684-AF6C0B5D804C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期待立即提升力量者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6BF6F9D3-EDF6-4D7D-9312-800EEA9BA86A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2AED7853-3C78-437C-991E-F1159694D75B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讲法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DDDC3493-EE1E-403E-8023-0221983932C9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适合做成『状态检测＋场景化剂量』内容。不要把 omega-3 包装成所有运动表现的万用补剂。</a:t>
            </a:r>
          </a:p>
        </ns0:txBody>
      </ns0:sp>
    </ns0:spTree>
    <ns0:extLst>
      <ns0:ext uri="{BB962C8B-B14F-4D97-AF65-F5344CB8AC3E}">
        <ns3:creationId val="300414197"/>
      </ns0:ext>
    </ns0:extLst>
  </ns0:cSld>
</ns0:sld>
</file>

<file path=ppt/slides/slide12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F89813FF-5A59-4189-B9E5-4A6C157483ED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022920E1-435E-41E3-9DDC-F88ED66B2D84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B7791F"/>
          </a:solidFill>
        </ns0:spPr>
      </ns0:sp>
      <ns0:sp>
        <ns0:nvSpPr>
          <ns0:cNvPr id="3" name="">
            <a:extLst>
              <a:ext uri="{FF2B5EF4-FFF2-40B4-BE49-F238E27FC236}">
                <ns2:creationId id="{57488686-572D-448F-AABA-785686E47DAF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B-C 级｜缺乏时重要，足量时不该硬补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7EAF983B-375D-4D70-93BC-67B91E776E19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锌片 Zinc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7C100C6F-C4FA-480B-89B6-0635B5723F26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A477A2CD-6C10-4499-AC23-E2AB955B8A88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文献来源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4F3FE962-4EAD-4F93-BDBB-06F358CDA0D6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NIH ODS Zinc Fact Sheet for Health Professionals: adult UL 40 mg/day and medication interactions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statement, BJSM, 2018. PMCID: PMC5867441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Supplement Framework / Group A: zinc used for specific deficiency-support scenarios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20C2C3A4-CF47-428F-9100-8CCAA4FB6D1A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B7791F"/>
          </a:solidFill>
        </ns0:spPr>
      </ns0:sp>
      <ns0:sp>
        <ns0:nvSpPr>
          <ns0:cNvPr id="9" name="">
            <a:extLst>
              <a:ext uri="{FF2B5EF4-FFF2-40B4-BE49-F238E27FC236}">
                <ns2:creationId id="{392DF95F-3FC0-4A48-A637-49914FA1EBA5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B/C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86ED6A59-57BB-4EE9-A9DE-1C1AE81CA5B1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证据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2453B161-3E39-4E94-90E0-911C62F87C9C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核心用途：免疫功能、蛋白质合成、伤口愈合、睪固酮/生殖健康与多种酵素反应。对缺乏者重要，对足量者未必提升表现。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34E10D7E-6599-4D25-B8EC-20A3806E66F2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A8FEFBCD-44A2-4B1E-A7AD-C59686EF75E1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B7F2E652-6284-4678-B9BA-C349F674F04E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作为多种酵素与转录因子辅因子，参与免疫、细胞分裂、蛋白合成与抗氧化防御。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D0A847A9-CE9A-4082-84D8-9D5B97E198B6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0D43E305-AE52-4700-8626-797D156414B9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D01FC8E6-5F31-4AC9-87A2-04A60BBA2E34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适用人群 / 情境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820CAE44-1C18-4787-A521-B99DA4B7D0DE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不适用 / 慎用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70D253BC-823F-49AA-91BE-6BBEC69E23BA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A57040A9-42CC-4118-92C3-721CE3622851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饮食锌摄取不足或确认缺乏者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A2B9E0ED-E1C6-41AA-A4FA-FA782A322C39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AE404FE5-5476-42D0-A1E6-349C3381ECB0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素食/低肉类、热量赤字或限制饮食者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3C72DBBF-6F66-496E-96EB-8DC20903AD00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EB9D73B9-819F-4A73-ABC4-F09DE6F2D507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高流汗量、消化吸收差或免疫压力高者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E806242B-5ED8-48E0-9A9C-38C1B869C604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FD41D813-8E98-441A-8930-0F5B347D576D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需要短期补足营养缺口者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76CCF190-D890-4F33-816F-805DA924A4E4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11D6F54F-1043-44EC-BA58-BF55C4B5054D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锌摄取充足者不需长期高剂量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FEAB828B-6487-4FFA-973C-27E449790E5F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D6C4B265-22F8-49D9-8E4A-8BA147C0B9FA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长期高剂量可能造成铜缺乏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C9D01219-3F0B-42E6-AFF9-275CF31EFB42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557D245E-C2F6-4572-B1CD-C0D998D1C69E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抗生素/penicillamine 需错开或询问专业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F7F7804A-BA34-4392-9485-80087F5C7F47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100A6037-AF0D-41DF-A264-043BCD189D07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把锌当作直接增肌神器者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A9C61263-1022-4A0B-AB4D-0F9511BAECFC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F319D3FB-9153-41AE-A408-E554CF7C3AE1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讲法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F10727BC-1033-4D68-AC8F-8F0EA782583F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适合做『缺乏补足』内容。成人 UL 常用 40 mg/day 作安全提醒；长期补充要看总摄取量与铜。</a:t>
            </a:r>
          </a:p>
        </ns0:txBody>
      </ns0:sp>
    </ns0:spTree>
    <ns0:extLst>
      <ns0:ext uri="{BB962C8B-B14F-4D97-AF65-F5344CB8AC3E}">
        <ns3:creationId val="994289900"/>
      </ns0:ext>
    </ns0:extLst>
  </ns0:cSld>
</ns0:sld>
</file>

<file path=ppt/slides/slide13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F427B9B4-C7A1-4989-BD8D-F4903EA2F8EE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10B7E0DB-D69B-4555-BC01-A31E2728F8E6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B7791F"/>
          </a:solidFill>
        </ns0:spPr>
      </ns0:sp>
      <ns0:sp>
        <ns0:nvSpPr>
          <ns0:cNvPr id="3" name="">
            <a:extLst>
              <a:ext uri="{FF2B5EF4-FFF2-40B4-BE49-F238E27FC236}">
                <ns2:creationId id="{C87144BC-52AA-4035-BAEB-796651892B40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B-C 级｜保险型补缺口，不是表现补剂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2427AB54-AFC2-4F32-88A9-7306F37BBC92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复合维生素 / 矿物质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868AB953-8AC5-4061-89B7-BE46331C8297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501DBB94-2DF9-4D13-8020-53D2DEDAA8C4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文献来源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BDCC2723-588D-4020-B53E-80D0191F1301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NIH ODS Multivitamin/mineral Fact Sheet for Health Professionals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statement, BJSM, 2018. PMCID: PMC5867441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Supplement Framework: multivitamin/mineral support should be scenario-based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BC4F2F7C-C9AF-4453-9726-EBCC5F219949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B7791F"/>
          </a:solidFill>
        </ns0:spPr>
      </ns0:sp>
      <ns0:sp>
        <ns0:nvSpPr>
          <ns0:cNvPr id="9" name="">
            <a:extLst>
              <a:ext uri="{FF2B5EF4-FFF2-40B4-BE49-F238E27FC236}">
                <ns2:creationId id="{029BF090-AE7E-4FF2-952A-529C128AC914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B/C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B834B8C7-EDD9-4F78-8FAE-6DA19519D2A7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证据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02DEAD2E-C178-4813-B164-AE9F757266AE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核心用途：补足饮食缺口，特别是热量赤字、限制饮食、旅行/赛季、食欲差或蔬果/全谷/动物性食物不足时。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36265982-551C-46AD-B8AA-F4CDBA73AA52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B5EC675D-BC37-4CD7-B00C-66992C11F06D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FE279774-A433-4C04-8493-14103628483D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提供多种维生素与矿物质，作为能量代谢、造血、免疫、骨骼与抗氧化系统的辅因子。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41524B87-6D70-45D2-BF1A-38596B35C61E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5A9CEDF0-4FE5-4174-9585-28A50E93A285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936EC0E7-1E9D-4C3C-86DD-29E32144202C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适用人群 / 情境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A9227210-A92F-4C0E-9A85-7D1E20AF4830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不适用 / 慎用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2775D30D-5547-498C-9C6C-02FE6C54451B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10EAB755-8F9B-410E-BF49-EC0B06AB52C5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饮食不规律、热量赤字或备赛减重者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FAC24F27-AA35-4782-875E-FC953D5D2323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551E9C3B-C377-4482-8E3E-D46ACDFE79BE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素食、低蔬果、低乳制品或食物多样性不足者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59BCEB0D-7E7B-4298-B5C8-52D042A40DB4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422C9580-BB3A-4809-95E4-BAF5B866BD95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旅行、赛季、食欲低、难以稳定饮食者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B58EC9B4-E60D-47CE-8254-0DE0151E202C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C791FEBB-3196-41C5-B66A-6DF00DD541AE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已知缺乏但尚未能用饮食完全修正者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23F88286-4A96-4E66-BD28-D499C7D7B2F5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23C02FC6-9B85-45B7-9D7D-A4B711D52353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饮食均衡且无缺乏者期待提升表现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1574B0EE-48C3-4974-8138-73ADBE156CB6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F4E8E409-6AAD-48B8-A1EE-5C349041F9BA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同时叠加多款高剂量产品造成过量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52D3B667-0302-4B8E-9315-B2E7C57246A6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A9410C74-EB40-4DE7-ADE4-D7381E827879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含铁配方不适合所有男性或非缺铁者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4E1CB7E6-6EA5-4778-8087-FF23B8B4708C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2B79BA89-8C47-4B25-BECD-F545A7796BC2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用它取代蔬果、蛋白质与总热量管理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841BAB8E-E346-4108-89C6-7A525517F4A8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4EE56C88-3F0E-46E8-BB70-7288EF38B2EC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讲法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3FF3D18F-F737-432C-933E-5974D863083C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适合卖成『保险型基础补充』，不要讲成增肌或燃脂。重点是缺什么补什么，并避免重复摄取。</a:t>
            </a:r>
          </a:p>
        </ns0:txBody>
      </ns0:sp>
    </ns0:spTree>
    <ns0:extLst>
      <ns0:ext uri="{BB962C8B-B14F-4D97-AF65-F5344CB8AC3E}">
        <ns3:creationId val="28247126"/>
      </ns0:ext>
    </ns0:extLst>
  </ns0:cSld>
</ns0:sld>
</file>

<file path=ppt/slides/slide14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9575CBCD-BEBA-4B4B-99D1-71DF11DB6C84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A085EC6E-F25A-4537-BC54-34BAA40B584E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B7791F"/>
          </a:solidFill>
        </ns0:spPr>
      </ns0:sp>
      <ns0:sp>
        <ns0:nvSpPr>
          <ns0:cNvPr id="3" name="">
            <a:extLst>
              <a:ext uri="{FF2B5EF4-FFF2-40B4-BE49-F238E27FC236}">
                <ns2:creationId id="{A1D276DB-9672-4337-A19D-04415471C02B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B 级｜先检测缺乏，再谈表现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CA0B3D30-3A46-41C1-84C3-E52F53FB40C2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维生素 D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008BBB11-1D2E-475F-9D9B-DC1426BAE2ED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95E5A002-CDD2-46F8-845D-607710174DB4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文献来源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47C5BDD2-395B-4DF4-AC7F-9C2F79A657F8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Effects of Vitamin D Supplementation in Elite Athletes systematic review, 2024. PMID: 38188620 / PMCID: PMC10768611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Vitamin D strength and power meta-analysis in athletes, 2023. PMID: 37841405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IOC consensus statement, BJSM, 2018. PMCID: PMC5867441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5C02A30A-11D2-4E26-AF86-98E8C00E7D5A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B7791F"/>
          </a:solidFill>
        </ns0:spPr>
      </ns0:sp>
      <ns0:sp>
        <ns0:nvSpPr>
          <ns0:cNvPr id="9" name="">
            <a:extLst>
              <a:ext uri="{FF2B5EF4-FFF2-40B4-BE49-F238E27FC236}">
                <ns2:creationId id="{ACCF867C-2124-4056-A50F-180A9B63A513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FE5424E9-F1A8-4FC2-AF6A-77308DCB63C5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证据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6E4B1501-5444-4A51-8547-8D402D6DA238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核心用途：骨骼健康、免疫、肌肉功能与低日照/室内训练族群的缺乏修正。缺乏者优先，足量者不应期待神效。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72100E87-8692-4628-A18C-42AEF289A96C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47FCEF28-7A5F-441A-967C-7696EB2D7C5E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38EBEA9C-EC51-4B9A-9CB4-C74D0298C370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透过 25(OH)D 状态影响钙磷代谢、骨骼重塑、免疫调节与肌肉功能相关讯号。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6C2499AC-73DA-4481-9870-BA1A85B346BB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8E875870-C2DF-41FE-8560-A2C80445317A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AC5F35D9-C31A-435E-87EA-93E13DE3F217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适用人群 / 情境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C1459F7D-B797-4489-8D94-B39BDB4509F2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不适用 / 慎用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40031861-BBDA-4A65-BEFA-F76C7AE56B6C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AA34872A-A32E-403A-8E3E-75DC197D19C4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室内训练、低日照或冬季训练者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A0746ED1-52B4-4989-817F-F18FECD451B8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3E15F9C4-0B36-43DD-B43A-CC14B90564EE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抽血显示 25(OH)D 不足/缺乏者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44277332-54EA-4451-8E1B-E89D4BC5393E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78DEADB0-1FFE-463B-B16D-09ED7803E1DE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骨密度、压力性骨折风险较高者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AFCF0D5B-9FD1-4E5D-9F9E-D3DB2657DBBD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A281536A-2F6E-420C-BAA3-D7AE33274390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肤色较深、遮阳多或饮食摄取低者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AA7883C3-6635-44DC-A8E6-A583EFEC2AF8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FA5DDD56-B297-487C-9935-B9E634CE690C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未检测就长期高剂量者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FBD2DEB5-419B-473A-9CFC-BE9C8C2F5518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9A6A695B-11E4-4BCF-B018-201194E225EF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高血钙、肾结石或肾脏疾病者需医疗评估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8CA6940B-05DA-4517-BF43-691D1A6FB958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5E3BF2E8-6FF6-4A24-8068-4E444BCB3D50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已足量者期待直接增肌/增力者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F2D411F2-C538-4C56-AD11-5327B1E92A04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DC637389-7388-4E3E-A090-B09360B89C7C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同时叠加多款含 D 产品者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B468B437-23A8-4F96-B14D-CF14EB7CA7E3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CE0EBCFB-617F-468C-AE20-15BED56C41B4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讲法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393E2D69-F3FE-4E57-90B9-EA174E269C49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适合做『检测导向』内容：先看 25(OH)D，再决定剂量与周期。不要把维生素 D 讲成万用表现补剂。</a:t>
            </a:r>
          </a:p>
        </ns0:txBody>
      </ns0:sp>
    </ns0:spTree>
    <ns0:extLst>
      <ns0:ext uri="{BB962C8B-B14F-4D97-AF65-F5344CB8AC3E}">
        <ns3:creationId val="2050653568"/>
      </ns0:ext>
    </ns0:extLst>
  </ns0:cSld>
</ns0:sld>
</file>

<file path=ppt/slides/slide15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26841CEF-C9CC-41BD-8119-099DD49DDBFF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C88EB6E9-C95C-49AE-BEFD-4E016F6A8940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2563A8"/>
          </a:solidFill>
        </ns0:spPr>
      </ns0:sp>
      <ns0:sp>
        <ns0:nvSpPr>
          <ns0:cNvPr id="3" name="">
            <a:extLst>
              <a:ext uri="{FF2B5EF4-FFF2-40B4-BE49-F238E27FC236}">
                <ns2:creationId id="{D5B0D756-3F69-4307-B9F9-3CCD7699A97C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B 级｜肠胃与免疫情境，比增肌更合理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EBD1A9B9-FFE6-4171-AE68-A5341DE7E6BF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益生菌 Probiotics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F6D9002D-6612-41B0-8C97-59C903573F79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E0D33BAF-4E74-4DD8-B520-ECCEF3BCAA31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文献来源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A680F2FA-6501-4622-BDE4-559258E7D508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ISSN position stand: Probiotics, JISSN, 2019. DOI: 10.1186/s12970-019-0329-0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statement, BJSM, 2018. PMCID: PMC5867441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Supplement Framework: probiotics used for targeted gut/immune support contexts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6B5FE67C-CEEB-41FA-B79E-4EA9D80DD842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2563A8"/>
          </a:solidFill>
        </ns0:spPr>
      </ns0:sp>
      <ns0:sp>
        <ns0:nvSpPr>
          <ns0:cNvPr id="9" name="">
            <a:extLst>
              <a:ext uri="{FF2B5EF4-FFF2-40B4-BE49-F238E27FC236}">
                <ns2:creationId id="{BF0B67D4-6420-446E-A78D-CE3637945F36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D29FCD13-A285-4C29-B7B9-B3B0D94F9984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证据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A7D9EB51-4645-42FE-BF63-A709040EECBA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核心用途：肠道症状、旅行/比赛期、上呼吸道感染风险与高训练压力下的健康支持。效果高度依赖菌株与剂量。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903302A7-BE38-40E5-A4EF-9BEF5F7A1E86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A2AC737D-A203-4B41-A8B3-0A4EED138638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EE612ED9-40C1-4368-B16A-7D0EF33434BA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透过肠道菌相、屏障功能、短链脂肪酸与免疫讯号，影响肠胃耐受与感染风险。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0D652212-9398-48C5-BA09-C6D2BC0842CB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CBDD5782-C715-4D65-845D-71A4F954EABC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4E773B7E-DF40-44B4-9842-6A07F92DD237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适用人群 / 情境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478C7103-1E37-4073-B766-96F9F49DBECD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不适用 / 慎用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6C1584E2-5F01-4B2E-BC7F-FBAAA1945571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52D53F68-FFD4-467E-ADA3-90BA245DBA71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肠胃敏感或运动中肠胃不适者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4CB09CF0-838B-4A0D-814E-E4F76AA9D92D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85622F71-C63C-48D2-AC68-3DB9046C7F6D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旅行、比赛密集或饮食环境变动者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F77B3FCE-C2A7-4602-A166-C9279C40A173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98B2040E-3332-48C0-AF14-64F4BDD8DB6E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高训练压力且常感冒者可评估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6D4056B9-2B76-43E9-8C98-68FC1BFC7803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4B1CBD25-92C2-4AC0-814C-20F87A62DD19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愿意记录菌株、剂量与反应者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87AC16BA-2BB4-451E-9EAF-511C12688623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8F032571-DFBA-4B86-8D58-2CA5C7F5E0AE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严重免疫低下或重症者自行使用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F39B1C3D-8329-4DA7-A7CF-A879BACF8B41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58C0CDA6-70B8-401C-8E3F-7521E3784B6B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期待直接增肌或燃脂者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A3292839-CA2C-4F5F-B58E-7C8406CB07FA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6997F04E-2558-4D06-80AE-81D88762D20B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不知道菌株只看 CFU 数字者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BB4F110E-1643-4A0C-B1CA-E9D838030A8A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528C699F-FA31-41DF-8EB9-7AD42A45CB77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吃几天没感觉就频繁换产品者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E8FE3731-2D97-4BA3-A363-548AB6FA9EA8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558C81D0-CB67-426B-8585-2EE43E41D1CC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讲法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1A6858D4-2256-4FE1-A953-883389CF2486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益生菌的关键不是『越多越好』，而是菌株、剂量、周期与目标症状。适合做成肠胃/免疫管理内容。</a:t>
            </a:r>
          </a:p>
        </ns0:txBody>
      </ns0:sp>
    </ns0:spTree>
    <ns0:extLst>
      <ns0:ext uri="{BB962C8B-B14F-4D97-AF65-F5344CB8AC3E}">
        <ns3:creationId val="2142259719"/>
      </ns0:ext>
    </ns0:extLst>
  </ns0:cSld>
</ns0:sld>
</file>

<file path=ppt/slides/slide16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7CA4FED0-15A5-4158-BF5B-CE7B4B0E0388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55F23F0C-00DD-4FA6-8142-BC34FB4ABF2B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B7791F"/>
          </a:solidFill>
        </ns0:spPr>
      </ns0:sp>
      <ns0:sp>
        <ns0:nvSpPr>
          <ns0:cNvPr id="3" name="">
            <a:extLst>
              <a:ext uri="{FF2B5EF4-FFF2-40B4-BE49-F238E27FC236}">
                <ns2:creationId id="{9E234582-62F8-4FD2-98B0-13602067270C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B-C 级｜恢复/酸痛可谈，但不是训练替代品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74B9EDF8-B0FC-4853-9B33-4AD36338CFF3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姜黄素 Curcumin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1ABE38C0-D7A7-4918-914B-C1A97D699E3B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2096B48C-3764-46AF-AF29-9C17E97F537E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文献来源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7A378D33-CDBC-4B6D-BB4A-3F2E600A9257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Curcumin, DOMS and inflammation dose-response meta-analysis, 2022. PMID: 35574627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Curcumin and exercise-induced muscle damage meta-analysis, 2023. PMID: 37408367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Curcumin intake and EIMD in athletes systematic review, 2024. PMID: 39623590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C7A94284-239C-43A0-93FA-D0CA68E3C963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B7791F"/>
          </a:solidFill>
        </ns0:spPr>
      </ns0:sp>
      <ns0:sp>
        <ns0:nvSpPr>
          <ns0:cNvPr id="9" name="">
            <a:extLst>
              <a:ext uri="{FF2B5EF4-FFF2-40B4-BE49-F238E27FC236}">
                <ns2:creationId id="{541083CD-ACBC-4721-9D93-DE22E59750CF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B/C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7358BFAF-E847-40B5-B1B3-18B00EB3D072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证据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DA6D1E6A-7ABD-4856-B6F1-90EE02860D5F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核心用途：DOMS、运动后发炎与肌肉损伤指标管理。较适合恢复压力高、比赛密集或酸痛明显者。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78D5338A-D296-4B07-8433-74FEE5969334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DE568E11-5887-4221-94DE-A2C45EEF2113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5B4E62B3-F2FE-4E45-BBAC-7AB1464C0756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透过 NF-kB、COX-2、氧化压力与发炎介质调节，可能降低运动后酸痛与部分损伤指标。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32A339B2-683D-4DAD-879A-F288A0688665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6C4BE007-6F3B-4867-835C-85C201BDB4CD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178D241F-9736-4D4D-97C0-F7E410FE357D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适用人群 / 情境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7345DE42-70D7-4B02-9DFC-B5180A8597CF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不适用 / 慎用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50E81074-72A1-411F-AA70-139722808829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44E8462D-B55C-4E8F-B17D-018F0DDC6DFA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高训练量或 DOMS 明显者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CD59D46E-480C-459D-AF30-23CF87AD5A1C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58395F8C-DC32-4913-9CF3-B841C044F76F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密集比赛期想降低恢复压力者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EDC4B004-7ECF-469F-A065-35E71F300CC5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DEC7ACDC-D8C6-4533-ABCD-6350D31F17CB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偏好植物多酚类恢复策略者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39F3027F-EEF9-47FC-BFD6-3755F59486BF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DDFCE2F1-D018-4009-9657-B9BB35E8FD89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可接受吸收率配方差异者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A752A76F-5D02-4E28-8BFB-33283C060DE8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A29D6E2A-769C-4D72-97F2-7B700DB4EC99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抗凝血药、手术前后或胆囊问题者慎用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FC33AEA2-5CF7-4A4B-BD21-C7069AD667D5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5003B8F7-7E91-4B7D-AB74-78E7B7216599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胃食道逆流或肠胃敏感者需测试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09229E13-47AE-46A7-A9CB-EA11366F77A5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64F67E2A-4A74-4C45-9FD2-29CACC841390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用它掩盖过度训练与睡眠不足者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7816F1F2-D8FE-44FF-A01D-90264F1ED9EF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41340251-E22B-4540-BBBA-C79555972DC8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期待直接增肌或大幅提升力量者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2E52B106-CC07-438B-B41F-827A1245AD34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5061065C-1D21-4116-BF2B-5A8F13188E29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讲法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72E4BF6F-6718-4431-8E68-15F4EA583EA5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可定位成恢复辅助。内容上要提醒：抗发炎不是永远越强越好，训练适应仍需要正常压力讯号。</a:t>
            </a:r>
          </a:p>
        </ns0:txBody>
      </ns0:sp>
    </ns0:spTree>
    <ns0:extLst>
      <ns0:ext uri="{BB962C8B-B14F-4D97-AF65-F5344CB8AC3E}">
        <ns3:creationId val="549539692"/>
      </ns0:ext>
    </ns0:extLst>
  </ns0:cSld>
</ns0:sld>
</file>

<file path=ppt/slides/slide17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5244E9B7-34EF-4612-A48F-1B3C15CAF9A4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0E3C1DED-78BF-4FD4-8FB2-87702DCF7342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B7791F"/>
          </a:solidFill>
        </ns0:spPr>
      </ns0:sp>
      <ns0:sp>
        <ns0:nvSpPr>
          <ns0:cNvPr id="3" name="">
            <a:extLst>
              <a:ext uri="{FF2B5EF4-FFF2-40B4-BE49-F238E27FC236}">
                <ns2:creationId id="{AC33B3A6-F107-4E0B-8CBB-044346180CD1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C-B 级｜粒线体/抗氧化概念强，表现证据不稳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A8E9E05E-E1E1-4DB0-9577-81558496448F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辅酶 Q10 CoQ10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D5D37A33-33B5-4BFA-9B8B-64C5DA4CF239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A564ADBD-C7B7-4595-BC4A-CD962396C36C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文献来源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489D3182-B52D-4A13-9A4E-5C2E18F7351A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Coenzyme Q10 supplementation in athletes systematic review, 2023. PMID: 37764774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CoQ10 EIMD/performance/oxidative stress GRADE meta-analysis, 2024. PMID: 38479900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CoQ10 exercise performance systematic review/meta-analysis, 2026. PMID: 41457257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225FB034-C05B-49AC-9E86-4AB0965CCE10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B7791F"/>
          </a:solidFill>
        </ns0:spPr>
      </ns0:sp>
      <ns0:sp>
        <ns0:nvSpPr>
          <ns0:cNvPr id="9" name="">
            <a:extLst>
              <a:ext uri="{FF2B5EF4-FFF2-40B4-BE49-F238E27FC236}">
                <ns2:creationId id="{E28BD942-5921-4EB5-9ED2-9C0CCA5AE3AA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C/B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67E03B0B-0F4B-40F5-8966-51240A61197B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证据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C0885ABF-0C1F-426A-9631-7D9C1FFA1666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核心用途：粒线体电子传递、抗氧化状态、疲劳与运动后氧化压力。对表现提升的结果目前较不一致。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6D2ADDE5-3DC3-43E8-B123-8BD59135DC3A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DFA377CE-EEA6-4829-8D8B-C064639A8908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21B9F306-6A91-41CC-A1E9-D2ABB1B42D16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作为粒线体电子传递链成分与脂溶性抗氧化物，参与 ATP 生成与膜脂质抗氧化保护。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428FF1B6-4807-4E78-829B-F82F210AC111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432496C2-CE78-43B0-9BEE-D1C8C142E9DD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E9821371-8F57-4106-A81C-33E37C3D00C2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适用人群 / 情境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B8EBF87F-6C39-4A09-AC2C-5F1C1EE45DA9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不适用 / 慎用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F9CC2D6C-8C73-4B0D-9F59-074BAF96D87A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335E5025-1EF1-4F7D-870D-A5CC5FACAA36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高氧化压力或恢复需求高者可评估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805FCC9B-FE26-4657-9461-054751EA714B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1A9B18F6-8DF4-4A6D-80DF-2055985E3316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年龄较高或饮食/健康状态需支持者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0B61AE88-968E-4257-ABFB-6E6BE1800496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F828E6CC-A53A-4F86-BF8A-59725E14FAC5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想做疲劳管理但能接受效果不稳者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7C628ADA-BEEF-4661-83DC-624CFB173411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F4F02B79-0711-46DB-8FB0-143A7A5B666B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可选择标准化剂量并追踪反应者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384D83E4-1D89-4A12-9079-C35E669C0DAA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4F09D3BA-0AF9-44F7-9AE0-DE4A24172D4D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期待明确急性增能者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F2EC44F0-4153-4264-9EFB-CAB9B2BB89D9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607EB877-027F-4461-9332-2D7436A987F5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已使用抗凝血药者需询问专业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1F0B6746-0DB7-4378-B25B-741103F84BDD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B54E364C-F837-41AC-8BAA-6793D141B2D2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把 CoQ10 当减脂或增肌主力者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A483A0AE-AA4D-4F28-8ACB-708EC394EBDB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DC7ECB0A-A98D-427D-AF96-2DC5EDA014E2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预算有限且基础补剂未到位者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4608C65B-AF6E-4CEA-871D-8C7272578664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D04C019F-311F-429D-BF86-D88A401A6289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讲法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B7C19EC6-90BA-44E2-B0C2-BDB38C234D89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适合放在进阶/健康状态内容，不建议当 A 级表现补剂卖。讲法要保守：可能改善指标，表现结果不稳。</a:t>
            </a:r>
          </a:p>
        </ns0:txBody>
      </ns0:sp>
    </ns0:spTree>
    <ns0:extLst>
      <ns0:ext uri="{BB962C8B-B14F-4D97-AF65-F5344CB8AC3E}">
        <ns3:creationId val="173483172"/>
      </ns0:ext>
    </ns0:extLst>
  </ns0:cSld>
</ns0:sld>
</file>

<file path=ppt/slides/slide18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EE7D615C-E2A5-417B-B3E9-81C584D592E1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1A632DDF-1221-44B8-BA29-D4A11DF07852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A94438"/>
          </a:solidFill>
        </ns0:spPr>
      </ns0:sp>
      <ns0:sp>
        <ns0:nvSpPr>
          <ns0:cNvPr id="3" name="">
            <a:extLst>
              <a:ext uri="{FF2B5EF4-FFF2-40B4-BE49-F238E27FC236}">
                <ns2:creationId id="{6D70E9B7-4D92-44F0-A041-EB223AA07303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B-C 级｜先看成分，不要只看泵感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7DFC2B9D-EE26-4893-B8C5-B826FAE437AD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氮泵 Pre-workout / Pump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AD9E7D04-FEDF-4264-8FB8-A5242796FBF7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54CE7593-C826-4511-9406-D2B08C735638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文献来源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14E4E5BD-D316-4180-BF8E-EDE53C4C2EE3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Multi-ingredient pre-workout supplements review, JISSN, 2018. DOI: 10.1186/s12970-018-0247-6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ISSN caffeine position stand, 2021. PMCID: PMC7777221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IOC consensus statement, BJSM, 2018. PMCID: PMC5867441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2D4E79D4-1917-45D3-8F88-0EC28A66334D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A94438"/>
          </a:solidFill>
        </ns0:spPr>
      </ns0:sp>
      <ns0:sp>
        <ns0:nvSpPr>
          <ns0:cNvPr id="9" name="">
            <a:extLst>
              <a:ext uri="{FF2B5EF4-FFF2-40B4-BE49-F238E27FC236}">
                <ns2:creationId id="{1C27B7BB-7142-4872-BA43-107F2B94588E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B/C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3F4BED15-303C-4632-839E-323EC897045F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证据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E08460A0-C407-43EE-A3DC-8C3CD2E4B359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核心用途：训练前主观能量、泵感、专注与局部血流。常见成分含 citrulline、arginine、nitrate、caffeine、beta-alanine。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72C2E956-3B79-4D73-94E7-B79E7A0CADD5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A2F55341-031E-46AE-A5AC-10D3FD7A5B58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534A35FD-1316-472A-96D1-739CAF7E7F7A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多以 NO pathway、刺激物与酸碱缓冲组合，影响血流、警觉、主观用力与训练容量。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86584876-42AE-4B77-A6A1-678C47A9D090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CC7D6BC6-7F95-45DC-AC4C-989E7882AFF8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6A5BF369-C524-4A26-B418-8C34A590BBB3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适用人群 / 情境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9EA7088F-76C3-4345-83FF-9DC220190167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不适用 / 慎用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C66E8A15-351F-4CAC-A3EA-19AF60A0C4E6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E0C2D482-1A35-47A2-BED1-E542CC9568BD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需要训练前专注与主观动力者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0F7A329B-BD08-42C5-BB03-0F2B796D9682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A464B557-AC6C-456A-B79E-8C6BA79B79EC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已能看懂成分剂量与刺激物含量者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473F2E27-6357-4E33-98EC-2962D8596F7C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296B76E3-84E5-44CC-B06D-751859CAE273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想短期提升泵感/训练体感者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A08A52EE-C0EE-46C8-B301-ADBD7422F949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D7F38744-48BB-420F-8F53-5307FA6EC667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已确认睡眠不被咖啡因影响者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2986AC01-0D4D-47D6-AC02-558F321573C2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EBA5A273-512E-4B1A-9B36-9977BBF01505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心悸、焦虑、高血压或刺激物敏感者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C7D95F96-A669-470F-846A-4B98B0B74F41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36B0DF0E-ABD9-41BC-9854-D53FEA75CE29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晚上训练且睡眠容易受影响者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3A64938E-D405-40BB-B0F7-90161939662C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B4366EF0-EAB6-4634-B9CE-211ABB0F15EB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成分不透明或 proprietary blend 产品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0B2F8BBB-2A1A-4CE2-A1F8-459DC2A7DC7F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9EF53BAD-D1DC-4F55-ACFE-0C3363D6D066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运动员未查第三方检测与禁药风险者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436772AB-4B32-4B38-AFE7-175DCC176D5C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00FD9C73-2E78-4DE0-90B4-CEBC4F9C398B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讲法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45773A5B-CA7C-4746-865B-0CC2BEAE7A78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氮泵是产品类型，不是单一补剂。最值得教的是成分拆解、剂量、咖啡因总量与睡眠/心血管风险。</a:t>
            </a:r>
          </a:p>
        </ns0:txBody>
      </ns0:sp>
    </ns0:spTree>
    <ns0:extLst>
      <ns0:ext uri="{BB962C8B-B14F-4D97-AF65-F5344CB8AC3E}">
        <ns3:creationId val="641940505"/>
      </ns0:ext>
    </ns0:extLst>
  </ns0:cSld>
</ns0:sld>
</file>

<file path=ppt/slides/slide19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C2436689-BB7B-4217-B291-200365246162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7DAD34F0-853A-4A73-8CFC-F80453C0D2B5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B7791F"/>
          </a:solidFill>
        </ns0:spPr>
      </ns0:sp>
      <ns0:sp>
        <ns0:nvSpPr>
          <ns0:cNvPr id="3" name="">
            <a:extLst>
              <a:ext uri="{FF2B5EF4-FFF2-40B4-BE49-F238E27FC236}">
                <ns2:creationId id="{22C7AAA2-CA39-4546-A442-40A210691180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B-C 级｜NO 相关，但常被 citrulline 抢走位置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2ECD668A-73F7-4933-9386-D63F15685CBF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精氨酸 L-Arginine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530A8AF3-CEE0-4C3A-952D-4ED96DFA4D7D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2899C85C-3C72-449B-A467-C38459D97CAA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文献来源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AC687F72-B82E-477B-9A77-8D6351A5210A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Arginine athletic performance systematic review/meta-analysis, Nutrients, 2020. PMID: 32370176 / PMCID: PMC7282262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statement, BJSM, 2018. PMCID: PMC5867441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Supplement Framework: compare NO-related ingredients by evidence and context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DCCB01D8-1B24-4C73-B66E-EAE0DC766F89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B7791F"/>
          </a:solidFill>
        </ns0:spPr>
      </ns0:sp>
      <ns0:sp>
        <ns0:nvSpPr>
          <ns0:cNvPr id="9" name="">
            <a:extLst>
              <a:ext uri="{FF2B5EF4-FFF2-40B4-BE49-F238E27FC236}">
                <ns2:creationId id="{BE51FBE7-0D6F-4CCC-93F9-F91BC423CE6A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B/C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E15951EE-A1F4-4980-8DDF-CFB4341BA44E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证据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22596C6F-39E9-4039-92D1-4518D73E438D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核心用途：NO 合成底物、血流/泵感与部分有氧或无氧表现。急性研究常用约 0.15 g/kg，运动前 60-90 分钟。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5C8CD64F-2342-445A-ABDF-7BD36E812F66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CB8759C7-326C-46B1-8157-B780169D4239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AD4CDDAE-5677-4E1D-B721-F70A5E07859F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作为 nitric oxide synthase 的底物，转化为 NO，影响血管舒张、血流与代谢环境。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354E6AA5-78CC-4498-B13B-274303EF77BA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A98B1642-3AAD-4071-A105-CF6BB25D46A5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DEAC49C1-B0B4-40CD-A5F5-CDDC456C0094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适用人群 / 情境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EB876068-14DF-497A-BF25-B75E1CDC6E2D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不适用 / 慎用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3ADEAD58-CCB9-4BF3-B724-E2B38AE3DC28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20CC1C11-6095-48F7-84B9-D7F736B5F76E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想测试 NO/泵感反应者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5C6E9221-BBA1-43C5-B051-ADD738D1A550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A4319FA6-3A35-42E2-9DD5-D6038F409352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不适合或不想用 citrulline 者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C145D2C0-AE41-4182-90BA-F23543082520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44999D58-F721-4E20-9BAF-DA7604BF4963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有氧或高强度训练情境可试用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87C7DACC-3257-4531-8A1A-273B6FB30CC7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AFF24319-E923-486D-A9DE-D0045F48AAA8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能接受肠胃耐受测试者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4A6F158F-FEAC-4322-9D7F-422EEAAA291E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9357D07E-A71C-4E28-B6CE-2AA52EA3DB4D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低血压或血管扩张/降压药使用者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928C83E9-DE5E-4147-AFEF-79EA03907969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638B268C-4B7B-4F67-8302-F315D0519316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疱疹易复发者需谨慎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414A43CB-38F7-4109-BFAE-6EED7762BB74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18695C42-1E0C-4865-BFA1-F3F527673847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肠胃敏感或高剂量不耐者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7CC3BBD8-2969-4061-8942-C82ED67787C1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A46E0911-F5B4-449E-A08A-0A2B40E2E968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期待它优于 citrulline 或 nitrate 的所有情境者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7BB5377B-1610-413A-B18E-F72A29A82344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3DF5C824-0894-40C0-82FA-3A73A5DD630B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讲法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8433E10C-233D-4141-BEC9-73F7FB58114B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精氨酸不是不能谈，但要放在 NO 补剂比较里。多数内容可用『citrulline / nitrate / arginine 差异』切入。</a:t>
            </a:r>
          </a:p>
        </ns0:txBody>
      </ns0:sp>
    </ns0:spTree>
    <ns0:extLst>
      <ns0:ext uri="{BB962C8B-B14F-4D97-AF65-F5344CB8AC3E}">
        <ns3:creationId val="936055607"/>
      </ns0:ext>
    </ns0:extLst>
  </ns0:cSld>
</ns0:sld>
</file>

<file path=ppt/slides/slide20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4556E038-AD9D-48EC-A2DE-15B676F2F889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A86BB598-F449-4427-9409-A60A99C15C67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B7791F"/>
          </a:solidFill>
        </ns0:spPr>
      </ns0:sp>
      <ns0:sp>
        <ns0:nvSpPr>
          <ns0:cNvPr id="3" name="">
            <a:extLst>
              <a:ext uri="{FF2B5EF4-FFF2-40B4-BE49-F238E27FC236}">
                <ns2:creationId id="{726AD548-B977-44E1-9A88-E5EBB5D31EF1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B-C 级｜可谈，但一定要加情境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F5E4214C-8966-46D7-B441-F7CC5708A016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Citrulline / HMB / 多酚类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AC188B97-1654-4699-9AD6-7C98BC03E2E5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15365ED7-631C-47B5-A762-23F190743278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文献来源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C7351B9E-ACC4-4722-B94E-B86651111AFB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Effects of citrulline on endurance performance systematic review/meta-analysis, 2023. PMCID: PMC10167868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ISSN HMB position stand, JISSN, 2013. PMID: 23374455 / DOI: 10.1186/1550-2783-10-6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Kuehl et al. tart cherry juice muscle pain RCT, JISSN, 2010. PMCID: PMC2874510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1F0DD46F-3FC0-46AA-A332-FB5A20F5D911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B7791F"/>
          </a:solidFill>
        </ns0:spPr>
      </ns0:sp>
      <ns0:sp>
        <ns0:nvSpPr>
          <ns0:cNvPr id="9" name="">
            <a:extLst>
              <a:ext uri="{FF2B5EF4-FFF2-40B4-BE49-F238E27FC236}">
                <ns2:creationId id="{3C607482-91C8-4646-AADD-FEBD5E6C9B42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B/C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4FC24BD0-5437-4C2E-878A-975CF2A08670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证据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05248319-BDAF-4BC0-9DE0-3C72F3F4D245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核心用途：citrulline 偏 NO/血流与高强度表现；HMB 偏老年、初学者或热量赤字；tart cherry/polyphenols 偏恢复、DOMS 与抗氧化。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4BB0C7C2-0A68-4C20-ADB7-44D295615B96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5070882B-084A-4A7F-AD2E-4D39455F4707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42F4F101-81CF-4A5D-8364-57BC190127E5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citrulline 提升 arginine/NO；HMB 影响蛋白分解/合成；多酚调节氧化压力与发炎。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B06BA6AB-A2B6-4BBB-B030-F261C83F7185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94DFD686-9150-4387-A741-4DB160361963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C0E6C58C-A478-4C85-9D25-4E1136CFC87D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适用人群 / 情境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4E1FCC26-505D-48A5-B412-6328DFA47B9C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不适用 / 慎用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8A86109E-0532-4FAF-85D6-89E7BAEA6BA5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25B974CE-930D-4A4B-A5C3-EBF4D9086ED6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训练者想优化泵感/血流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0294E863-B8CE-4CAE-9828-D8EAB26BD154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DF91EAEE-555A-48D9-90DD-D2AB9119C20F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老年、初学者、热量赤字者可评估 HMB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34A026DC-0A8C-45CD-A04B-8C9F6281E445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24A24CED-368C-4A64-A44E-E5A2D1B2C0E3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密集比赛或 DOMS 明显者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135DA5C7-F462-425F-BD4F-B5F75B9AB561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C4518E60-9E02-4DEC-99A0-3D916D8A8F17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偏好食物型恢复策略者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F96F99A6-052D-4E4F-99FD-45A116050E9E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10E9CD8D-7262-498D-846B-6069F6A5C5B9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训练与蛋白不足却先买 HMB 者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AE4FF5C1-EB1E-4335-9EC6-3EFB73AA72C3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5FD886E5-5086-4DE5-81EC-59F8EF662201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低血压或硝酸盐/血管用药者慎用 citrulline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399313E4-B6C1-4E62-91D3-0575A9F0BB91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0931FA47-5642-4016-8453-19BB3E33B731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把抗氧化当成越多越好者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FF577D92-3009-4B4B-BEF9-FE2226B04139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3631CF4A-F519-4723-9833-A193500613A8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糖分控制者慎选果汁型产品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DD376460-DF2A-4A8A-98B3-F5B721DDE673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CE4F0003-1F81-4765-B9ED-1D203D28BE76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讲法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B8540C80-7C6E-4522-A303-6CFBD5E27108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这一组适合做『进阶补剂』，但要清楚说：它们不是第一顺位，且效果比肌酸、蛋白、咖啡因更依赖情境。</a:t>
            </a:r>
          </a:p>
        </ns0:txBody>
      </ns0:sp>
    </ns0:spTree>
    <ns0:extLst>
      <ns0:ext uri="{BB962C8B-B14F-4D97-AF65-F5344CB8AC3E}">
        <ns3:creationId val="654992236"/>
      </ns0:ext>
    </ns0:extLst>
  </ns0:cSld>
</ns0:sld>
</file>

<file path=ppt/slides/slide21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E4CAC4EE-F6E4-4F03-9650-AD83B6782E61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0804E9AE-B850-4E2E-9894-29744167D3A1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A94438"/>
          </a:solidFill>
        </ns0:spPr>
      </ns0:sp>
      <ns0:sp>
        <ns0:nvSpPr>
          <ns0:cNvPr id="3" name="">
            <a:extLst>
              <a:ext uri="{FF2B5EF4-FFF2-40B4-BE49-F238E27FC236}">
                <ns2:creationId id="{AAF29761-3289-4621-AC6C-D3CDFF3A390D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C 级｜适合避坑，不适合主打神效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E820F9A0-C63D-47EE-ADB3-C1413EDC1ED2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Glutamine / GABA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3C2DEB85-D946-42EA-954F-A09436E1DF21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F3629ED9-9F0F-4151-87DD-7210EE208180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文献来源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C0D53FEA-65D2-4A62-B43A-C526E81BD224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Glutamine athletes systematic review/meta-analysis, Clinical Nutrition, 2019. DOI: 10.1016/j.clnu.2018.03.030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Hepsomali et al. oral GABA stress/sleep systematic review, 2020. PMCID: PMC7527439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GABA + whey resistance training RCT, 2019. PMCID: PMC6522239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606133F2-61FD-4D21-B41B-DA4A3AAC6CA0}"/>
              </a:ext>
            </a:extLst>
          </ns0:cNvPr>
          <ns0:cNvSpPr>
            <a:spLocks noGrp="1"/>
          </ns0:cNvSpPr>
          <ns0:nvPr/>
        </ns0:nvSpPr>
        <ns0:spPr>
          <a:xfrm>
            <a:off x="7658100" y="533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A94438"/>
          </a:solidFill>
        </ns0:spPr>
      </ns0:sp>
      <ns0:sp>
        <ns0:nvSpPr>
          <ns0:cNvPr id="9" name="">
            <a:extLst>
              <a:ext uri="{FF2B5EF4-FFF2-40B4-BE49-F238E27FC236}">
                <ns2:creationId id="{7DA018ED-4762-4BD9-9BDB-CFBB43B53A36}"/>
              </a:ext>
            </a:extLst>
          </ns0:cNvPr>
          <ns0:cNvSpPr>
            <a:spLocks noGrp="1"/>
          </ns0:cNvSpPr>
          <ns0:nvPr/>
        </ns0:nvSpPr>
        <ns0:spPr>
          <a:xfrm>
            <a:off x="7658100" y="609600"/>
            <a:ext cx="4953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2E06520D-3164-4862-B7A4-604E1577036C}"/>
              </a:ext>
            </a:extLst>
          </ns0:cNvPr>
          <ns0:cNvSpPr>
            <a:spLocks noGrp="1"/>
          </ns0:cNvSpPr>
          <ns0:nvPr/>
        </ns0:nvSpPr>
        <ns0:spPr>
          <a:xfrm>
            <a:off x="7658100" y="866775"/>
            <a:ext cx="495300" cy="133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证据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766BF7A5-F861-4C43-AA9E-666CA43A0B5D}"/>
              </a:ext>
            </a:extLst>
          </ns0:cNvPr>
          <ns0:cNvSpPr>
            <a:spLocks noGrp="1"/>
          </ns0:cNvSpPr>
          <ns0:nvPr/>
        </ns0:nvSpPr>
        <ns0:spPr>
          <a:xfrm>
            <a:off x="457200" y="1200150"/>
            <a:ext cx="762000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核心用途：glutamine 偏肠道/免疫/高压力情境；GABA 偏睡眠/压力，少量研究连到 GH 或瘦体重，但证据有限。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C235AEF8-516D-4E78-A178-945F8DE20966}"/>
              </a:ext>
            </a:extLst>
          </ns0:cNvPr>
          <ns0:cNvSpPr>
            <a:spLocks noGrp="1"/>
          </ns0:cNvSpPr>
          <ns0:nvPr/>
        </ns0:nvSpPr>
        <ns0:spPr>
          <a:xfrm>
            <a:off x="457200" y="1657350"/>
            <a:ext cx="7658100" cy="361950"/>
          </a:xfrm>
          <a:prstGeom prst="roundRect">
            <a:avLst>
              <a:gd name="adj" fmla="val 21053"/>
            </a:avLst>
          </a:prstGeom>
          <a:solidFill>
            <a:srgbClr val="F5FAF7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2C9F4975-3886-4391-840B-B146CA574CAD}"/>
              </a:ext>
            </a:extLst>
          </ns0:cNvPr>
          <ns0:cNvSpPr>
            <a:spLocks noGrp="1"/>
          </ns0:cNvSpPr>
          <ns0:nvPr/>
        </ns0:nvSpPr>
        <ns0:spPr>
          <a:xfrm>
            <a:off x="666750" y="1752600"/>
            <a:ext cx="857250" cy="1714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125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76139659-0A98-4733-8F60-6C39E7ED74F9}"/>
              </a:ext>
            </a:extLst>
          </ns0:cNvPr>
          <ns0:cNvSpPr>
            <a:spLocks noGrp="1"/>
          </ns0:cNvSpPr>
          <ns0:nvPr/>
        </ns0:nvSpPr>
        <ns0:spPr>
          <a:xfrm>
            <a:off x="1504950" y="1724025"/>
            <a:ext cx="6381750" cy="2095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glutamine 支援肠道/免疫与氮代谢；GABA 可能影响放松、压力与睡眠。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18C962D4-063D-4511-BC3C-0DEEC9FF9D24}"/>
              </a:ext>
            </a:extLst>
          </ns0:cNvPr>
          <ns0:cNvSpPr>
            <a:spLocks noGrp="1"/>
          </ns0:cNvSpPr>
          <ns0:nvPr/>
        </ns0:nvSpPr>
        <ns0:spPr>
          <a:xfrm>
            <a:off x="45720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141D1986-8BD5-4E55-8A7F-BCC8CEC1534C}"/>
              </a:ext>
            </a:extLst>
          </ns0:cNvPr>
          <ns0:cNvSpPr>
            <a:spLocks noGrp="1"/>
          </ns0:cNvSpPr>
          <ns0:nvPr/>
        </ns0:nvSpPr>
        <ns0:spPr>
          <a:xfrm>
            <a:off x="4400550" y="2152650"/>
            <a:ext cx="37147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22369F9D-1C64-47C7-8090-04E9D821F8EF}"/>
              </a:ext>
            </a:extLst>
          </ns0:cNvPr>
          <ns0:cNvSpPr>
            <a:spLocks noGrp="1"/>
          </ns0:cNvSpPr>
          <ns0:nvPr/>
        </ns0:nvSpPr>
        <ns0:spPr>
          <a:xfrm>
            <a:off x="68580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适用人群 / 情境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71622E5A-78C7-4C1A-B7A9-7A5F691BD366}"/>
              </a:ext>
            </a:extLst>
          </ns0:cNvPr>
          <ns0:cNvSpPr>
            <a:spLocks noGrp="1"/>
          </ns0:cNvSpPr>
          <ns0:nvPr/>
        </ns0:nvSpPr>
        <ns0:spPr>
          <a:xfrm>
            <a:off x="4629150" y="2362200"/>
            <a:ext cx="285750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不适用 / 慎用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139C1B88-6B49-4F7A-AEE6-D7FA5F278A58}"/>
              </a:ext>
            </a:extLst>
          </ns0:cNvPr>
          <ns0:cNvSpPr>
            <a:spLocks noGrp="1"/>
          </ns0:cNvSpPr>
          <ns0:nvPr/>
        </ns0:nvSpPr>
        <ns0:spPr>
          <a:xfrm>
            <a:off x="70485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0" name="">
            <a:extLst>
              <a:ext uri="{FF2B5EF4-FFF2-40B4-BE49-F238E27FC236}">
                <ns2:creationId id="{B2C58A8F-296A-4781-AD95-912C849A87E2}"/>
              </a:ext>
            </a:extLst>
          </ns0:cNvPr>
          <ns0:cNvSpPr>
            <a:spLocks noGrp="1"/>
          </ns0:cNvSpPr>
          <ns0:nvPr/>
        </ns0:nvSpPr>
        <ns0:spPr>
          <a:xfrm>
            <a:off x="87630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极高训练压力或肠胃压力者可评估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EACC8B21-EFA8-4342-99D2-293C697FF225}"/>
              </a:ext>
            </a:extLst>
          </ns0:cNvPr>
          <ns0:cNvSpPr>
            <a:spLocks noGrp="1"/>
          </ns0:cNvSpPr>
          <ns0:nvPr/>
        </ns0:nvSpPr>
        <ns0:spPr>
          <a:xfrm>
            <a:off x="70485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2" name="">
            <a:extLst>
              <a:ext uri="{FF2B5EF4-FFF2-40B4-BE49-F238E27FC236}">
                <ns2:creationId id="{4339A6EA-CB24-4EF9-BFFC-96E3BB8A5C81}"/>
              </a:ext>
            </a:extLst>
          </ns0:cNvPr>
          <ns0:cNvSpPr>
            <a:spLocks noGrp="1"/>
          </ns0:cNvSpPr>
          <ns0:nvPr/>
        </ns0:nvSpPr>
        <ns0:spPr>
          <a:xfrm>
            <a:off x="87630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睡眠或压力管理内容可谨慎谈 GABA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66A593B1-57E4-4C76-97ED-74E0C2ECB718}"/>
              </a:ext>
            </a:extLst>
          </ns0:cNvPr>
          <ns0:cNvSpPr>
            <a:spLocks noGrp="1"/>
          </ns0:cNvSpPr>
          <ns0:nvPr/>
        </ns0:nvSpPr>
        <ns0:spPr>
          <a:xfrm>
            <a:off x="70485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4" name="">
            <a:extLst>
              <a:ext uri="{FF2B5EF4-FFF2-40B4-BE49-F238E27FC236}">
                <ns2:creationId id="{B77208B5-7798-4C4F-A605-07C4B4210EC5}"/>
              </a:ext>
            </a:extLst>
          </ns0:cNvPr>
          <ns0:cNvSpPr>
            <a:spLocks noGrp="1"/>
          </ns0:cNvSpPr>
          <ns0:nvPr/>
        </ns0:nvSpPr>
        <ns0:spPr>
          <a:xfrm>
            <a:off x="87630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蛋白质不足者应先补蛋白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709B1B66-E3F6-475D-932A-DA561DF62521}"/>
              </a:ext>
            </a:extLst>
          </ns0:cNvPr>
          <ns0:cNvSpPr>
            <a:spLocks noGrp="1"/>
          </ns0:cNvSpPr>
          <ns0:nvPr/>
        </ns0:nvSpPr>
        <ns0:spPr>
          <a:xfrm>
            <a:off x="70485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6" name="">
            <a:extLst>
              <a:ext uri="{FF2B5EF4-FFF2-40B4-BE49-F238E27FC236}">
                <ns2:creationId id="{BC2BF24B-2B1A-4296-9A0C-68197D01BC75}"/>
              </a:ext>
            </a:extLst>
          </ns0:cNvPr>
          <ns0:cNvSpPr>
            <a:spLocks noGrp="1"/>
          </ns0:cNvSpPr>
          <ns0:nvPr/>
        </ns0:nvSpPr>
        <ns0:spPr>
          <a:xfrm>
            <a:off x="87630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喜欢科学避坑内容的受众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C63678D3-E222-4A6F-982A-8C9E3BE4C5E8}"/>
              </a:ext>
            </a:extLst>
          </ns0:cNvPr>
          <ns0:cNvSpPr>
            <a:spLocks noGrp="1"/>
          </ns0:cNvSpPr>
          <ns0:nvPr/>
        </ns0:nvSpPr>
        <ns0:spPr>
          <a:xfrm>
            <a:off x="4648200" y="2905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8" name="">
            <a:extLst>
              <a:ext uri="{FF2B5EF4-FFF2-40B4-BE49-F238E27FC236}">
                <ns2:creationId id="{530FC6CA-38A4-4ADE-9EDD-70D70AB413C7}"/>
              </a:ext>
            </a:extLst>
          </ns0:cNvPr>
          <ns0:cNvSpPr>
            <a:spLocks noGrp="1"/>
          </ns0:cNvSpPr>
          <ns0:nvPr/>
        </ns0:nvSpPr>
        <ns0:spPr>
          <a:xfrm>
            <a:off x="4819650" y="28384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一般增肌者把 glutamine 当主补剂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2C5E3B4D-02A9-40D6-888D-4C89F78332A6}"/>
              </a:ext>
            </a:extLst>
          </ns0:cNvPr>
          <ns0:cNvSpPr>
            <a:spLocks noGrp="1"/>
          </ns0:cNvSpPr>
          <ns0:nvPr/>
        </ns0:nvSpPr>
        <ns0:spPr>
          <a:xfrm>
            <a:off x="4648200" y="33051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0" name="">
            <a:extLst>
              <a:ext uri="{FF2B5EF4-FFF2-40B4-BE49-F238E27FC236}">
                <ns2:creationId id="{E8E922AC-CC64-498F-982A-5452B3C55A96}"/>
              </a:ext>
            </a:extLst>
          </ns0:cNvPr>
          <ns0:cNvSpPr>
            <a:spLocks noGrp="1"/>
          </ns0:cNvSpPr>
          <ns0:nvPr/>
        </ns0:nvSpPr>
        <ns0:spPr>
          <a:xfrm>
            <a:off x="4819650" y="32385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把 GABA=GH=必增肌 当销售主张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402C4869-5BE0-402E-85DC-D14516488C5F}"/>
              </a:ext>
            </a:extLst>
          </ns0:cNvPr>
          <ns0:cNvSpPr>
            <a:spLocks noGrp="1"/>
          </ns0:cNvSpPr>
          <ns0:nvPr/>
        </ns0:nvSpPr>
        <ns0:spPr>
          <a:xfrm>
            <a:off x="4648200" y="37052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2" name="">
            <a:extLst>
              <a:ext uri="{FF2B5EF4-FFF2-40B4-BE49-F238E27FC236}">
                <ns2:creationId id="{4ECF9D20-5285-452D-83AB-84D40EE737F6}"/>
              </a:ext>
            </a:extLst>
          </ns0:cNvPr>
          <ns0:cNvSpPr>
            <a:spLocks noGrp="1"/>
          </ns0:cNvSpPr>
          <ns0:nvPr/>
        </ns0:nvSpPr>
        <ns0:spPr>
          <a:xfrm>
            <a:off x="4819650" y="363855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正在使用镇静安眠药者自行叠加 GABA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871584B4-4BB9-469D-9162-79DA83C0F9F3}"/>
              </a:ext>
            </a:extLst>
          </ns0:cNvPr>
          <ns0:cNvSpPr>
            <a:spLocks noGrp="1"/>
          </ns0:cNvSpPr>
          <ns0:nvPr/>
        </ns0:nvSpPr>
        <ns0:spPr>
          <a:xfrm>
            <a:off x="4648200" y="41052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34" name="">
            <a:extLst>
              <a:ext uri="{FF2B5EF4-FFF2-40B4-BE49-F238E27FC236}">
                <ns2:creationId id="{1F1F33F2-AC20-46BB-A4E1-63695B69212F}"/>
              </a:ext>
            </a:extLst>
          </ns0:cNvPr>
          <ns0:cNvSpPr>
            <a:spLocks noGrp="1"/>
          </ns0:cNvSpPr>
          <ns0:nvPr/>
        </ns0:nvSpPr>
        <ns0:spPr>
          <a:xfrm>
            <a:off x="4819650" y="4038600"/>
            <a:ext cx="2971800" cy="381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孕期、疾病、用药族群自行尝试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AA4C4D49-32B9-4EFA-93A2-A90A42C3738E}"/>
              </a:ext>
            </a:extLst>
          </ns0:cNvPr>
          <ns0:cNvSpPr>
            <a:spLocks noGrp="1"/>
          </ns0:cNvSpPr>
          <ns0:nvPr/>
        </ns0:nvSpPr>
        <ns0:spPr>
          <a:xfrm>
            <a:off x="457200" y="5143500"/>
            <a:ext cx="7658100" cy="876300"/>
          </a:xfrm>
          <a:prstGeom prst="roundRect">
            <a:avLst>
              <a:gd name="adj" fmla="val 8696"/>
            </a:avLst>
          </a:prstGeom>
          <a:solidFill>
            <a:srgbClr val="FFFDF5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DA84F1A4-E000-4CE4-8124-A546430E6FC2}"/>
              </a:ext>
            </a:extLst>
          </ns0:cNvPr>
          <ns0:cNvSpPr>
            <a:spLocks noGrp="1"/>
          </ns0:cNvSpPr>
          <ns0:nvPr/>
        </ns0:nvSpPr>
        <ns0:spPr>
          <a:xfrm>
            <a:off x="666750" y="5324475"/>
            <a:ext cx="66675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讲法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D4BB13ED-B797-41C3-8F76-9DF665BEF34A}"/>
              </a:ext>
            </a:extLst>
          </ns0:cNvPr>
          <ns0:cNvSpPr>
            <a:spLocks noGrp="1"/>
          </ns0:cNvSpPr>
          <ns0:nvPr/>
        </ns0:nvSpPr>
        <ns0:spPr>
          <a:xfrm>
            <a:off x="1295400" y="5314950"/>
            <a:ext cx="6534150" cy="4572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这两个很适合做反行销内容：不是完全没用，而是『适用范围很窄、证据不能被放大』。</a:t>
            </a:r>
          </a:p>
        </ns0:txBody>
      </ns0:sp>
    </ns0:spTree>
    <ns0:extLst>
      <ns0:ext uri="{BB962C8B-B14F-4D97-AF65-F5344CB8AC3E}">
        <ns3:creationId val="1185505708"/>
      </ns0:ext>
    </ns0:extLst>
  </ns0:cSld>
</ns0:sld>
</file>

<file path=ppt/slides/slide22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30027DCB-031B-4416-B1B4-9F61AD31DC5A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7DE4A2FF-493A-42E2-AD4B-58A12214F50B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1F7A4D"/>
          </a:solidFill>
        </ns0:spPr>
      </ns0:sp>
      <ns0:sp>
        <ns0:nvSpPr>
          <ns0:cNvPr id="3" name="">
            <a:extLst>
              <a:ext uri="{FF2B5EF4-FFF2-40B4-BE49-F238E27FC236}">
                <ns2:creationId id="{48266C88-7C96-4CC3-814A-B57783AFF08D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补剂简报｜不要本末倒置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527C2E02-44B6-43C5-8375-ED6563897D38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补剂之外：恢复与抗阻训练才是地基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3252EE75-D573-4031-B48F-C80F40FDF9CD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30A7413A-2739-474E-AB62-5C682F96062A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文献来源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5BFDE576-445D-4A2E-B8C4-BBFB04B0A44A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ACSM Progression Models in Resistance Training for Healthy Adults, 2009. PMID: 19204579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ACSM simplified position stand PDF, 2009 MSSE 41(3):687-708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ISSN protein and exercise; ISSN creatine position stand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C5C4BAE0-E123-4F23-8AC4-5484B000F1C6}"/>
              </a:ext>
            </a:extLst>
          </ns0:cNvPr>
          <ns0:cNvSpPr>
            <a:spLocks noGrp="1"/>
          </ns0:cNvSpPr>
          <ns0:nvPr/>
        </ns0:nvSpPr>
        <ns0:spPr>
          <a:xfrm>
            <a:off x="457200" y="1333500"/>
            <a:ext cx="767715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9" name="">
            <a:extLst>
              <a:ext uri="{FF2B5EF4-FFF2-40B4-BE49-F238E27FC236}">
                <ns2:creationId id="{EEE87431-B005-4828-AAEF-F927CB8D7BCD}"/>
              </a:ext>
            </a:extLst>
          </ns0:cNvPr>
          <ns0:cNvSpPr>
            <a:spLocks noGrp="1"/>
          </ns0:cNvSpPr>
          <ns0:nvPr/>
        </ns0:nvSpPr>
        <ns0:spPr>
          <a:xfrm>
            <a:off x="704850" y="1562100"/>
            <a:ext cx="3048000" cy="3048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9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增肌与恢复优先顺序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03923702-C0F0-4126-89B2-2C7A40933275}"/>
              </a:ext>
            </a:extLst>
          </ns0:cNvPr>
          <ns0:cNvSpPr>
            <a:spLocks noGrp="1"/>
          </ns0:cNvSpPr>
          <ns0:nvPr/>
        </ns0:nvSpPr>
        <ns0:spPr>
          <a:xfrm>
            <a:off x="742950" y="20955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F7A4D"/>
          </a:solidFill>
        </ns0:spPr>
      </ns0:sp>
      <ns0:sp>
        <ns0:nvSpPr>
          <ns0:cNvPr id="11" name="">
            <a:extLst>
              <a:ext uri="{FF2B5EF4-FFF2-40B4-BE49-F238E27FC236}">
                <ns2:creationId id="{1D18B93E-4673-492C-BE19-C8F278A3E2FC}"/>
              </a:ext>
            </a:extLst>
          </ns0:cNvPr>
          <ns0:cNvSpPr>
            <a:spLocks noGrp="1"/>
          </ns0:cNvSpPr>
          <ns0:nvPr/>
        </ns0:nvSpPr>
        <ns0:spPr>
          <a:xfrm>
            <a:off x="857250" y="2133600"/>
            <a:ext cx="1524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AE86E15D-D053-4FA9-A3A2-542266A30EEF}"/>
              </a:ext>
            </a:extLst>
          </ns0:cNvPr>
          <ns0:cNvSpPr>
            <a:spLocks noGrp="1"/>
          </ns0:cNvSpPr>
          <ns0:nvPr/>
        </ns0:nvSpPr>
        <ns0:spPr>
          <a:xfrm>
            <a:off x="1333500" y="2076450"/>
            <a:ext cx="161925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抗阻训练</a:t>
            </a:r>
          </a:p>
        </ns0:txBody>
      </ns0:sp>
      <ns0:sp>
        <ns0:nvSpPr>
          <ns0:cNvPr id="13" name="">
            <a:extLst>
              <a:ext uri="{FF2B5EF4-FFF2-40B4-BE49-F238E27FC236}">
                <ns2:creationId id="{C449E536-35AB-4EF4-AE39-CF605DC6A819}"/>
              </a:ext>
            </a:extLst>
          </ns0:cNvPr>
          <ns0:cNvSpPr>
            <a:spLocks noGrp="1"/>
          </ns0:cNvSpPr>
          <ns0:nvPr/>
        </ns0:nvSpPr>
        <ns0:spPr>
          <a:xfrm>
            <a:off x="2990850" y="2095500"/>
            <a:ext cx="447675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渐进超负荷、足够训练量、接近力竭、长期一致性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E953B359-689F-4A35-B9E2-278FFC930FAA}"/>
              </a:ext>
            </a:extLst>
          </ns0:cNvPr>
          <ns0:cNvSpPr>
            <a:spLocks noGrp="1"/>
          </ns0:cNvSpPr>
          <ns0:nvPr/>
        </ns0:nvSpPr>
        <ns0:spPr>
          <a:xfrm>
            <a:off x="742950" y="27813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F7A4D"/>
          </a:solidFill>
        </ns0:spPr>
      </ns0:sp>
      <ns0:sp>
        <ns0:nvSpPr>
          <ns0:cNvPr id="15" name="">
            <a:extLst>
              <a:ext uri="{FF2B5EF4-FFF2-40B4-BE49-F238E27FC236}">
                <ns2:creationId id="{0A7E558A-864D-43E6-AD54-99FA528DDEBC}"/>
              </a:ext>
            </a:extLst>
          </ns0:cNvPr>
          <ns0:cNvSpPr>
            <a:spLocks noGrp="1"/>
          </ns0:cNvSpPr>
          <ns0:nvPr/>
        </ns0:nvSpPr>
        <ns0:spPr>
          <a:xfrm>
            <a:off x="857250" y="2819400"/>
            <a:ext cx="1524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17A4FE83-DE19-4FFE-8E35-1606432E2C72}"/>
              </a:ext>
            </a:extLst>
          </ns0:cNvPr>
          <ns0:cNvSpPr>
            <a:spLocks noGrp="1"/>
          </ns0:cNvSpPr>
          <ns0:nvPr/>
        </ns0:nvSpPr>
        <ns0:spPr>
          <a:xfrm>
            <a:off x="1333500" y="2762250"/>
            <a:ext cx="161925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能量与蛋白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8285174B-4B93-443D-92A6-AD29147441D9}"/>
              </a:ext>
            </a:extLst>
          </ns0:cNvPr>
          <ns0:cNvSpPr>
            <a:spLocks noGrp="1"/>
          </ns0:cNvSpPr>
          <ns0:nvPr/>
        </ns0:nvSpPr>
        <ns0:spPr>
          <a:xfrm>
            <a:off x="2990850" y="2781300"/>
            <a:ext cx="447675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热量、每日蛋白、餐次分配，先于补剂种类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B4F289BF-C9F8-4402-920E-523C1B13797C}"/>
              </a:ext>
            </a:extLst>
          </ns0:cNvPr>
          <ns0:cNvSpPr>
            <a:spLocks noGrp="1"/>
          </ns0:cNvSpPr>
          <ns0:nvPr/>
        </ns0:nvSpPr>
        <ns0:spPr>
          <a:xfrm>
            <a:off x="742950" y="34671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F7A4D"/>
          </a:solidFill>
        </ns0:spPr>
      </ns0:sp>
      <ns0:sp>
        <ns0:nvSpPr>
          <ns0:cNvPr id="19" name="">
            <a:extLst>
              <a:ext uri="{FF2B5EF4-FFF2-40B4-BE49-F238E27FC236}">
                <ns2:creationId id="{0F67F345-6B11-4BD0-91F8-3AF8D8CC31C9}"/>
              </a:ext>
            </a:extLst>
          </ns0:cNvPr>
          <ns0:cNvSpPr>
            <a:spLocks noGrp="1"/>
          </ns0:cNvSpPr>
          <ns0:nvPr/>
        </ns0:nvSpPr>
        <ns0:spPr>
          <a:xfrm>
            <a:off x="857250" y="3505200"/>
            <a:ext cx="1524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54D695E8-8A8C-4522-AFF5-12B3ECE057CB}"/>
              </a:ext>
            </a:extLst>
          </ns0:cNvPr>
          <ns0:cNvSpPr>
            <a:spLocks noGrp="1"/>
          </ns0:cNvSpPr>
          <ns0:nvPr/>
        </ns0:nvSpPr>
        <ns0:spPr>
          <a:xfrm>
            <a:off x="1333500" y="3448050"/>
            <a:ext cx="161925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睡眠与压力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9CBFE9A9-8EA2-4E58-A892-6D2E5F7FB2B0}"/>
              </a:ext>
            </a:extLst>
          </ns0:cNvPr>
          <ns0:cNvSpPr>
            <a:spLocks noGrp="1"/>
          </ns0:cNvSpPr>
          <ns0:nvPr/>
        </ns0:nvSpPr>
        <ns0:spPr>
          <a:xfrm>
            <a:off x="2990850" y="3467100"/>
            <a:ext cx="447675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恢复品质会决定训练能不能持续累积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131966A1-E34B-44BB-A039-D25543056B68}"/>
              </a:ext>
            </a:extLst>
          </ns0:cNvPr>
          <ns0:cNvSpPr>
            <a:spLocks noGrp="1"/>
          </ns0:cNvSpPr>
          <ns0:nvPr/>
        </ns0:nvSpPr>
        <ns0:spPr>
          <a:xfrm>
            <a:off x="742950" y="41529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F7A4D"/>
          </a:solidFill>
        </ns0:spPr>
      </ns0:sp>
      <ns0:sp>
        <ns0:nvSpPr>
          <ns0:cNvPr id="23" name="">
            <a:extLst>
              <a:ext uri="{FF2B5EF4-FFF2-40B4-BE49-F238E27FC236}">
                <ns2:creationId id="{0331C5E9-0504-4A1F-A39F-8AA3758C3B61}"/>
              </a:ext>
            </a:extLst>
          </ns0:cNvPr>
          <ns0:cNvSpPr>
            <a:spLocks noGrp="1"/>
          </ns0:cNvSpPr>
          <ns0:nvPr/>
        </ns0:nvSpPr>
        <ns0:spPr>
          <a:xfrm>
            <a:off x="857250" y="4191000"/>
            <a:ext cx="1524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ns0:txBody>
      </ns0:sp>
      <ns0:sp>
        <ns0:nvSpPr>
          <ns0:cNvPr id="24" name="">
            <a:extLst>
              <a:ext uri="{FF2B5EF4-FFF2-40B4-BE49-F238E27FC236}">
                <ns2:creationId id="{A7F7AB7E-80F1-4702-A527-DBD8611EF0BB}"/>
              </a:ext>
            </a:extLst>
          </ns0:cNvPr>
          <ns0:cNvSpPr>
            <a:spLocks noGrp="1"/>
          </ns0:cNvSpPr>
          <ns0:nvPr/>
        </ns0:nvSpPr>
        <ns0:spPr>
          <a:xfrm>
            <a:off x="1333500" y="4133850"/>
            <a:ext cx="161925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场景补剂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FF2BD390-B3FE-4913-85DF-0A4E410726F8}"/>
              </a:ext>
            </a:extLst>
          </ns0:cNvPr>
          <ns0:cNvSpPr>
            <a:spLocks noGrp="1"/>
          </ns0:cNvSpPr>
          <ns0:nvPr/>
        </ns0:nvSpPr>
        <ns0:spPr>
          <a:xfrm>
            <a:off x="2990850" y="4152900"/>
            <a:ext cx="4476750" cy="4000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肌酸、咖啡因、nitrate、omega-3 等只是在对的情境放大效果</a:t>
            </a:r>
          </a:p>
        </ns0:txBody>
      </ns0:sp>
      <ns0:sp>
        <ns0:nvSpPr>
          <ns0:cNvPr id="26" name="">
            <a:extLst>
              <a:ext uri="{FF2B5EF4-FFF2-40B4-BE49-F238E27FC236}">
                <ns2:creationId id="{59A1E0EB-F360-4FC2-8115-044025D63AC8}"/>
              </a:ext>
            </a:extLst>
          </ns0:cNvPr>
          <ns0:cNvSpPr>
            <a:spLocks noGrp="1"/>
          </ns0:cNvSpPr>
          <ns0:nvPr/>
        </ns0:nvSpPr>
        <ns0:spPr>
          <a:xfrm>
            <a:off x="457200" y="5334000"/>
            <a:ext cx="7677150" cy="685800"/>
          </a:xfrm>
          <a:prstGeom prst="roundRect">
            <a:avLst>
              <a:gd name="adj" fmla="val 11111"/>
            </a:avLst>
          </a:prstGeom>
          <a:solidFill>
            <a:srgbClr val="FFF3E6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27" name="">
            <a:extLst>
              <a:ext uri="{FF2B5EF4-FFF2-40B4-BE49-F238E27FC236}">
                <ns2:creationId id="{EECF29A6-BC05-40CB-9B7E-A6B6787ADE97}"/>
              </a:ext>
            </a:extLst>
          </ns0:cNvPr>
          <ns0:cNvSpPr>
            <a:spLocks noGrp="1"/>
          </ns0:cNvSpPr>
          <ns0:nvPr/>
        </ns0:nvSpPr>
        <ns0:spPr>
          <a:xfrm>
            <a:off x="666750" y="5524500"/>
            <a:ext cx="9525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内容金句</a:t>
            </a:r>
          </a:p>
        </ns0:txBody>
      </ns0:sp>
      <ns0:sp>
        <ns0:nvSpPr>
          <ns0:cNvPr id="28" name="">
            <a:extLst>
              <a:ext uri="{FF2B5EF4-FFF2-40B4-BE49-F238E27FC236}">
                <ns2:creationId id="{B9A090E3-C9E0-494B-B5A3-B5A21A9C40E7}"/>
              </a:ext>
            </a:extLst>
          </ns0:cNvPr>
          <ns0:cNvSpPr>
            <a:spLocks noGrp="1"/>
          </ns0:cNvSpPr>
          <ns0:nvPr/>
        </ns0:nvSpPr>
        <ns0:spPr>
          <a:xfrm>
            <a:off x="1581150" y="5505450"/>
            <a:ext cx="6191250" cy="2667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50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补剂是放大器，不是替代品。没有训练、饮食、睡眠，补剂只是在放大混乱。</a:t>
            </a:r>
          </a:p>
        </ns0:txBody>
      </ns0:sp>
    </ns0:spTree>
    <ns0:extLst>
      <ns0:ext uri="{BB962C8B-B14F-4D97-AF65-F5344CB8AC3E}">
        <ns3:creationId val="1301480279"/>
      </ns0:ext>
    </ns0:extLst>
  </ns0:cSld>
</ns0:sld>
</file>

<file path=ppt/slides/slide23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4495B7DA-BFF2-48D4-B77D-A52792A19423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</ns0:spPr>
      </ns0:sp>
      <ns0:sp>
        <ns0:nvSpPr>
          <ns0:cNvPr id="2" name="">
            <a:extLst>
              <a:ext uri="{FF2B5EF4-FFF2-40B4-BE49-F238E27FC236}">
                <ns2:creationId id="{1435CAFF-17AB-47D3-B7C7-1698F19D7B18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52400" cy="6858000"/>
          </a:xfrm>
          <a:prstGeom prst="rect">
            <a:avLst/>
          </a:prstGeom>
          <a:solidFill>
            <a:srgbClr val="A94438"/>
          </a:solidFill>
        </ns0:spPr>
      </ns0:sp>
      <ns0:sp>
        <ns0:nvSpPr>
          <ns0:cNvPr id="3" name="">
            <a:extLst>
              <a:ext uri="{FF2B5EF4-FFF2-40B4-BE49-F238E27FC236}">
                <ns2:creationId id="{1DC1FF7A-24DB-46DF-80BD-192FFBF41212}"/>
              </a:ext>
            </a:extLst>
          </ns0:cNvPr>
          <ns0:cNvSpPr>
            <a:spLocks noGrp="1"/>
          </ns0:cNvSpPr>
          <ns0:nvPr/>
        </ns0:nvSpPr>
        <ns0:spPr>
          <a:xfrm>
            <a:off x="457200" y="323850"/>
            <a:ext cx="7239000" cy="2286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0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补剂简报｜销售与合规语言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C3EF82C4-63AE-4A47-870C-F856901E98C3}"/>
              </a:ext>
            </a:extLst>
          </ns0:cNvPr>
          <ns0:cNvSpPr>
            <a:spLocks noGrp="1"/>
          </ns0:cNvSpPr>
          <ns0:nvPr/>
        </ns0:nvSpPr>
        <ns0:spPr>
          <a:xfrm>
            <a:off x="457200" y="590550"/>
            <a:ext cx="7334250" cy="5143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做知识产品时，可信度就是护城河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DF827608-7AA0-42B6-9C8F-D07CB65B6836}"/>
              </a:ext>
            </a:extLst>
          </ns0:cNvPr>
          <ns0:cNvSpPr>
            <a:spLocks noGrp="1"/>
          </ns0:cNvSpPr>
          <ns0:nvPr/>
        </ns0:nvSpPr>
        <ns0:spPr>
          <a:xfrm>
            <a:off x="8620125" y="0"/>
            <a:ext cx="3571875" cy="6858000"/>
          </a:xfrm>
          <a:prstGeom prst="rect">
            <a:avLst/>
          </a:prstGeom>
          <a:solidFill>
            <a:srgbClr val="EEF5F1"/>
          </a:solidFill>
        </ns0:spPr>
      </ns0:sp>
      <ns0:sp>
        <ns0:nvSpPr>
          <ns0:cNvPr id="6" name="">
            <a:extLst>
              <a:ext uri="{FF2B5EF4-FFF2-40B4-BE49-F238E27FC236}">
                <ns2:creationId id="{A32BB881-F4D4-4207-9594-43503F916C42}"/>
              </a:ext>
            </a:extLst>
          </ns0:cNvPr>
          <ns0:cNvSpPr>
            <a:spLocks noGrp="1"/>
          </ns0:cNvSpPr>
          <ns0:nvPr/>
        </ns0:nvSpPr>
        <ns0:spPr>
          <a:xfrm>
            <a:off x="8934450" y="400050"/>
            <a:ext cx="238125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文献来源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BDC4416B-9648-4B91-8EE9-094389FC24F6}"/>
              </a:ext>
            </a:extLst>
          </ns0:cNvPr>
          <ns0:cNvSpPr>
            <a:spLocks noGrp="1"/>
          </ns0:cNvSpPr>
          <ns0:nvPr/>
        </ns0:nvSpPr>
        <ns0:spPr>
          <a:xfrm>
            <a:off x="8934450" y="800100"/>
            <a:ext cx="2857500" cy="53340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IOC consensus: supplement risk includes contamination, mislabeling and inappropriate use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AIS framework: supplement classification changes with evidence and context</a:t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WADA / anti-doping risk: choose third-party tested products for athletes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8DBF6F76-2B88-447F-852A-8A4075F7CD90}"/>
              </a:ext>
            </a:extLst>
          </ns0:cNvPr>
          <ns0:cNvSpPr>
            <a:spLocks noGrp="1"/>
          </ns0:cNvSpPr>
          <ns0:nvPr/>
        </ns0:nvSpPr>
        <ns0:spPr>
          <a:xfrm>
            <a:off x="495300" y="1409700"/>
            <a:ext cx="3619500" cy="36195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9" name="">
            <a:extLst>
              <a:ext uri="{FF2B5EF4-FFF2-40B4-BE49-F238E27FC236}">
                <ns2:creationId id="{0776FF47-0058-4049-9936-77BCD82D0730}"/>
              </a:ext>
            </a:extLst>
          </ns0:cNvPr>
          <ns0:cNvSpPr>
            <a:spLocks noGrp="1"/>
          </ns0:cNvSpPr>
          <ns0:nvPr/>
        </ns0:nvSpPr>
        <ns0:spPr>
          <a:xfrm>
            <a:off x="742950" y="1638300"/>
            <a:ext cx="17145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87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可以说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297693A6-25E8-4C48-9C24-A8AB92A6847E}"/>
              </a:ext>
            </a:extLst>
          </ns0:cNvPr>
          <ns0:cNvSpPr>
            <a:spLocks noGrp="1"/>
          </ns0:cNvSpPr>
          <ns0:nvPr/>
        </ns0:nvSpPr>
        <ns0:spPr>
          <a:xfrm>
            <a:off x="762000" y="22574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11" name="">
            <a:extLst>
              <a:ext uri="{FF2B5EF4-FFF2-40B4-BE49-F238E27FC236}">
                <ns2:creationId id="{66A6ED62-4FA7-433A-A56C-85383963AEB8}"/>
              </a:ext>
            </a:extLst>
          </ns0:cNvPr>
          <ns0:cNvSpPr>
            <a:spLocks noGrp="1"/>
          </ns0:cNvSpPr>
          <ns0:nvPr/>
        </ns0:nvSpPr>
        <ns0:spPr>
          <a:xfrm>
            <a:off x="933450" y="2190750"/>
            <a:ext cx="2686050" cy="4953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「在这些情境可能有帮助」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67D3438B-B692-42C2-B23E-B9D555D1D77C}"/>
              </a:ext>
            </a:extLst>
          </ns0:cNvPr>
          <ns0:cNvSpPr>
            <a:spLocks noGrp="1"/>
          </ns0:cNvSpPr>
          <ns0:nvPr/>
        </ns0:nvSpPr>
        <ns0:spPr>
          <a:xfrm>
            <a:off x="762000" y="27717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13" name="">
            <a:extLst>
              <a:ext uri="{FF2B5EF4-FFF2-40B4-BE49-F238E27FC236}">
                <ns2:creationId id="{0F33DD2F-0B3C-4C16-B745-C3ACC4E3AE8B}"/>
              </a:ext>
            </a:extLst>
          </ns0:cNvPr>
          <ns0:cNvSpPr>
            <a:spLocks noGrp="1"/>
          </ns0:cNvSpPr>
          <ns0:nvPr/>
        </ns0:nvSpPr>
        <ns0:spPr>
          <a:xfrm>
            <a:off x="933450" y="2705100"/>
            <a:ext cx="2686050" cy="4953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「证据强度为 A/B/C」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0111B75A-12A9-4F04-9763-F35BD023717A}"/>
              </a:ext>
            </a:extLst>
          </ns0:cNvPr>
          <ns0:cNvSpPr>
            <a:spLocks noGrp="1"/>
          </ns0:cNvSpPr>
          <ns0:nvPr/>
        </ns0:nvSpPr>
        <ns0:spPr>
          <a:xfrm>
            <a:off x="762000" y="3286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15" name="">
            <a:extLst>
              <a:ext uri="{FF2B5EF4-FFF2-40B4-BE49-F238E27FC236}">
                <ns2:creationId id="{32DA2A26-8EBF-41ED-B103-DAE50F16AABE}"/>
              </a:ext>
            </a:extLst>
          </ns0:cNvPr>
          <ns0:cNvSpPr>
            <a:spLocks noGrp="1"/>
          </ns0:cNvSpPr>
          <ns0:nvPr/>
        </ns0:nvSpPr>
        <ns0:spPr>
          <a:xfrm>
            <a:off x="933450" y="3219450"/>
            <a:ext cx="2686050" cy="4953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「先确认训练与饮食地基」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CE2AE0E9-3E4D-4BB4-942F-DC38E3B4585C}"/>
              </a:ext>
            </a:extLst>
          </ns0:cNvPr>
          <ns0:cNvSpPr>
            <a:spLocks noGrp="1"/>
          </ns0:cNvSpPr>
          <ns0:nvPr/>
        </ns0:nvSpPr>
        <ns0:spPr>
          <a:xfrm>
            <a:off x="762000" y="38004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17" name="">
            <a:extLst>
              <a:ext uri="{FF2B5EF4-FFF2-40B4-BE49-F238E27FC236}">
                <ns2:creationId id="{E09D045F-C171-4F5F-B441-EDC5AA09A0F1}"/>
              </a:ext>
            </a:extLst>
          </ns0:cNvPr>
          <ns0:cNvSpPr>
            <a:spLocks noGrp="1"/>
          </ns0:cNvSpPr>
          <ns0:nvPr/>
        </ns0:nvSpPr>
        <ns0:spPr>
          <a:xfrm>
            <a:off x="933450" y="3733800"/>
            <a:ext cx="2686050" cy="4953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「有疾病或用药请问专业人员」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A5209E8F-025A-42BF-BA46-087D70F71A00}"/>
              </a:ext>
            </a:extLst>
          </ns0:cNvPr>
          <ns0:cNvSpPr>
            <a:spLocks noGrp="1"/>
          </ns0:cNvSpPr>
          <ns0:nvPr/>
        </ns0:nvSpPr>
        <ns0:spPr>
          <a:xfrm>
            <a:off x="4495800" y="1409700"/>
            <a:ext cx="3619500" cy="36195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8E1DB"/>
            </a:solidFill>
            <a:prstDash val="solid"/>
          </a:ln>
        </ns0:spPr>
      </ns0:sp>
      <ns0:sp>
        <ns0:nvSpPr>
          <ns0:cNvPr id="19" name="">
            <a:extLst>
              <a:ext uri="{FF2B5EF4-FFF2-40B4-BE49-F238E27FC236}">
                <ns2:creationId id="{15D3253F-9374-4167-BF43-4B5CF09A19D3}"/>
              </a:ext>
            </a:extLst>
          </ns0:cNvPr>
          <ns0:cNvSpPr>
            <a:spLocks noGrp="1"/>
          </ns0:cNvSpPr>
          <ns0:nvPr/>
        </ns0:nvSpPr>
        <ns0:spPr>
          <a:xfrm>
            <a:off x="4743450" y="1638300"/>
            <a:ext cx="1714500" cy="28575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875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不要说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100F8B7F-D494-4809-8CDA-2D3E4CDFDC17}"/>
              </a:ext>
            </a:extLst>
          </ns0:cNvPr>
          <ns0:cNvSpPr>
            <a:spLocks noGrp="1"/>
          </ns0:cNvSpPr>
          <ns0:nvPr/>
        </ns0:nvSpPr>
        <ns0:spPr>
          <a:xfrm>
            <a:off x="4762500" y="22574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1" name="">
            <a:extLst>
              <a:ext uri="{FF2B5EF4-FFF2-40B4-BE49-F238E27FC236}">
                <ns2:creationId id="{ECC43D5B-C129-4969-8F54-D325598E70E2}"/>
              </a:ext>
            </a:extLst>
          </ns0:cNvPr>
          <ns0:cNvSpPr>
            <a:spLocks noGrp="1"/>
          </ns0:cNvSpPr>
          <ns0:nvPr/>
        </ns0:nvSpPr>
        <ns0:spPr>
          <a:xfrm>
            <a:off x="4933950" y="2190750"/>
            <a:ext cx="2686050" cy="4953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「保证增肌/燃脂/治疗」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6768C5B5-D05F-48CD-9C60-C92D6DFBB358}"/>
              </a:ext>
            </a:extLst>
          </ns0:cNvPr>
          <ns0:cNvSpPr>
            <a:spLocks noGrp="1"/>
          </ns0:cNvSpPr>
          <ns0:nvPr/>
        </ns0:nvSpPr>
        <ns0:spPr>
          <a:xfrm>
            <a:off x="4762500" y="27717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3" name="">
            <a:extLst>
              <a:ext uri="{FF2B5EF4-FFF2-40B4-BE49-F238E27FC236}">
                <ns2:creationId id="{EFA39D1A-40DB-4DCE-A987-EAC8B1EA1B8D}"/>
              </a:ext>
            </a:extLst>
          </ns0:cNvPr>
          <ns0:cNvSpPr>
            <a:spLocks noGrp="1"/>
          </ns0:cNvSpPr>
          <ns0:nvPr/>
        </ns0:nvSpPr>
        <ns0:spPr>
          <a:xfrm>
            <a:off x="4933950" y="2705100"/>
            <a:ext cx="2686050" cy="4953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「任何人都适合」</a:t>
            </a:r>
          </a:p>
        </ns0:txBody>
      </ns0:sp>
      <ns0:sp>
        <ns0:nvSpPr>
          <ns0:cNvPr id="24" name="">
            <a:extLst>
              <a:ext uri="{FF2B5EF4-FFF2-40B4-BE49-F238E27FC236}">
                <ns2:creationId id="{218884DB-7097-4F36-8619-3D28D92C586A}"/>
              </a:ext>
            </a:extLst>
          </ns0:cNvPr>
          <ns0:cNvSpPr>
            <a:spLocks noGrp="1"/>
          </ns0:cNvSpPr>
          <ns0:nvPr/>
        </ns0:nvSpPr>
        <ns0:spPr>
          <a:xfrm>
            <a:off x="4762500" y="328612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5" name="">
            <a:extLst>
              <a:ext uri="{FF2B5EF4-FFF2-40B4-BE49-F238E27FC236}">
                <ns2:creationId id="{0E3B8F98-13EA-4203-832B-5FE9D9F9B2F2}"/>
              </a:ext>
            </a:extLst>
          </ns0:cNvPr>
          <ns0:cNvSpPr>
            <a:spLocks noGrp="1"/>
          </ns0:cNvSpPr>
          <ns0:nvPr/>
        </ns0:nvSpPr>
        <ns0:spPr>
          <a:xfrm>
            <a:off x="4933950" y="3219450"/>
            <a:ext cx="2686050" cy="4953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「越高剂量越好」</a:t>
            </a:r>
          </a:p>
        </ns0:txBody>
      </ns0:sp>
      <ns0:sp>
        <ns0:nvSpPr>
          <ns0:cNvPr id="26" name="">
            <a:extLst>
              <a:ext uri="{FF2B5EF4-FFF2-40B4-BE49-F238E27FC236}">
                <ns2:creationId id="{D650743F-22A6-4702-96E3-FB4A4B5420DC}"/>
              </a:ext>
            </a:extLst>
          </ns0:cNvPr>
          <ns0:cNvSpPr>
            <a:spLocks noGrp="1"/>
          </ns0:cNvSpPr>
          <ns0:nvPr/>
        </ns0:nvSpPr>
        <ns0:spPr>
          <a:xfrm>
            <a:off x="4762500" y="3800475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231E"/>
          </a:solidFill>
        </ns0:spPr>
      </ns0:sp>
      <ns0:sp>
        <ns0:nvSpPr>
          <ns0:cNvPr id="27" name="">
            <a:extLst>
              <a:ext uri="{FF2B5EF4-FFF2-40B4-BE49-F238E27FC236}">
                <ns2:creationId id="{E78CE6E4-5886-47A2-90C1-5AE984826772}"/>
              </a:ext>
            </a:extLst>
          </ns0:cNvPr>
          <ns0:cNvSpPr>
            <a:spLocks noGrp="1"/>
          </ns0:cNvSpPr>
          <ns0:nvPr/>
        </ns0:nvSpPr>
        <ns0:spPr>
          <a:xfrm>
            <a:off x="4933950" y="3733800"/>
            <a:ext cx="2686050" cy="4953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「有文献 = 一定有效」</a:t>
            </a:r>
          </a:p>
        </ns0:txBody>
      </ns0:sp>
      <ns0:sp>
        <ns0:nvSpPr>
          <ns0:cNvPr id="28" name="">
            <a:extLst>
              <a:ext uri="{FF2B5EF4-FFF2-40B4-BE49-F238E27FC236}">
                <ns2:creationId id="{7BD15997-059F-4585-8ABF-2BAB4F1EB826}"/>
              </a:ext>
            </a:extLst>
          </ns0:cNvPr>
          <ns0:cNvSpPr>
            <a:spLocks noGrp="1"/>
          </ns0:cNvSpPr>
          <ns0:nvPr/>
        </ns0:nvSpPr>
        <ns0:spPr>
          <a:xfrm>
            <a:off x="666750" y="5572125"/>
            <a:ext cx="7239000" cy="342900"/>
          </a:xfrm>
          <a:prstGeom prst="rect">
            <a:avLst/>
          </a:prstGeom>
        </ns0:spPr>
        <ns0:txBody>
          <a:bodyPr wrap="square" lIns="0" tIns="0" rIns="0" bIns="0"/>
          <a:lstStyle/>
          <a:p>
            <a:pPr>
              <a:defRPr sz="180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最好的产品不是替读者买补剂，而是让读者知道什么时候不用买。</a:t>
            </a:r>
          </a:p>
        </ns0:txBody>
      </ns0:sp>
    </ns0:spTree>
    <ns0:extLst>
      <ns0:ext uri="{BB962C8B-B14F-4D97-AF65-F5344CB8AC3E}">
        <ns3:creationId val="1013166446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2026-05-27T03:19:14.2860000Z</dcterms:created>
  <dcterms:modified xsi:type="dcterms:W3CDTF">2026-05-27T03:19:14.2860000Z</dcterms:modified>
</coreProperties>
</file>