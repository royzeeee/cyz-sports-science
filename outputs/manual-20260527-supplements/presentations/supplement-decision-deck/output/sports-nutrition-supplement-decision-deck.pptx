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d36fc41f34b66" /><Relationship Type="http://schemas.openxmlformats.org/officeDocument/2006/relationships/extended-properties" Target="/docProps/app.xml" Id="R807a7526ed424c29" /><Relationship Type="http://schemas.openxmlformats.org/officeDocument/2006/relationships/officeDocument" Target="/ppt/presentation.xml" Id="R74dfab2482ad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752c8ea234708"/>
  </p:sldMasterIdLst>
  <p:notesMasterIdLst>
    <p:notesMasterId xmlns:r="http://schemas.openxmlformats.org/officeDocument/2006/relationships" r:id="R5acdac67e39d496a"/>
  </p:notesMasterIdLst>
  <p:sldIdLst>
    <p:sldId xmlns:r="http://schemas.openxmlformats.org/officeDocument/2006/relationships" id="256" r:id="Re130ed43999c4183"/>
    <p:sldId xmlns:r="http://schemas.openxmlformats.org/officeDocument/2006/relationships" id="257" r:id="Rb2d565f8b6de4cab"/>
    <p:sldId xmlns:r="http://schemas.openxmlformats.org/officeDocument/2006/relationships" id="258" r:id="Ra485e693302e439f"/>
    <p:sldId xmlns:r="http://schemas.openxmlformats.org/officeDocument/2006/relationships" id="259" r:id="R9aee5e8979074f8e"/>
    <p:sldId xmlns:r="http://schemas.openxmlformats.org/officeDocument/2006/relationships" id="260" r:id="R93635f692c854cee"/>
    <p:sldId xmlns:r="http://schemas.openxmlformats.org/officeDocument/2006/relationships" id="261" r:id="Rd22d4f87c6eb4834"/>
    <p:sldId xmlns:r="http://schemas.openxmlformats.org/officeDocument/2006/relationships" id="262" r:id="R4ad0c0abf37e4475"/>
    <p:sldId xmlns:r="http://schemas.openxmlformats.org/officeDocument/2006/relationships" id="263" r:id="Ra9c6578689644c8c"/>
    <p:sldId xmlns:r="http://schemas.openxmlformats.org/officeDocument/2006/relationships" id="264" r:id="R4530175c1b86460a"/>
    <p:sldId xmlns:r="http://schemas.openxmlformats.org/officeDocument/2006/relationships" id="265" r:id="R43d7e76f083e404e"/>
    <p:sldId xmlns:r="http://schemas.openxmlformats.org/officeDocument/2006/relationships" id="266" r:id="R29df0be488c841f8"/>
    <p:sldId xmlns:r="http://schemas.openxmlformats.org/officeDocument/2006/relationships" id="267" r:id="Re7c1193a257a4b36"/>
    <p:sldId xmlns:r="http://schemas.openxmlformats.org/officeDocument/2006/relationships" id="268" r:id="R631bc3e70fc944a5"/>
    <p:sldId xmlns:r="http://schemas.openxmlformats.org/officeDocument/2006/relationships" id="269" r:id="R09ed9939d4ed44a5"/>
    <p:sldId xmlns:r="http://schemas.openxmlformats.org/officeDocument/2006/relationships" id="270" r:id="R251f71bd49d74682"/>
    <p:sldId xmlns:r="http://schemas.openxmlformats.org/officeDocument/2006/relationships" id="271" r:id="R6ed9a3654f39442f"/>
    <p:sldId xmlns:r="http://schemas.openxmlformats.org/officeDocument/2006/relationships" id="272" r:id="R0bcffa502ad64297"/>
    <p:sldId xmlns:r="http://schemas.openxmlformats.org/officeDocument/2006/relationships" id="273" r:id="R294b3fe02b854d12"/>
    <p:sldId xmlns:r="http://schemas.openxmlformats.org/officeDocument/2006/relationships" id="274" r:id="Rf460388ebf784d64"/>
    <p:sldId xmlns:r="http://schemas.openxmlformats.org/officeDocument/2006/relationships" id="275" r:id="R7e16be63a685443b"/>
    <p:sldId xmlns:r="http://schemas.openxmlformats.org/officeDocument/2006/relationships" id="276" r:id="R62ebc3626dc2450d"/>
    <p:sldId xmlns:r="http://schemas.openxmlformats.org/officeDocument/2006/relationships" id="277" r:id="R1abb1e0180c744d2"/>
    <p:sldId xmlns:r="http://schemas.openxmlformats.org/officeDocument/2006/relationships" id="278" r:id="Ra4b2d9c56bbd46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752c8ea234708" /><Relationship Type="http://schemas.openxmlformats.org/officeDocument/2006/relationships/theme" Target="/ppt/theme/theme1.xml" Id="Ra86b676edd294883" /><Relationship Type="http://schemas.openxmlformats.org/officeDocument/2006/relationships/notesMaster" Target="/ppt/notesMasters/notesMaster1.xml" Id="R5acdac67e39d496a" /><Relationship Type="http://schemas.openxmlformats.org/officeDocument/2006/relationships/presProps" Target="/ppt/presProps.xml" Id="Re02c7a43c1f347dd" /><Relationship Type="http://schemas.openxmlformats.org/officeDocument/2006/relationships/viewProps" Target="/ppt/viewProps.xml" Id="R59a96742f2664da1" /><Relationship Type="http://schemas.openxmlformats.org/officeDocument/2006/relationships/tableStyles" Target="/ppt/tableStyles.xml" Id="Rd9cdc02744f14f03" /><Relationship Type="http://schemas.openxmlformats.org/officeDocument/2006/relationships/slide" Target="/ppt/slides/slide1.xml" Id="Re130ed43999c4183" /><Relationship Type="http://schemas.openxmlformats.org/officeDocument/2006/relationships/slide" Target="/ppt/slides/slide2.xml" Id="Rb2d565f8b6de4cab" /><Relationship Type="http://schemas.openxmlformats.org/officeDocument/2006/relationships/slide" Target="/ppt/slides/slide3.xml" Id="Ra485e693302e439f" /><Relationship Type="http://schemas.openxmlformats.org/officeDocument/2006/relationships/slide" Target="/ppt/slides/slide4.xml" Id="R9aee5e8979074f8e" /><Relationship Type="http://schemas.openxmlformats.org/officeDocument/2006/relationships/slide" Target="/ppt/slides/slide5.xml" Id="R93635f692c854cee" /><Relationship Type="http://schemas.openxmlformats.org/officeDocument/2006/relationships/slide" Target="/ppt/slides/slide6.xml" Id="Rd22d4f87c6eb4834" /><Relationship Type="http://schemas.openxmlformats.org/officeDocument/2006/relationships/slide" Target="/ppt/slides/slide7.xml" Id="R4ad0c0abf37e4475" /><Relationship Type="http://schemas.openxmlformats.org/officeDocument/2006/relationships/slide" Target="/ppt/slides/slide8.xml" Id="Ra9c6578689644c8c" /><Relationship Type="http://schemas.openxmlformats.org/officeDocument/2006/relationships/slide" Target="/ppt/slides/slide9.xml" Id="R4530175c1b86460a" /><Relationship Type="http://schemas.openxmlformats.org/officeDocument/2006/relationships/slide" Target="/ppt/slides/slide10.xml" Id="R43d7e76f083e404e" /><Relationship Type="http://schemas.openxmlformats.org/officeDocument/2006/relationships/slide" Target="/ppt/slides/slide11.xml" Id="R29df0be488c841f8" /><Relationship Type="http://schemas.openxmlformats.org/officeDocument/2006/relationships/slide" Target="/ppt/slides/slide12.xml" Id="Re7c1193a257a4b36" /><Relationship Type="http://schemas.openxmlformats.org/officeDocument/2006/relationships/slide" Target="/ppt/slides/slide13.xml" Id="R631bc3e70fc944a5" /><Relationship Type="http://schemas.openxmlformats.org/officeDocument/2006/relationships/slide" Target="/ppt/slides/slide14.xml" Id="R09ed9939d4ed44a5" /><Relationship Type="http://schemas.openxmlformats.org/officeDocument/2006/relationships/slide" Target="/ppt/slides/slide15.xml" Id="R251f71bd49d74682" /><Relationship Type="http://schemas.openxmlformats.org/officeDocument/2006/relationships/slide" Target="/ppt/slides/slide16.xml" Id="R6ed9a3654f39442f" /><Relationship Type="http://schemas.openxmlformats.org/officeDocument/2006/relationships/slide" Target="/ppt/slides/slide17.xml" Id="R0bcffa502ad64297" /><Relationship Type="http://schemas.openxmlformats.org/officeDocument/2006/relationships/slide" Target="/ppt/slides/slide18.xml" Id="R294b3fe02b854d12" /><Relationship Type="http://schemas.openxmlformats.org/officeDocument/2006/relationships/slide" Target="/ppt/slides/slide19.xml" Id="Rf460388ebf784d64" /><Relationship Type="http://schemas.openxmlformats.org/officeDocument/2006/relationships/slide" Target="/ppt/slides/slide20.xml" Id="R7e16be63a685443b" /><Relationship Type="http://schemas.openxmlformats.org/officeDocument/2006/relationships/slide" Target="/ppt/slides/slide21.xml" Id="R62ebc3626dc2450d" /><Relationship Type="http://schemas.openxmlformats.org/officeDocument/2006/relationships/slide" Target="/ppt/slides/slide22.xml" Id="R1abb1e0180c744d2" /><Relationship Type="http://schemas.openxmlformats.org/officeDocument/2006/relationships/slide" Target="/ppt/slides/slide23.xml" Id="Ra4b2d9c56bbd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101a182166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523177d7f43ad" /><Relationship Type="http://schemas.openxmlformats.org/officeDocument/2006/relationships/notesMaster" Target="/ppt/notesMasters/notesMaster1.xml" Id="R4d37060e333740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6f6875cac4c25" /><Relationship Type="http://schemas.openxmlformats.org/officeDocument/2006/relationships/notesMaster" Target="/ppt/notesMasters/notesMaster1.xml" Id="R2fc204d9ac95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15b15190447ec" /><Relationship Type="http://schemas.openxmlformats.org/officeDocument/2006/relationships/notesMaster" Target="/ppt/notesMasters/notesMaster1.xml" Id="Re7d6999edb0d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0eb0311344243" /><Relationship Type="http://schemas.openxmlformats.org/officeDocument/2006/relationships/notesMaster" Target="/ppt/notesMasters/notesMaster1.xml" Id="R2279e4b3f1fc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49902f05b40a7" /><Relationship Type="http://schemas.openxmlformats.org/officeDocument/2006/relationships/notesMaster" Target="/ppt/notesMasters/notesMaster1.xml" Id="R2146ec5797b7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90f53ef634810" /><Relationship Type="http://schemas.openxmlformats.org/officeDocument/2006/relationships/notesMaster" Target="/ppt/notesMasters/notesMaster1.xml" Id="R1277f74b42fa44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7a6c88f8e0488c" /><Relationship Type="http://schemas.openxmlformats.org/officeDocument/2006/relationships/notesMaster" Target="/ppt/notesMasters/notesMaster1.xml" Id="R190e3333d464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0e475fcde84332" /><Relationship Type="http://schemas.openxmlformats.org/officeDocument/2006/relationships/notesMaster" Target="/ppt/notesMasters/notesMaster1.xml" Id="R7f15170bf15b4a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bde210c69d42c5" /><Relationship Type="http://schemas.openxmlformats.org/officeDocument/2006/relationships/notesMaster" Target="/ppt/notesMasters/notesMaster1.xml" Id="Rd4760e7f0a43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1814f3f6dc48ab" /><Relationship Type="http://schemas.openxmlformats.org/officeDocument/2006/relationships/notesMaster" Target="/ppt/notesMasters/notesMaster1.xml" Id="Ra03479cc91444d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1cb68174844db2" /><Relationship Type="http://schemas.openxmlformats.org/officeDocument/2006/relationships/notesMaster" Target="/ppt/notesMasters/notesMaster1.xml" Id="Rd27cb62fdb3042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8535f2ebbc4f03" /><Relationship Type="http://schemas.openxmlformats.org/officeDocument/2006/relationships/notesMaster" Target="/ppt/notesMasters/notesMaster1.xml" Id="R41dfd7f5a10248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8581532b0a437a" /><Relationship Type="http://schemas.openxmlformats.org/officeDocument/2006/relationships/notesMaster" Target="/ppt/notesMasters/notesMaster1.xml" Id="Ra1346fee196042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177ce610ef44b2" /><Relationship Type="http://schemas.openxmlformats.org/officeDocument/2006/relationships/notesMaster" Target="/ppt/notesMasters/notesMaster1.xml" Id="Rd762e50b34e04b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165ce57165453c" /><Relationship Type="http://schemas.openxmlformats.org/officeDocument/2006/relationships/notesMaster" Target="/ppt/notesMasters/notesMaster1.xml" Id="R0c5bc0a40fdd4b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f914e1f98c403c" /><Relationship Type="http://schemas.openxmlformats.org/officeDocument/2006/relationships/notesMaster" Target="/ppt/notesMasters/notesMaster1.xml" Id="Rf93a879d4b3343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e1d55d37034b71" /><Relationship Type="http://schemas.openxmlformats.org/officeDocument/2006/relationships/notesMaster" Target="/ppt/notesMasters/notesMaster1.xml" Id="R02012367124840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81d84f74ec45a3" /><Relationship Type="http://schemas.openxmlformats.org/officeDocument/2006/relationships/notesMaster" Target="/ppt/notesMasters/notesMaster1.xml" Id="Rf675c88ea13642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2813a403724dac" /><Relationship Type="http://schemas.openxmlformats.org/officeDocument/2006/relationships/notesMaster" Target="/ppt/notesMasters/notesMaster1.xml" Id="Rb2183d59ee3d43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72168a09de46af" /><Relationship Type="http://schemas.openxmlformats.org/officeDocument/2006/relationships/notesMaster" Target="/ppt/notesMasters/notesMaster1.xml" Id="Rcc0c4171b5e04a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7959dd3df94b3b" /><Relationship Type="http://schemas.openxmlformats.org/officeDocument/2006/relationships/notesMaster" Target="/ppt/notesMasters/notesMaster1.xml" Id="R0a1fdbac431e4a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24228ee76b4ca3" /><Relationship Type="http://schemas.openxmlformats.org/officeDocument/2006/relationships/notesMaster" Target="/ppt/notesMasters/notesMaster1.xml" Id="Rac659c31a9164b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37d884d8fb4e29" /><Relationship Type="http://schemas.openxmlformats.org/officeDocument/2006/relationships/notesMaster" Target="/ppt/notesMasters/notesMaster1.xml" Id="Re84e00962d89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87fb74a8348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1aa9cf9e054501" /><Relationship Type="http://schemas.openxmlformats.org/officeDocument/2006/relationships/slideLayout" Target="/ppt/slideLayouts/slideLayout2.xml" Id="R5c56ca065579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6ca065579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3e3ceee1b4682" /><Relationship Type="http://schemas.openxmlformats.org/officeDocument/2006/relationships/notesSlide" Target="/ppt/notesSlides/notesSlide1.xml" Id="R4bb4cc1ea60041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73e85e0d54dd9" /><Relationship Type="http://schemas.openxmlformats.org/officeDocument/2006/relationships/notesSlide" Target="/ppt/notesSlides/notesSlide2.xml" Id="R9cc2bd9667aa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e874fdebb49c6" /><Relationship Type="http://schemas.openxmlformats.org/officeDocument/2006/relationships/notesSlide" Target="/ppt/notesSlides/notesSlide3.xml" Id="Re89ee9b978da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87bc9e4b0417c" /><Relationship Type="http://schemas.openxmlformats.org/officeDocument/2006/relationships/notesSlide" Target="/ppt/notesSlides/notesSlide4.xml" Id="R9d3842a1dcf943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60dd9adaf4229" /><Relationship Type="http://schemas.openxmlformats.org/officeDocument/2006/relationships/notesSlide" Target="/ppt/notesSlides/notesSlide5.xml" Id="R05f175a8aefb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593138cfd6408c" /><Relationship Type="http://schemas.openxmlformats.org/officeDocument/2006/relationships/notesSlide" Target="/ppt/notesSlides/notesSlide6.xml" Id="R507e7eb3696f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5d2166a634993" /><Relationship Type="http://schemas.openxmlformats.org/officeDocument/2006/relationships/notesSlide" Target="/ppt/notesSlides/notesSlide7.xml" Id="Rc3d2d6c94840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6235aeab44a61" /><Relationship Type="http://schemas.openxmlformats.org/officeDocument/2006/relationships/notesSlide" Target="/ppt/notesSlides/notesSlide8.xml" Id="R8b1e4e1bb96043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e1362cea2d4fcf" /><Relationship Type="http://schemas.openxmlformats.org/officeDocument/2006/relationships/notesSlide" Target="/ppt/notesSlides/notesSlide9.xml" Id="R7a423635f8224e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c09395a3d4fb9" /><Relationship Type="http://schemas.openxmlformats.org/officeDocument/2006/relationships/notesSlide" Target="/ppt/notesSlides/notesSlide10.xml" Id="R4db3e0059bc246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aa2d2cc4a4f69" /><Relationship Type="http://schemas.openxmlformats.org/officeDocument/2006/relationships/notesSlide" Target="/ppt/notesSlides/notesSlide11.xml" Id="R69bfa1afb3fc4c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401ffd55a4944" /><Relationship Type="http://schemas.openxmlformats.org/officeDocument/2006/relationships/notesSlide" Target="/ppt/notesSlides/notesSlide12.xml" Id="R07d3bf57fcc44c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6f1c0d8c84ed5" /><Relationship Type="http://schemas.openxmlformats.org/officeDocument/2006/relationships/notesSlide" Target="/ppt/notesSlides/notesSlide13.xml" Id="R45aee3cc86a545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11930fb8549a7" /><Relationship Type="http://schemas.openxmlformats.org/officeDocument/2006/relationships/notesSlide" Target="/ppt/notesSlides/notesSlide14.xml" Id="R0c369e60658448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9d3021651492c" /><Relationship Type="http://schemas.openxmlformats.org/officeDocument/2006/relationships/notesSlide" Target="/ppt/notesSlides/notesSlide15.xml" Id="R8b493e901d3641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c437a88d04969" /><Relationship Type="http://schemas.openxmlformats.org/officeDocument/2006/relationships/notesSlide" Target="/ppt/notesSlides/notesSlide16.xml" Id="Rcad70177f34e43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46e00eab44608" /><Relationship Type="http://schemas.openxmlformats.org/officeDocument/2006/relationships/notesSlide" Target="/ppt/notesSlides/notesSlide17.xml" Id="R3640e37a8f4647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ac3635ac34a8d" /><Relationship Type="http://schemas.openxmlformats.org/officeDocument/2006/relationships/notesSlide" Target="/ppt/notesSlides/notesSlide18.xml" Id="Rcc7f742169d94a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65d8df32f4905" /><Relationship Type="http://schemas.openxmlformats.org/officeDocument/2006/relationships/notesSlide" Target="/ppt/notesSlides/notesSlide19.xml" Id="R6082797be5d44d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e42f19d644d64" /><Relationship Type="http://schemas.openxmlformats.org/officeDocument/2006/relationships/notesSlide" Target="/ppt/notesSlides/notesSlide20.xml" Id="R929783d48bf244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77bb765134bbc" /><Relationship Type="http://schemas.openxmlformats.org/officeDocument/2006/relationships/notesSlide" Target="/ppt/notesSlides/notesSlide21.xml" Id="R6eed3062ef9e43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75aaea13f4782" /><Relationship Type="http://schemas.openxmlformats.org/officeDocument/2006/relationships/notesSlide" Target="/ppt/notesSlides/notesSlide22.xml" Id="R96a114bdd54343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4a9e6c60a54f89" /><Relationship Type="http://schemas.openxmlformats.org/officeDocument/2006/relationships/notesSlide" Target="/ppt/notesSlides/notesSlide23.xml" Id="R5507550a9af54a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4EA03-54DE-426B-9DE7-0E0C8A58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2EB69-2289-4CA0-A0F0-1C772148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AF8"/>
              </a:gs>
              <a:gs pos="58000">
                <a:srgbClr val="E7F2EC"/>
              </a:gs>
              <a:gs pos="100000">
                <a:srgbClr val="F9F4E6"/>
              </a:gs>
            </a:gsLst>
            <a:lin ang="8100000"/>
          </a:gra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BB138-AACB-4E28-8C5D-7FCFF23E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685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1CE27-0D4A-4D20-B07E-70068C5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SPORTS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55746-6289-46E9-AF0E-1CFECCE3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666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補劑決策簡報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C31B1-4B06-40EB-9A7E-3B142A7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適用人群、不適用人群、核心用途與文獻來源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9D033-FD9C-4769-827D-E4647DF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121AC-48C6-453D-8191-C9400F8F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設計用途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DA0FA-6823-4B00-81C3-FB4027DF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知識博主、課程、付費資訊產品、補劑避坑內容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F0B07-2ED5-4B5B-B412-A3F2F24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39D8C-9268-45FC-A09D-DD24602B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證據優先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3DC39-4759-428D-AC22-CB8A7B7A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59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優先採用 IOC / AIS / ISSN / ACSM / meta-analysis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AFEC6-F90F-4BC2-BE3B-181B42F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1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03C1A-3AFF-42CF-A2D2-67962CB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763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E2CD"/>
                </a:solidFill>
                <a:latin typeface="Aptos"/>
                <a:ea typeface="Aptos"/>
                <a:cs typeface="Aptos"/>
              </a:defRPr>
            </a:pPr>
            <a:r>
              <a:t>一句話定位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79919-DDD0-4957-BDDC-D81DD124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3143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補劑不是地基；訓練、飲食、睡眠才是。補劑只在對的情境放大結果。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ACC33-BB72-42B1-8103-F92B22C6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FD0C8"/>
                </a:solidFill>
                <a:latin typeface="Aptos"/>
                <a:ea typeface="Aptos"/>
                <a:cs typeface="Aptos"/>
              </a:defRPr>
            </a:pPr>
            <a:r>
              <a:t>Version 2026-05-27</a:t>
            </a:r>
          </a:p>
        </p:txBody>
      </p:sp>
    </p:spTree>
    <p:extLst>
      <p:ext uri="{BB962C8B-B14F-4D97-AF65-F5344CB8AC3E}">
        <p14:creationId xmlns:p14="http://schemas.microsoft.com/office/powerpoint/2010/main" val="63387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89159-8C89-4E9A-92A3-6C0707D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07DC-F7E7-498A-AB89-5CC5F75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08970-F349-4BA1-A8F5-8160589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補劑簡報｜決策框架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A9682-4614-4C9A-B3E5-E1045A8E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先用證據等級，而不是用行銷熱度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D6843-8E4C-4E7F-A9CE-F88F20B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36151-D562-4B66-82E3-7BAA66C5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F2FAE-80C1-4665-AB3C-8D0E5098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IOC consensus statement, Br J Sports Med, 2018,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AIS Sports Supplement Framework / Group A, Australian Institute of Sport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position stands: creatine, caffeine, omega-3, beta-alanine, sodium bicarbonate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66B4-5ECB-43A6-B119-236DD76A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7572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4897E-4589-49AF-BE74-F1D545E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6DF38-9A18-4792-AF88-D74422B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8BD41-6B8D-4174-88D2-1BB3DF1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F5A60-F899-4D98-A461-FC3124F4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主力補劑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63988-7D22-4F44-8FE1-BD62F26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0020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肌酸、蛋白粉、咖啡因、硝酸鹽、beta-alanine、碳酸氫鈉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5FAA5-088B-4BF3-9DB3-7335DEB9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可做主內容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653F3-9B58-42DA-B52C-F29CCF3E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7572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62AA8-C897-429C-99E9-33732C16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0AF14-CABB-4B2A-B521-F0C3DDD4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677EE-4888-46D8-BD0C-4162374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9785E-68E5-4551-9684-BD54ECE3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情境補劑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468EC-B38F-4EC7-9D5C-EA535585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omega-3、citrulline、HMB、tart cherry/polyphenols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D6A2C-BDFB-4767-8856-1134A74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要講族群與目的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ED733-9886-4D94-8BBC-3298C674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7572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5B688-F64B-47DD-8669-45A3AC5E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E1DA9-F9E9-4E8B-831D-D90B545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A8569-54D2-4ED7-A9A5-9EB58D0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24D25-C450-4626-BA44-EC0AB436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謹慎補劑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EB6C5-FEA4-4750-AF19-D904EBD1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8140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glutamine、GABA、一般抗氧化補劑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8818D0-E8C2-4973-AB6E-EFE8325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適合做避坑內容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35006-0693-48AE-8BF9-BCB792B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7572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55F3C-A0E2-4998-B021-63E6DFC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9443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1EBCD-C870-46FE-A784-69A220A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28B505-179F-4C39-9707-CDE2C0DC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8390E6-294A-4F19-B968-AB7327A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不建議包裝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03E727-D621-4E2E-A97C-CB3A206A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7200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宣稱過強、成分不明、多成分刺激型產品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0F466-79EE-496D-8D4D-D86B4EB3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38675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高風險/低可信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5ED4D6-95B9-4247-88AA-C7466F7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商業化原則：賣判斷框架，不賣「神效承諾」。</a:t>
            </a:r>
          </a:p>
        </p:txBody>
      </p:sp>
    </p:spTree>
    <p:extLst>
      <p:ext uri="{BB962C8B-B14F-4D97-AF65-F5344CB8AC3E}">
        <p14:creationId xmlns:p14="http://schemas.microsoft.com/office/powerpoint/2010/main" val="1053054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6B898-BAFD-40C8-B3DD-927DF7FA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03005-E15B-43FA-98CD-AEB3741D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F6960-6A25-45AB-8A7E-E575DB0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補劑簡報｜文獻真實性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F30FC-D68F-4B65-A18F-63867A07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來源核對：只保留可追溯文獻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4B4C1-E039-4B8E-9940-4A062F4F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646F5-6A91-4E9B-ACF5-C051209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19705-0413-4DDD-A189-97DC492E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PubMed / PMC records were checked for PMID, PMCID or DOI traceability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NIH Office of Dietary Supplements pages were used for zinc and multivitamin safety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/ IOC / ISSN / ACSM were prioritized for consensus-level sport nutrition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A7ADB-6901-4845-93FD-226CF2C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6771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AD7AD-C045-4EB3-87F1-B12A6129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已核對來源類型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77B39-B53D-461C-AF19-90342CC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97384-BAF8-435D-822F-C8065460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640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PubMed / PMC：有 PMID、PMCID 或 DOI 可回查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224BA-98A4-4D07-A94D-A3D9971B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015E4-A234-43AE-9303-0989AF69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640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官方機構：NIH ODS、AIS、IOC、ACSM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BB3D7-8211-440A-A61E-F3DC2A39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C1498-3544-46E9-9A35-252150FC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640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學會立場聲明：ISSN position 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7C253-CACE-4BFE-936D-207F8FD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FDC49-3DF4-423A-9419-D393F9B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640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刪除或替換：無法穩定追溯的年份、期刊或泛稱引用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6B315-15A9-4BBA-825D-A974B63C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6BCB5-12A1-4ADF-BF65-82A12A2B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新增微量營養素引用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F9F48-E989-48B0-B708-646551D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鋅片：NIH ODS Zinc Fact Sheet、IOC supplement consensus、AIS Group A / zinc。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4461E-909A-48BE-9643-BE157E97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複合維生素：NIH ODS Multivitamin/mineral Fact Sheet、IOC supplement consensus、AIS framework。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1980E-8CAB-4FC5-98DF-EEF3029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使用提醒：PPT 內的來源文字刻意保留 PMID / PMCID / DOI / 官方頁名稱，方便你未來整理成知識庫。</a:t>
            </a:r>
          </a:p>
        </p:txBody>
      </p:sp>
    </p:spTree>
    <p:extLst>
      <p:ext uri="{BB962C8B-B14F-4D97-AF65-F5344CB8AC3E}">
        <p14:creationId xmlns:p14="http://schemas.microsoft.com/office/powerpoint/2010/main" val="2011112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66274-6641-4F2C-8B34-AC8BB14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B4641-3714-40CE-8EA2-64656B70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AA7C0-D869-4A75-9B29-1AABCBE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補劑簡報｜快速地圖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D58C1-BD53-4141-913C-3E48F97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補劑總覽：先問目的，再問產品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08A92-8114-4734-B6AD-9C59694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4C742-C07D-4CD3-BBEE-7488AEB9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89EF2-73F6-451E-80A1-30AB6079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AIS Group A: supported for specific sport situations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2018: supplement use must be scenario-based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position stands: ingredient-specific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3BA06-B7CD-4963-BD48-80EC7E4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6771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5CD77-5440-4E54-B9EF-7645E193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4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E9626-BEE2-4143-887C-76ACF1CC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430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優先補劑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31A2A-0BD7-4D39-82A1-3972CFB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43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最適合人群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A38F8-E4DC-42F0-9982-7FBD9D33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B39AB-B393-4FE6-B876-F530F1B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增肌/力量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69C30-900C-4864-89CC-7CB53F40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肌酸、蛋白粉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5CD84-5B72-4BED-B17B-2B9FE7F9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抗阻訓練者、蛋白不足者、素食者、老年人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7C767-ECAC-4E27-86E7-9D3E5441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35725-B13E-4220-8AB2-C6A3424B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耐力/高強度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04CAD-D026-41FD-BEEC-69F8D448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52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咖啡因、硝酸鹽、beta-alanine、碳酸氫鈉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848D8-400D-46D1-BED2-2389A3BE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耐力、格鬥、球類、反覆衝刺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0EC68-841B-4996-85B8-FF9E3E6E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74FC0-806C-490D-B056-2252E76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恢復/健康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23365-D20F-462F-BEF2-F00E75C8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omega-3、tart cherry、多酚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EB3F1-1176-4E18-9841-7DD62BF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低魚類攝取、高訓練量、比賽密集者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37B47-2CC2-4282-9676-967D155C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4AE0F-C5E9-47C5-BB91-DE5FAA6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57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營養缺口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55701-3EF0-4242-8EBA-7403AC28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95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鋅、維生素D、複合維生素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DBB26-E6B0-4B6E-9FDD-FD2092A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限制飲食、熱量赤字、素食、飲食不規律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B40B0-7A18-4DE8-BAE8-B3BFF76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E2249-2974-4ED5-8A9D-AEDB23EE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672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睡眠/壓力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E1F9B-A729-48C1-92A6-B2A80787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GABA、鎂、L-theanine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E56FA7-861B-4974-A23A-2D7CADAE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睡眠差或壓力高者，但證據較弱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6E2AE-BB6A-4F73-B061-4425EF9A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D138B-7B74-4772-AB66-4DF3425C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387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免疫/腸道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660451-2729-4D8E-88F3-AC55683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38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益生菌、glutamine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3B2C02-D024-41B0-8030-2C545AAF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38700"/>
            <a:ext cx="274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腸胃症狀、旅行、極高壓力或特殊族群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3FF12C-E7A2-4122-A849-8E7DDBFA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最容易賣錯：把 C 級補劑講成 A 級，把 marker 改善講成表現提升。</a:t>
            </a:r>
          </a:p>
        </p:txBody>
      </p:sp>
    </p:spTree>
    <p:extLst>
      <p:ext uri="{BB962C8B-B14F-4D97-AF65-F5344CB8AC3E}">
        <p14:creationId xmlns:p14="http://schemas.microsoft.com/office/powerpoint/2010/main" val="5500630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75E80-F734-4624-BD3E-2996D754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246B8-31F5-458E-84DB-63B96BB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05CE7-30E4-473F-9D0B-8F6FC92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A 級｜力量與增肌最值得優先講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285AA-DC22-4526-A9AB-F8999B51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肌酸 Creatine Monohydrate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71D74-FE81-4AC8-B34A-50D406B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97C8-F5D3-4ABB-A7C0-BD6E0F9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CE049-886E-453F-BCA0-0B4FBC6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Kreider et al. ISSN creatine position stand, JISSN, 2017. PMCID: PMC5469049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 on dietary supplements,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creatine listed for specific performance 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60411-F86D-4ADE-8B32-5E8B67F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86401-E383-44A6-8176-A9F6442C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57D86-0815-49D3-BBF5-94964DFB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BA96-EE93-416F-8449-2B272A49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核心用途：高強度輸出、力量、瘦體重/肌肉量、抗阻訓練適應。常見策略：3-5 g/day；或 loading 20 g/day 5-7 天後維持。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7A36C-4EBA-475F-91D1-170AFF5C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B965B-89CD-454D-A350-63B9470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33D78-4C02-45AA-AB84-6B853EC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增加肌肉 phosphocreatine 儲備，幫助短時間高強度時更快再合成 ATP。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74689-7E32-4F85-ADDA-024A719D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3D591-B805-4D4A-8FA7-FE63DA3C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77265-60D7-4437-9F2A-60B24D9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36344-CFFB-4D8E-8E23-66BC9246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E5710-F475-416C-B27D-D5EAB470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C33C9-806F-45C9-BAC3-011CF10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規律抗阻訓練者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85F0B-EC84-4371-8BAD-235B17C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F3643-C425-4659-8104-B09B87A9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爆發力/衝刺/球類運動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56ED5-BD16-4AB8-9335-8B9ED734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BDE91-57D5-48FC-852E-FC8F3529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素食或肌酸攝取較低者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6E667-4B36-4FD2-9038-716D144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D39A0-D5B0-400A-9C65-E70485A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中老年肌力與功能維持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220AE-3665-4409-BE33-1EA0EFD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877D0-C743-4FDC-9355-E5795162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腎臟疾病或腎功能異常者先問醫師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75FF8-033D-41E9-8411-B86AEB4B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B12944-9B3B-4E0C-8863-802AE0B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需短期嚴格控體重者慎用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873A1-E091-4487-82B7-A9E7BBC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64EF94-AE93-4BCF-81A6-E622BD4A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懷孕、青少年、用藥族群需專業評估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98913-8A71-4500-A8B7-854E439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DD7BB8-353D-4B75-B3D6-2D48282E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期待『不訓練也增肌』者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E15A8-6ECA-4EA5-B925-B37AA1F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93113-4B16-479F-AEBC-D97CEA0B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B8F2B2-D700-4782-A8FB-6F8C84B3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可作主力產品內容。重點是安全性、劑量、體重上升多為水分/瘦體重，不是傷腎神話。</a:t>
            </a:r>
          </a:p>
        </p:txBody>
      </p:sp>
    </p:spTree>
    <p:extLst>
      <p:ext uri="{BB962C8B-B14F-4D97-AF65-F5344CB8AC3E}">
        <p14:creationId xmlns:p14="http://schemas.microsoft.com/office/powerpoint/2010/main" val="16666189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112D6-C365-4B9F-A7C9-4DADE5D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5A6F8-2EE4-406D-BE21-B72B3114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F16C3-E12A-4D7E-85C1-4CCD351C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A 級｜先達到每日總量，再談 timing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847A9-4937-42D6-BC82-A4F7F59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蛋白粉 / EAA / Whey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4D1A1-1B70-4BEA-94C5-5B02741D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20BD6-85BF-4688-A799-85E0CC07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F1905-2161-446A-B7E6-8E331C9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Campbell et al. ISSN protein and exercise position stand, JISSN, 2017. DOI: 10.1186/s12970-017-0177-8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Antonio et al. Protein supplementation misconceptions, 2024. PMCID: PMC11022925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Casuso &amp; Goossens protein timing meta-analysis, 2025. PMID: 40647175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664F6-D6D8-4EF8-AE5B-5CE898C8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C39FA-DDCF-40A0-9EF2-5DB30D02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F4A77-9119-4126-BC22-D534906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4183C-2FA3-49F6-BE67-EE73A780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核心用途：肌肥大、恢復、維持瘦體重。多數運動者常用目標約 1.4-2.0 g/kg/day；熱量赤字或高訓練量可更情境化。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82128-EDAB-4A2E-81BC-3D50B31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65F6D-D5CB-4ABF-8925-47EC625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29C72-09A9-4FC1-9D9D-7EF87B65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提供 EAA / leucine 作為肌肉蛋白質合成原料與訊號，支持修復與生長。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A6DC3-81FA-48CA-9041-8CC26A3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F8BC0-B162-4A32-BBA9-B2B82D6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8A26F-3F69-4C0F-B027-4636A813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148C1-2CFB-4782-BEEC-6CAE800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67382-5508-41D9-AD71-5A4B3E5D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02318-DA1C-4BAC-AA61-E07F793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蛋白質攝取不足者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D193D-3C0C-4918-AF83-052B263B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1BFA9-D9D9-48EB-B666-6B0929C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增肌/減脂期抗阻訓練者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C92C8-9CBA-4FDD-9E86-A9AC6EC2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41E5F-819A-4BB8-A6F6-A09CD7F8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忙碌、食物攝取不方便者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5AEDB-65BF-4FAE-9890-88B4A288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588DF-5512-4F31-BD6D-E3EA4A11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老年或食慾較低者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8B2B8-6656-48F1-BD39-919732C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3EE7D-589A-4C63-A4DB-2CCCFD1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每日蛋白已充足者未必需要粉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1E0C0D-B36A-49AD-8A5D-4735AD5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18385-1D55-4C8A-B319-81C3B408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嚴重腎臟疾病需醫療指導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51D7AD-ED02-49EC-A5BB-D6BAC713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E139F-581A-472D-8492-133CE86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乳糖不耐或乳清過敏者需換來源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A2A7D-FA45-4733-973C-038B3556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EC91D3-A34C-42A2-AE8A-A5632CAD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 BCAA 當完整蛋白替代者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C18924-82AF-4B37-8EC6-FE18D4CC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875186-EBF8-47ED-9AC4-C7E80AE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479490-4914-4100-854A-22FBB723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內容主軸：蛋白粉是工具，不是魔法。先教會讀者算總量，再談每餐分配與訓練前後。</a:t>
            </a:r>
          </a:p>
        </p:txBody>
      </p:sp>
    </p:spTree>
    <p:extLst>
      <p:ext uri="{BB962C8B-B14F-4D97-AF65-F5344CB8AC3E}">
        <p14:creationId xmlns:p14="http://schemas.microsoft.com/office/powerpoint/2010/main" val="11476974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EC1F2-5730-4AD4-990D-97DF8AA9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3E343-AD82-42D0-8803-6967328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1A427-1F1B-4A38-8AB9-AA00C5A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A 級｜急性表現補劑，但要付睡眠成本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5C427-82CA-487A-A663-57AFEF8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咖啡因 Caffeine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23AEE-2845-4704-8A1F-A0DBAE0F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F6E19-0337-4B7D-8C0E-6C66498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D7FEC-8998-4D83-A191-56649EC6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Guest et al. ISSN caffeine and exercise performance, 2021. PMCID: PMC7777221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caffeine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EC2FB-1EDA-4903-976E-D789B76D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A7105-6DC4-4709-BD8B-A2F8B19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581D0-CF41-43E8-A230-89EA0E34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52623-4BFF-44E1-9A88-464B70BF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核心用途：耐力、力量耐力、衝刺、警覺、睡眠不足情境下的認知與表現。常見劑量 3-6 mg/kg，運動前約 60 分鐘。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79646-F759-4F72-8723-F800A4DF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624B7-04E8-4591-AAED-42989B88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2506-9AF2-41D2-BADD-0ECDE28A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拮抗 adenosine receptor，提升中樞警覺、降低主觀疲勞並改善輸出意願。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56DE8-679E-408A-81CF-281A46D0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74095-4C52-4B83-97EF-F0950B89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6A550-DB5C-4A05-8965-B3546F39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4E28C-82F2-43C0-855C-728CF1AC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3CD69-0133-4ED5-8F2C-23DA6FB5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CB424-B802-4B98-B742-9A439FA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耐力與球類運動員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E7E72-D272-47B1-94FE-A84DD12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A822F-FD41-470F-91DD-3D902B5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HIIT / 反覆衝刺訓練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8401D-1D61-46C7-960A-5E1E9FF7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6CFAE-5C6C-4DFB-A0EB-901E690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比賽日需要提升警覺者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A9D04-F7B9-4F4A-B61C-7474BAC6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F8589-9363-4732-B7F1-76365CA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對咖啡因反應良好者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BAFF0-2DF5-4431-AD34-316451D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73FE0-9DC2-41F7-9204-CD71BFC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焦慮、心悸、失眠者慎用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74079D-F33A-4D05-B4D7-112F374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AF6B4-9D43-4825-88C9-568EE6B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下午/晚上訓練且睡眠重要者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1C5C5-AC15-4BC6-925A-7AAAF95E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43E1E3-2D62-4463-9013-4251C79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孕期、高血壓或心律問題需專業評估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1B7C6-15A8-4BB7-B646-C24F9E5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653C50-21DD-4146-A5C4-1518BDF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對刺激物敏感者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0AD6AB-01B9-4F24-AC44-EF32573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5D208-38B4-45EC-AABE-632DCACA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A49534-5A78-4E13-8360-ED53EF5A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很適合做『有效但不能亂用』內容。賣點不是更猛，而是劑量、時間、個體差異與睡眠取捨。</a:t>
            </a:r>
          </a:p>
        </p:txBody>
      </p:sp>
    </p:spTree>
    <p:extLst>
      <p:ext uri="{BB962C8B-B14F-4D97-AF65-F5344CB8AC3E}">
        <p14:creationId xmlns:p14="http://schemas.microsoft.com/office/powerpoint/2010/main" val="5896253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A3292-31E0-4110-8915-E0E57E7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709C6-8354-4C45-AA6B-B2633947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80C60-0D9B-445D-A348-11A7CA2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A-B 級｜運動經濟性與血管-代謝效率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C4BB-13CA-4945-BC0A-73D2ED86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硝酸鹽 / 甜菜根汁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F1FF2-9CA7-42ED-BFFB-7D848027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54C8D-60AA-4E3F-9CA9-7809CB0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2B673-0E6E-4FD1-BCB3-4B0D85A5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Jones dietary nitrate supplementation review, Sports Med, 2014. PMID: 24791915 / PMCID: PMC4008816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Ponce-Davila et al. beetroot juice oxidative stress meta-analysis, 2026. PMID: 41642915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nitrate / beetroot juice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3C53D-6CD0-461D-97B7-C5736BD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95B7C-B5EE-4A81-89FC-6018125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89B3-9A9F-48B1-98DA-38FAA6D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337A0-72E3-4AC3-8BC0-85E6965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核心用途：nitrate-nitrite-NO pathway，降低亞最大運動耗氧成本，可能改善耐力、高強度耐受與血壓/redox 指標。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73966-E4D2-49B5-BF40-C81CF16F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5FB2C-95D0-4F39-B995-B1A1E03B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D2D1A-5CD1-4F84-A12B-787C9B86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nitrate 轉為 nitrite / nitric oxide，影響血管舒張、氧氣利用與運動經濟性。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61044-FA23-4EF9-A404-8AEC5F47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E6264-D6A8-46E5-B761-CC2DFC3C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9EDA9-AEC8-4446-A16B-CF67CBCD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95CB0-E672-42CD-9DC9-4E5217A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8DAE8-4D98-4388-8D78-96A4C48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36FD1-9CBA-4DB5-B2CA-837CE74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耐力跑、單車、划船等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6FA50-9865-4D58-87EC-6C4712D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B52A5-0BC2-47FE-8B0E-5D808B3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中高強度持續或間歇項目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589C7-4FF9-45F9-ACF8-35A7D7BE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32FD5-492C-492C-8DD1-8E263C9E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非菁英或反應較明顯者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DA53A-E46E-4575-BDEF-7C97E742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CBF10-E569-4314-9F37-2E2AD91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希望以食物優先補充者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63671-604F-4A51-9F3C-AD4DD31C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84B32-18AF-40B7-9B90-B15C31B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低血壓或相關用藥者慎用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DB783-D927-49FE-837E-CED357B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B1D924-5565-4637-A714-8A69C1B2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使用抗菌漱口水者可能削弱效果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FA2299-C2D1-4EC5-815C-C5F240E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17BE06-3962-4AA6-9657-A3D5C2D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腸胃敏感者需測試耐受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9684F7-CA90-426A-ABE0-9B055F6E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73CDF5-3754-4CBD-92AC-2EC40F1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期待所有 time trial 都顯著進步者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7341E-86B4-4AC5-8475-7D84E438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43E5A7-9489-47AF-8514-1F79A351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B170B6-0FAB-4799-ABFB-BC1076F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甜菜根汁不是『泵感神水』。主線應講 NO pathway、運動經濟性、劑量標準化與個體反應。</a:t>
            </a:r>
          </a:p>
        </p:txBody>
      </p:sp>
    </p:spTree>
    <p:extLst>
      <p:ext uri="{BB962C8B-B14F-4D97-AF65-F5344CB8AC3E}">
        <p14:creationId xmlns:p14="http://schemas.microsoft.com/office/powerpoint/2010/main" val="15335768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00C82-496E-4DC1-AE87-7B750420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ED54B-04FD-4663-A138-1B583F45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21D5F-4BF1-498A-A118-433862C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A-B 級｜高強度酸鹼緩衝，不是一般增肌必需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047EE-7FB8-478B-A43E-05E281B8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β-丙胺酸 Beta-alanine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7A562-0361-424A-AEC7-197122FF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CBF74-E2B8-4DA0-AC8F-5E45EE8E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9285F-BB2A-47F2-9592-84489BA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beta-alanine position stand, JISSN, 2015. DOI: 10.1186/s12970-015-0090-y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beta-alanine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358B9-B9A7-4650-B277-C54A59D5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48822-69DC-493C-999E-753B5B6D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FD251-3303-4028-8CC9-AE20515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8389B-DE94-4AD6-89B1-DB232DCE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核心用途：提高肌肉 carnosine，增強肌內 H+ 緩衝能力。較適合 1-4 分鐘高強度、反覆衝刺、格鬥、游泳/划船短中距離。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5CA2E-C75C-41A3-A871-228B526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2208E-4FB6-4459-80A5-C00540A7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B9901-DE51-4E3C-942F-58A53D9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β-丙胺酸是 carnosine 合成的限制性前驅物；carnosine 可在肌肉內緩衝 H+。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14619-B397-477F-B18E-0ADCD481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97F2D-E38F-4BD0-8DEA-0815F45C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68EFC-AA30-4D8C-9A1B-18CDA3F1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A224A-1645-4FCB-992D-2BD6007C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6CB6C-6550-47B2-B187-12A4FDF8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530EF-2F0D-48A6-B4D7-1745DE8A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HIIT、格鬥、球類反覆衝刺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FA831-E4EF-4A22-A2E7-DFA4511A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149F1-C094-4C03-9758-AACD8C8F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1-4 分鐘高強度輸出項目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5C3DB-BEA3-4D09-9601-EF32FF1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ABFCE-440E-47BA-B208-219C3689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能接受皮膚刺癢/麻感者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3DE83-1471-4BD4-B841-242EFC7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95A68-10FF-454D-AB45-BBE7450D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願意連續補充數週而非只賽前吃者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0A620-CBBF-4BD6-A015-8C1B0D1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CD71C-7EF8-4CC7-853A-6357249F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純最大肌力或低強度長耐力不優先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DDD92-E2B2-4128-8007-59C1F1BB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F0B34-5B0E-4E35-8020-954201A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對 paresthesia 刺癢感很敏感者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7EC6F-50F3-4541-8D87-7EC12483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91AEC-0D65-4622-9D6E-AF92C7E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期待立即增肌者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2DABFB-B8CF-434A-AFA2-166EC46A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F6A73-8FDE-4EA5-AC87-40AED9DE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把它誤認為碳酸氫鈉者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3E9246-6ABE-40AE-A2B3-F1E2C67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881AAD-9068-4128-9D7E-13185908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D940DF-6CB6-408D-9E0D-37A8047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β-丙胺酸不是碳酸氫鈉。它是提高肌內 carnosine 的補劑，效果偏長期累積，重點是運動項目與補充週期。</a:t>
            </a:r>
          </a:p>
        </p:txBody>
      </p:sp>
    </p:spTree>
    <p:extLst>
      <p:ext uri="{BB962C8B-B14F-4D97-AF65-F5344CB8AC3E}">
        <p14:creationId xmlns:p14="http://schemas.microsoft.com/office/powerpoint/2010/main" val="9307224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23F1D8-E855-4895-ADAD-2E7883C1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AEF2-F455-47EF-9E0A-15CDC059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A9BCA-97E8-4A49-82EF-26ED656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A-B 級｜細胞外緩衝，效果與腸胃耐受綁在一起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DBA18-26EA-452B-977E-89F98D4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碳酸氫鈉 Sodium Bicarbonate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84FF4-E004-45BD-9A35-1BD7BF4C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15E73-2341-4AF1-9344-2C06120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BE9AC-BB32-44C3-A4CB-F32B014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sodium bicarbonate position stand, JISSN, 2021. DOI: 10.1186/s12970-021-00458-w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Group A supplement framework: sodium bicarbonate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77A1D-CCDD-4B36-99AB-3AB803B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ABB12-22C8-452C-96D7-AE1F91FE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A/B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3487-C8B7-4F37-B930-E8A1D60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15F42-EEA2-49E7-9D0A-F4E1E44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核心用途：提高血液 bicarbonate，增強細胞外 H+ 緩衝能力。較適合反覆高強度、格鬥、游泳/划船短中距離等項目。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B976B-F122-4E71-8611-BC85AA7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6DC6B-0073-4952-A8BD-4310E3F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5BA8A-59D0-43FA-8897-61EF173D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提高細胞外 bicarbonate 與 pH 緩衝容量，促進 H+ 外排，延後酸中毒相關疲勞。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36F0D-7A07-4CF5-A634-846CEFC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0594A-1EA8-4454-A3AE-B1D43822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CB1C9-9281-4158-8691-D19AA26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C7D08-46C9-4F38-9F60-C0AD3422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5E2C0-070F-47F8-9974-47857D2C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51E17-9084-4AA9-9BC7-EBFD486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1-7 分鐘高強度或反覆衝刺項目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F0129-C5C1-4D4C-89D2-0F42E3C7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EECB2-A749-46A0-B033-14DBF30F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格鬥、游泳、划船、場上球類運動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0FD69-1B5E-48A0-9FCB-5A90072A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DF15F-4B76-499D-A080-252AB39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已在訓練日測試腸胃耐受者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A3FC5-7AEE-4EA1-937B-C3BAB916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79031-21ED-4C7E-867D-1C263A0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能安排賽前劑量與分次攝取者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62599-A9A2-45E6-9886-064E9B46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6F8A6-2BC4-4278-A9BD-F20207F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腸胃敏感或賽前容易腹瀉者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2DAE8-BA96-43C6-8488-841CF56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DCD68-DA31-4C27-A256-5A679E8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限鈉、高血壓、腎臟疾病者慎用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07A34-99C7-42E4-8051-1CCEE63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40E93-935F-4AF2-A6CE-EC055C0B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未測試就比賽日第一次使用者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4CAFEF-F787-47EC-8DAA-AF30EBB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0A0080-9647-4104-9333-20B0B946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期待它像肌酸一樣長期增肌者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9D3BE9-8AA8-4B5D-8811-EAFB52F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62F4A6-41E6-482F-B32B-440A236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D6E07-34CF-4375-B074-9D9C8653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碳酸氫鈉和 β-丙胺酸同屬酸鹼緩衝策略，但位置不同：一個偏細胞外緩衝，一個偏肌內 carnosine。</a:t>
            </a:r>
          </a:p>
        </p:txBody>
      </p:sp>
    </p:spTree>
    <p:extLst>
      <p:ext uri="{BB962C8B-B14F-4D97-AF65-F5344CB8AC3E}">
        <p14:creationId xmlns:p14="http://schemas.microsoft.com/office/powerpoint/2010/main" val="15464223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FBD05-646B-46C5-B737-27B4B712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D67B9-19F9-4C7E-A212-BE661BD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B166-A3B8-4BB8-8E6F-E516FB2B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B 級｜狀態管理、恢復與長期健康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040E2-CA8E-47D8-85BD-7D0E53C3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Omega-3 EPA/DHA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410F8-587C-4BED-9E3C-623256B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4C4BF-8382-456C-83DD-4F875BAA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50F19-31A5-4086-9359-4832584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Jager et al. ISSN omega-3 position stand, 2025. PMCID: PMC11737053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Heileson et al. omega-3 index in athletes, 2025. Journal of Exercise and Nutrition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Fernandez-Lazaro et al. omega-3 recovery systematic review, 2024. PMCID: PMC11243702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CA782-BE85-4BC9-B9B2-B87907B9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B17C8-8468-4D55-A18D-91C654E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D6EE6-1605-4460-9495-1254DDD3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28B8C-E09D-4FEB-904D-E6D45714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核心用途：EPA/DHA 狀態、心血管健康、發炎與恢復、肌肉功能、睡眠/免疫訊號。更像長期狀態補劑，不是急性增能。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7ABB4-4C8B-4CF5-8E9F-A263047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F0ADC-0EE3-423F-A0D5-C010E27B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38043-B8B9-4595-BA6E-B6FF8873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EPA/DHA 進入細胞膜並調節發炎介質、血管功能與神經肌肉/恢復相關訊號。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E0802-F95D-412E-B86D-A812764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8CBBB-E9F2-43AA-BCDA-5016AE6E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8B9FA-A4C7-4C7D-823B-1318FA8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A7B5A-4FB1-433F-82B2-1A98520B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2BC2E-85FC-40C5-AD0A-0E32AC78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BBBE1-34AC-4159-910D-B7BA0073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魚類攝取少或 O3i 偏低者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381CE-3499-4167-ADDD-F33E4046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67E0E-A421-426C-A68E-1A850158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高訓練量/恢復壓力高者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11778-AC3B-4FE6-BD22-7769482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34F58-1786-490D-95DF-716200AD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耐力或接觸運動員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75CF3-C2E2-46CC-A695-A5ACBF64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984BC-5ABF-40A2-A629-05FE0A83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重視心血管與長期健康者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9BB70-5BD5-4547-A21F-3E810A34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73832-D739-49BA-80FF-7125935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魚類/海鮮過敏者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4C994-1668-4241-A222-95646987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1547B-3838-46FD-A32A-0C88C4A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抗凝血藥、手術前後需醫療評估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8DADB-2EDA-46D4-98B7-A9B1CB3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9E92E-3054-4110-AB98-A5F7C1D7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高劑量且有心房顫動風險者慎用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FFC9F-B56C-4D17-B4EA-545F6337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DFF4D7-0840-4FA0-B684-AF6C0B5D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期待立即提升力量者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F6F9D3-EDF6-4D7D-9312-800EEA9B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D7853-3C78-437C-991E-F1159694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DC3493-EE1E-403E-8023-02219839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適合做成『狀態檢測＋場景化劑量』內容。不要把 omega-3 包裝成所有運動表現的萬用補劑。</a:t>
            </a:r>
          </a:p>
        </p:txBody>
      </p:sp>
    </p:spTree>
    <p:extLst>
      <p:ext uri="{BB962C8B-B14F-4D97-AF65-F5344CB8AC3E}">
        <p14:creationId xmlns:p14="http://schemas.microsoft.com/office/powerpoint/2010/main" val="3004141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813FF-5A59-4189-B9E5-4A6C1574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920E1-435E-41E3-9DDC-F88ED66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88686-572D-448F-AABA-785686E4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級｜缺乏時重要，足量時不該硬補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F983B-375D-4D70-93BC-67B91E7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鋅片 Zinc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00C6F-C4FA-480B-89B6-0635B572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7A2CD-6C10-4499-AC23-E2AB955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FE962-4EAD-4F93-BDBB-06F358CD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NIH ODS Zinc Fact Sheet for Health Professionals: adult UL 40 mg/day and medication interactions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 / Group A: zinc used for specific deficiency-support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2C3A4-CF47-428F-9100-8CCAA4F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DF95F-3FC0-4A48-A637-49914FA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D6A59-57BB-4EE9-A9DE-1C1AE81C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3B161-3E39-4E94-90E0-911C62F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核心用途：免疫功能、蛋白質合成、傷口癒合、睪固酮/生殖健康與多種酵素反應。對缺乏者重要，對足量者未必提升表現。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10D7E-6599-4D25-B8EC-20A3806E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EFBCD-44A2-4B1E-A7AD-C59686E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2E652-6284-4678-B9BA-C349F674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作為多種酵素與轉錄因子輔因子，參與免疫、細胞分裂、蛋白合成與抗氧化防禦。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847A9-CE9A-4082-84D8-9D5B97E1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3E305-AE52-4700-8626-797D1564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FC8E6-5F31-4AC9-87A2-04A60BB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CAE44-1C18-4787-A521-B99DA4B7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253BC-823F-49AA-91BE-6BBEC69E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040A9-42CC-4118-92C3-721CE362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飲食鋅攝取不足或確認缺乏者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9E0ED-E1C6-41AA-A4FA-FA782A32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04FE5-5476-42D0-A1E6-349C338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素食/低肉類、熱量赤字或限制飲食者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2DBBF-6F66-496E-96EB-8DC2090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D73B9-819F-4A73-ABC4-F09DE6F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高流汗量、消化吸收差或免疫壓力高者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6242B-5ED8-48E0-9A9C-38C1B86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1D813-8E98-441A-8930-0F5B347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需要短期補足營養缺口者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CF190-D890-4F33-816F-805DA924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6F54F-1043-44EC-BA58-BF55C4B5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鋅攝取充足者不需長期高劑量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B828B-6487-4FFA-973C-27E44979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4B265-22F8-49D9-8E4A-8BA147C0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長期高劑量可能造成銅缺乏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D01219-3F0B-42E6-AFF9-275CF31E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7D245E-C2F6-4572-B1CD-C0D998D1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抗生素/penicillamine 需錯開或詢問專業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7804A-BA34-4392-9485-80087F5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A6037-AF0D-41DF-A264-043BCD1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把鋅當作直接增肌神器者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61263-1022-4A0B-AB4D-0F9511B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19D3FB-9153-41AE-A408-E554CF7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0727BC-1033-4D68-AC8F-8F0EA782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適合做『缺乏補足』內容。成人 UL 常用 40 mg/day 作安全提醒；長期補充要看總攝取量與銅。</a:t>
            </a:r>
          </a:p>
        </p:txBody>
      </p:sp>
    </p:spTree>
    <p:extLst>
      <p:ext uri="{BB962C8B-B14F-4D97-AF65-F5344CB8AC3E}">
        <p14:creationId xmlns:p14="http://schemas.microsoft.com/office/powerpoint/2010/main" val="9942899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7B9B4-C7A1-4989-BD8D-F4903EA2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7E0DB-D69B-4555-BC01-A31E2728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144BC-52AA-4035-BAEB-7966518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級｜保險型補缺口，不是表現補劑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7AB54-AFC2-4F32-88A9-7306F37B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複合維生素 / 礦物質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AB953-8AC5-4061-89B7-BE46331C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BB94-2DF9-4D13-8020-53D2DEDA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C2723-588D-4020-B53E-80D0191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NIH ODS Multivitamin/mineral Fact Sheet for Health Professionals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multivitamin/mineral support should be scenario-based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F2F7C-C9AF-4453-9726-EBCC5F2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BF090-AE7E-4FF2-952A-529C128A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4B8C7-EDD9-4F78-8FAE-6DA1951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EAD2E-C178-4813-B164-AE9F7572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核心用途：補足飲食缺口，特別是熱量赤字、限制飲食、旅行/賽季、食慾差或蔬果/全穀/動物性食物不足時。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5982-551C-46AD-B8AA-F4CDBA7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C675D-BC37-4CD7-B00C-66992C11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79774-A433-4C04-8493-14103628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提供多種維生素與礦物質，作為能量代謝、造血、免疫、骨骼與抗氧化系統的輔因子。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24B87-6D70-45D2-BF1A-38596B35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CEDF0-4FE5-4174-9585-28A50E93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EC0E7-1E9D-4C3C-86DD-29E32144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27210-A92F-4C0E-9A85-7D1E20A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5D30D-5547-498C-9C6C-02FE6C5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AB755-8F9B-410E-BF49-EC0B06A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飲食不規律、熱量赤字或備賽減重者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24F27-AA35-4782-875E-FC953D5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E9C3B-C377-4482-8E3E-D46ACDFE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素食、低蔬果、低乳製品或食物多樣性不足者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CEB0D-7E7B-4298-B5C8-52D042A4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C9580-BB3A-4809-95E4-BAF5B866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旅行、賽季、食慾低、難以穩定飲食者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EC9B4-E60D-47CE-8254-0DE0151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1FEBB-3196-41C5-B66A-6DF00DD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已知缺乏但尚未能用飲食完全修正者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88286-4A96-4E66-BD28-D499C7D7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02FC6-9B85-45B7-9D7D-A4B711D5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飲食均衡且無缺乏者期待提升表現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4B0EE-48C3-4974-8138-73ADBE15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8E409-6AAD-48B8-A1EE-5C349041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同時疊加多款高劑量產品造成過量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3B667-0302-4B8E-9315-B2E7C572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10C74-EB40-4DE7-ADE4-D7381E82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含鐵配方不適合所有男性或非缺鐵者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1CB7E6-6EA5-4778-8087-FF23B8B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79BA89-8C47-4B25-BECD-F545A779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用它取代蔬果、蛋白質與總熱量管理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1BAB8E-E346-4108-89C6-7A525517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56C88-3F0E-46E8-BB70-7288EF38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F3D18F-F737-432C-933E-5974D86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適合賣成『保險型基礎補充』，不要講成增肌或燃脂。重點是缺什麼補什麼，並避免重複攝取。</a:t>
            </a:r>
          </a:p>
        </p:txBody>
      </p:sp>
    </p:spTree>
    <p:extLst>
      <p:ext uri="{BB962C8B-B14F-4D97-AF65-F5344CB8AC3E}">
        <p14:creationId xmlns:p14="http://schemas.microsoft.com/office/powerpoint/2010/main" val="282471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5CBCD-BEBA-4B4B-99D1-71DF11D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5EC6E-F25A-4537-BC54-34BAA40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276DB-9672-4337-A19D-04415471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 級｜先檢測缺乏，再談表現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B3D30-3A46-41C1-84C3-E52F53FB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維生素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BBB11-1D2E-475F-9D9B-DC1426BA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5A002-CDD2-46F8-845D-60771017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5BDD2-395B-4DF4-AC7F-9C2F79A6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Effects of Vitamin D Supplementation in Elite Athletes systematic review, 2024. PMID: 38188620 / PMCID: PMC10768611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Vitamin D strength and power meta-analysis in athletes, 2023. PMID: 37841405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IOC consensus statement, BJSM, 2018. PMCID: PMC5867441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A30A-11D2-4E26-AF86-98E8C00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F867C-2124-4056-A50F-180A9B6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424E9-F1A8-4FC2-AF6A-77308DC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1501-5444-4A51-8547-8D402D6D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核心用途：骨骼健康、免疫、肌肉功能與低日照/室內訓練族群的缺乏修正。缺乏者優先，足量者不應期待神效。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00E87-8692-4628-A18C-42AEF289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CEF28-7A5F-441A-967C-7696EB2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BEA9C-EC51-4B9A-9CB4-C74D0298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透過 25(OH)D 狀態影響鈣磷代謝、骨骼重塑、免疫調節與肌肉功能相關訊號。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499AC-73DA-4481-9870-BA1A85B3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75870-C2DF-41FE-8560-A2C8044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F35D9-C31A-435E-87EA-93E13DE3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59F7D-B797-4489-8D94-B39BDB45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31861-BBDA-4A65-BEFA-F76C7AE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4872A-A32E-403A-8E3E-75DC197D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室內訓練、低日照或冬季訓練者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46ED1-52B4-4989-817F-F18FECD4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5F9C4-0B36-43DD-B43A-CC14B905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抽血顯示 25(OH)D 不足/缺乏者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77332-54EA-4451-8E1B-E89D4BC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EADB0-1FFE-463B-B16D-09ED780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骨密度、壓力性骨折風險較高者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F0D5B-9FD1-4E5D-9F9E-D3DB2657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1536A-2F6E-420C-BAA3-D7AE3327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膚色較深、遮陽多或飲食攝取低者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883C3-6635-44DC-A8E6-A583EFE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DDD56-B297-487C-9935-B9E634CE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未檢測就長期高劑量者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2DEB5-419B-473A-9CFC-BE9C8C2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6A695B-11E4-4BCF-B018-201194E2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高血鈣、腎結石或腎臟疾病者需醫療評估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6940B-05DA-4517-BF43-691D1A6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BF2E8-6FF6-4A24-8068-4E444BCB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已足量者期待直接增肌/增力者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411F2-C538-4C56-AD11-5327B1E9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637389-7388-4E3E-A090-B09360B8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同時疊加多款含 D 產品者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8B437-23A8-4F96-B14D-CF14EB7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0EBCFB-617F-468C-AE20-15BED56C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3E2D69-F3FE-4E57-90B9-EA174E26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適合做『檢測導向』內容：先看 25(OH)D，再決定劑量與週期。不要把維生素 D 講成萬用表現補劑。</a:t>
            </a:r>
          </a:p>
        </p:txBody>
      </p:sp>
    </p:spTree>
    <p:extLst>
      <p:ext uri="{BB962C8B-B14F-4D97-AF65-F5344CB8AC3E}">
        <p14:creationId xmlns:p14="http://schemas.microsoft.com/office/powerpoint/2010/main" val="20506535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41CEF-C9CC-41BD-8119-099DD49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EB6E9-C95C-49AE-BEFD-4E016F6A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0D756-3F69-4307-B9F9-3CCD7699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B 級｜腸胃與免疫情境，比增肌更合理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1A9B9-FFE6-4171-AE68-A5341DE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益生菌 Probiotics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9002D-6612-41B0-8C97-59C9035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33BAF-4E74-4DD8-B520-ECCEF3BC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0F2FA-6501-4622-BDE4-559258E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ISSN position stand: Probiotics, JISSN, 2019. DOI: 10.1186/s12970-019-0329-0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probiotics used for targeted gut/immune support contexts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FE67C-CEEB-41FA-B79E-4EA9D8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B67D4-6420-446E-A78D-CE363794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FCD13-A285-4C29-B7B9-B3B0D94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9EB51-4645-42FE-BF63-A709040E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核心用途：腸道症狀、旅行/比賽期、上呼吸道感染風險與高訓練壓力下的健康支持。效果高度依賴菌株與劑量。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302A7-BE38-40E5-A4EF-9BEF5F7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C737D-A203-4B41-A8B3-0A4EED1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12ED9-40C1-4368-B16A-7D0EF334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透過腸道菌相、屏障功能、短鏈脂肪酸與免疫訊號，影響腸胃耐受與感染風險。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52212-9398-48C5-BA09-C6D2BC08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D5782-C715-4D65-845D-71A4F95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73B7E-DF40-44B4-9842-6A07F92D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C7103-1E37-4073-B766-96F9F49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584E2-5F01-4B2E-BC7F-FBAAA19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53F68-FFD4-467E-ADA3-90BA245D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腸胃敏感或運動中腸胃不適者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09CF0-838B-4A0D-814E-E4F76AA9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22F71-C63C-48D2-AC68-3DB9046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旅行、比賽密集或飲食環境變動者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B3FCE-C2A7-4602-A166-C9279C4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2040E-3332-48C0-AF14-64F4BDD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高訓練壓力且常感冒者可評估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056B9-2B76-43E9-8C98-68FC1BFC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CBD25-92C2-4AC0-814C-20F87A6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願意記錄菌株、劑量與反應者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C16BA-2BB4-451E-9EAF-511C126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32571-DFBA-4B86-8D58-2CA5C7F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嚴重免疫低下或重症者自行使用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B1C3D-8329-4DA7-A7CF-A879BACF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0CDA6-70B8-401C-8E3F-7521E378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期待直接增肌或燃脂者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292839-CA2C-4F5F-B58E-7C8406CB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7F04E-2558-4D06-80AE-81D8876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不知道菌株只看 CFU 數字者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F110E-1643-4A0C-B1CA-E9D83803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8C699F-FA31-41DF-8EB9-7AD42A45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吃幾天沒感覺就頻繁換產品者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E3731-2D97-4BA3-A363-548AB6FA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8C81D0-CB67-426B-8585-2EE43E41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858D4-2256-4FE1-A953-883389C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益生菌的關鍵不是『越多越好』，而是菌株、劑量、週期與目標症狀。適合做成腸胃/免疫管理內容。</a:t>
            </a:r>
          </a:p>
        </p:txBody>
      </p:sp>
    </p:spTree>
    <p:extLst>
      <p:ext uri="{BB962C8B-B14F-4D97-AF65-F5344CB8AC3E}">
        <p14:creationId xmlns:p14="http://schemas.microsoft.com/office/powerpoint/2010/main" val="21422597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4FED0-15A5-4158-BF5B-CE7B4B0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23F0C-00DD-4FA6-8142-BC34FB4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34582-62F8-4FD2-98B0-13602067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級｜恢復/痠痛可談，但不是訓練替代品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9EDF8-B0FC-4853-9B33-4AD3633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薑黃素 Curcumin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38C0-D7A7-4918-914B-C1A97D69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6B48C-3764-46AF-AF29-9C17E97F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78D33-CDBC-4B6D-BB4A-3F2E600A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Curcumin, DOMS and inflammation dose-response meta-analysis, 2022. PMID: 35574627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Curcumin and exercise-induced muscle damage meta-analysis, 2023. PMID: 37408367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Curcumin intake and EIMD in athletes systematic review, 2024. PMID: 39623590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94284-239C-43A0-93FA-D0CA68E3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083CD-ACBC-4721-9D93-DE22E59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8BFAF-E847-40B5-B1B3-18B00EB3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D1E6A-7ABD-4856-B6F1-90EE0286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核心用途：DOMS、運動後發炎與肌肉損傷指標管理。較適合恢復壓力高、比賽密集或痠痛明顯者。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5338A-D296-4B07-8433-74FEE59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68E11-5887-4221-94DE-A2C45EE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E62B3-F2FE-4E45-BBAC-7AB1464C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透過 NF-kB、COX-2、氧化壓力與發炎介質調節，可能降低運動後痠痛與部分損傷指標。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339B2-683D-4DAD-879A-F288A06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BE007-6F3B-4867-835C-85C201B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D241F-9736-4D4D-97C0-F7E410F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5DE42-70D7-4B02-9DFC-B5180A8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81074-72A1-411F-AA70-13972280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8462D-B55C-4E8F-B17D-018F0DDC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高訓練量或 DOMS 明顯者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9D46E-480C-459D-AF30-23CF87AD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95F8C-DC32-4913-9CF3-B841C04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密集比賽期想降低恢復壓力者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4B004-7ECF-469F-A065-35E71F3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7ACDC-D8C6-4533-ABCD-6350D31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偏好植物多酚類恢復策略者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3027F-EEF9-47FC-BFD6-3755F594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CE2F1-D018-4009-9657-B9BB35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可接受吸收率配方差異者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2A76F-5D02-4E28-8BFB-33283C06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D6E2A-769C-4D72-97F2-7B700DB4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抗凝血藥、手術前後或膽囊問題者慎用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3AEA2-5CF7-4A4B-BD21-C7069AD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03B8F7-7E91-4B7D-AB74-78E7B721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胃食道逆流或腸胃敏感者需測試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29E13-47AE-46A7-A9CB-EA11366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67E2A-4A74-4C45-9FD2-29CACC8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用它掩蓋過度訓練與睡眠不足者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6F1F2-D8FE-44FF-A01D-90264F1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340251-E22B-4540-BBBA-C795559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期待直接增肌或大幅提升力量者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52B106-CC07-438B-B41F-827A124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1065C-1D21-4116-BF2B-5A8F1318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E4BF6F-6718-4431-8E68-15F4EA5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可定位成恢復輔助。內容上要提醒：抗發炎不是永遠越強越好，訓練適應仍需要正常壓力訊號。</a:t>
            </a:r>
          </a:p>
        </p:txBody>
      </p:sp>
    </p:spTree>
    <p:extLst>
      <p:ext uri="{BB962C8B-B14F-4D97-AF65-F5344CB8AC3E}">
        <p14:creationId xmlns:p14="http://schemas.microsoft.com/office/powerpoint/2010/main" val="5495396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44E9B7-34EF-4612-A48F-1B3C15CA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C1DED-78BF-4FD4-8FB2-87702DC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3B3A6-F107-4E0B-8CBB-04434618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C-B 級｜粒線體/抗氧化概念強，表現證據不穩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9E05E-E1E1-4DB0-9577-8155849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輔酶 Q10 CoQ10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37A33-33B5-4BFA-9B8B-64C5DA4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4ADBD-C7B7-4595-BC4A-CD96239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D3182-B52D-4A13-9A4E-5C2E18F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Coenzyme Q10 supplementation in athletes systematic review, 2023. PMID: 37764774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CoQ10 EIMD/performance/oxidative stress GRADE meta-analysis, 2024. PMID: 38479900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CoQ10 exercise performance systematic review/meta-analysis, 2026. PMID: 41457257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FB034-C05B-49AC-9E86-4AB0965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BD942-5921-4EB5-9ED2-9C0CCA5A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C/B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03B0B-0F4B-40F5-8966-51240A6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85ABF-0C1F-426A-9631-7D9C1FFA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核心用途：粒線體電子傳遞、抗氧化狀態、疲勞與運動後氧化壓力。對表現提升的結果目前較不一致。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ADDE5-3DC3-43E8-B123-8BD59135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377CE-EEA6-4829-8D8B-C064639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9F306-6A91-41CC-A1E9-D2ABB1B4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作為粒線體電子傳遞鏈成分與脂溶性抗氧化物，參與 ATP 生成與膜脂質抗氧化保護。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FF1B6-4807-4E78-829B-F82F210A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496C2-CE78-43B0-9BEE-D1C8C14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21371-8F57-4106-A81C-33E37C3D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BF87F-6C39-4A09-AC2C-5F1C1EE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C2D6C-8C73-4B0D-9F59-074BAF96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E5025-1EF1-4F7D-870D-A5CC5FAC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高氧化壓力或恢復需求高者可評估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FCC9B-FE26-4657-9461-054751E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B18F6-8DF4-4A6D-80DF-2055985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年齡較高或飲食/健康狀態需支持者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1AE88-968E-4257-ABFB-6E6BE180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8E6CC-A53A-4F86-BF8A-59725E14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想做疲勞管理但能接受效果不穩者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28ADA-BEEF-4661-83DC-624CFB17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02B79-0711-46DB-8FB0-143A7A5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可選擇標準化劑量並追蹤反應者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D83E4-1D89-4A12-9079-C35E669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9D3BA-0AF9-44F7-9AE0-DE4A241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期待明確急性增能者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C44F0-4153-4264-9EFB-CAB9B2BB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EB877-027F-4461-9332-2D7436A9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已使用抗凝血藥者需詢問專業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0B6746-0DB7-4378-B25B-741103F8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E364C-F837-41AC-8BAA-6793D141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 CoQ10 當減脂或增肌主力者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3A0AE-AA4D-4F28-8ACB-708EC394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7ECB0A-A98D-427D-AF96-2DC5EDA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預算有限且基礎補劑未到位者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8C65B-AF6E-4CEA-871D-8C727257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4C019F-311F-429D-BF86-D88A401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C19EC6-90BA-44E2-B0C2-BDB38C2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適合放在進階/健康狀態內容，不建議當 A 級表現補劑賣。講法要保守：可能改善指標，表現結果不穩。</a:t>
            </a:r>
          </a:p>
        </p:txBody>
      </p:sp>
    </p:spTree>
    <p:extLst>
      <p:ext uri="{BB962C8B-B14F-4D97-AF65-F5344CB8AC3E}">
        <p14:creationId xmlns:p14="http://schemas.microsoft.com/office/powerpoint/2010/main" val="1734831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7D615C-E2A5-417B-B3E9-81C584D5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2DDF-1221-44B8-BA29-D4A11DF0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3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0E9B7-4D92-44F0-A041-EB223AA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B-C 級｜先看成分，不要只看泵感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C2B9D-EE26-4893-B8C5-B826FAE4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氮泵 Pre-workout / Pump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E7D04-FEDF-4264-8FB8-A5242796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E7593-C826-4511-9406-D2B08C73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4E5BD-D316-4180-BF8E-EDE53C4C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Multi-ingredient pre-workout supplements review, JISSN, 2018. DOI: 10.1186/s12970-018-0247-6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ISSN caffeine position stand, 2021. PMCID: PMC7777221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IOC consensus statement, BJSM, 2018. PMCID: PMC5867441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E79D4-1917-45D3-8F88-0EC28A6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9443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7B7BB-7142-4872-BA43-107F2B9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BED15-303C-4632-839E-323EC897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460A0-C407-43EE-A3DC-8C3CD2E4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核心用途：訓練前主觀能量、泵感、專注與局部血流。常見成分含 citrulline、arginine、nitrate、caffeine、beta-alanine。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2E956-3B79-4D73-94E7-B79E7A0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55341-031E-46AE-A5AC-10D3FD7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A35FD-1316-472A-96D1-739CAF7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多以 NO pathway、刺激物與酸鹼緩衝組合，影響血流、警覺、主觀用力與訓練容量。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84876-42AE-4B77-A6A1-678C47A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D6BC6-7F95-45DC-AC4C-989E788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BF369-C524-4A26-B418-8C34A59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7088F-76C3-4345-83FF-9DC2201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E8A15-351F-4CAC-A3EA-19AF60A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2D482-1A35-47A2-BED1-E542CC95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需要訓練前專注與主觀動力者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A329B-BD08-42C5-BB03-0F2B796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4B557-AC6C-456A-B79E-8C6BA79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已能看懂成分劑量與刺激物含量者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F2E27-6357-4E33-98EC-2962D85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B76E3-84E5-44CC-B06D-751859CA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想短期提升泵感/訓練體感者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A52EE-C0EE-46C8-B301-ADBD7422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38744-48BB-420F-8F53-5307FA6E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已確認睡眠不被咖啡因影響者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6AC01-0D4D-47D6-AC02-558F3215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5A273-512E-4B1A-9B36-9977BBF0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心悸、焦慮、高血壓或刺激物敏感者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D95F96-A669-470F-846A-4B98B0B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0DF0E-ABD9-41BC-9854-D53FEA7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晚上訓練且睡眠容易受影響者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4938E-D405-40BB-B0F7-9016193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66EF0-EAB6-4634-B9CE-211ABB0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成分不透明或 proprietary blend 產品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2F8BBB-2A1A-4CE2-A1F8-459DC2A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53BAD-D1DC-4F55-ACFE-0C3363D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運動員未查第三方檢測與禁藥風險者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6772AB-4B32-4B38-AFE7-175DCC1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FD9C73-2E78-4DE0-90B4-CEBC4F9C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73A5B-CA7C-4746-865B-0CC2BEAE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氮泵是產品類型，不是單一補劑。最值得教的是成分拆解、劑量、咖啡因總量與睡眠/心血管風險。</a:t>
            </a:r>
          </a:p>
        </p:txBody>
      </p:sp>
    </p:spTree>
    <p:extLst>
      <p:ext uri="{BB962C8B-B14F-4D97-AF65-F5344CB8AC3E}">
        <p14:creationId xmlns:p14="http://schemas.microsoft.com/office/powerpoint/2010/main" val="64194050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36689-BB7B-4217-B291-20036524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D34F0-853A-4A73-8CFC-F80453C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7AAA2-CA39-4546-A442-40A21069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級｜NO 相關，但常被 citrulline 搶走位置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D668A-73F7-4933-9386-D63F1568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精氨酸 L-Arginine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A8AF3-CEE0-4C3A-952D-4ED96DFA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9C85C-3C72-449B-A467-C38459D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7F72-B82E-477B-9A77-8D6351A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Arginine athletic performance systematic review/meta-analysis, Nutrients, 2020. PMID: 32370176 / PMCID: PMC7282262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IOC consensus statement, BJSM, 2018. PMCID: PMC5867441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AIS Supplement Framework: compare NO-related ingredients by evidence and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B01D8-1B24-4C73-B66E-EAE0DC76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1FBE7-0D6F-4CCC-93F9-F91BC423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951EE-A1F4-4980-8DDF-CFB4341B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96C6F-39E9-4039-92D1-4518D73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核心用途：NO 合成底物、血流/泵感與部分有氧或無氧表現。急性研究常用約 0.15 g/kg，運動前 60-90 分鐘。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CD64F-2342-445A-ABDF-7BD36E81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759C7-326C-46B1-8157-B780169D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CDDAE-5677-4E1D-B721-F70A5E07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作為 nitric oxide synthase 的底物，轉化為 NO，影響血管舒張、血流與代謝環境。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E6AA5-78CC-4498-B13B-274303EF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B1642-3AAD-4071-A105-CF6BB25D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C49C1-B0B4-40CD-A5F5-CDDC456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76068-14DF-497A-BF25-B75E1CDC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EAD58-CCB9-4BF3-B724-E2B38AE3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C1C11-6095-48F7-84B9-D7F736B5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想測試 NO/泵感反應者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E9221-BBA1-43C5-B051-ADD738D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19FA6-3A35-42E2-9DD5-D6038F4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不適合或不想用 citrulline 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5D2C0-AE41-4182-90BA-F235430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99D58-F721-4E20-9BAF-DA7604B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有氧或高強度訓練情境可試用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7DACC-3257-4531-8A1A-273B6FB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24319-E923-486D-A9DE-D0045F48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能接受腸胃耐受測試者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F158F-FEAC-4322-9D7F-422EEAA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7D07E-A71C-4E28-B6CE-2AA52EA3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低血壓或血管擴張/降壓藥使用者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C83E9-DE5E-4147-AFEF-79EA0390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B268C-4B7B-4F67-8302-F315D05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皰疹易復發者需謹慎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A43CB-38F7-4109-BFAE-6EED776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695C42-1E0C-4865-BFA1-F3F52767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腸胃敏感或高劑量不耐者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3BBD8-2969-4061-8942-C82ED677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E0911-F5B4-449E-A08A-0A2B40E2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期待它優於 citrulline 或 nitrate 的所有情境者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5377B-1610-413A-B18E-F72A29A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F5C824-0894-40C0-82FA-3A73A5DD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33E10C-233D-4141-BEC9-73F7FB58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精氨酸不是不能談，但要放在 NO 補劑比較裡。多數內容可用『citrulline / nitrate / arginine 差異』切入。</a:t>
            </a:r>
          </a:p>
        </p:txBody>
      </p:sp>
    </p:spTree>
    <p:extLst>
      <p:ext uri="{BB962C8B-B14F-4D97-AF65-F5344CB8AC3E}">
        <p14:creationId xmlns:p14="http://schemas.microsoft.com/office/powerpoint/2010/main" val="9360556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6E038-AD9D-48EC-A2DE-15B676F2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BB598-F449-4427-9409-A60A99C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AD548-B977-44E1-9A88-E5EBB5D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B-C 級｜可談，但一定要加情境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4214C-8966-46D7-B441-F7CC570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Citrulline / HMB / 多酚類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8B97-1654-4699-9AD6-7C98BC03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5ED7-631C-47B5-A762-23F19074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51B9E-ACC4-4722-B94E-B8665111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Effects of citrulline on endurance performance systematic review/meta-analysis, 2023. PMCID: PMC10167868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ISSN HMB position stand, JISSN, 2013. PMID: 23374455 / DOI: 10.1186/1550-2783-10-6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Kuehl et al. tart cherry juice muscle pain RCT, JISSN, 2010. PMCID: PMC2874510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DD46F-3FC0-46AA-A332-FB5A20F5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07482-91C8-4646-AADD-FEBD5E6C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B/C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24BD0-5437-4C2E-878A-975CF2A0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48319-BDAF-4BC0-9DE0-3C72F3F4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核心用途：citrulline 偏 NO/血流與高強度表現；HMB 偏老年、初學者或熱量赤字；tart cherry/polyphenols 偏恢復、DOMS 與抗氧化。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0C7C2-0A68-4C20-ADB7-44D29561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0882B-084A-4A7F-AD2E-4D39455F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4F101-81CF-4A5D-8364-57BC1901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citrulline 提升 arginine/NO；HMB 影響蛋白分解/合成；多酚調節氧化壓力與發炎。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BA6AB-A2B6-4BBB-B030-F261C83F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FD686-9150-4387-A741-4DB1603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6C58C-A478-4C85-9D25-4E1136C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FCC26-505D-48A5-B412-6328DFA4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6109E-0532-4FAF-85D6-89E7BAE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974CE-930D-4A4B-A5C3-EBF4D908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訓練者想優化泵感/血流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4E863-B8CE-4CAE-9828-D8EAB26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1EAEE-555A-48D9-90DD-D2AB9119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老年、初學者、熱量赤字者可評估 HMB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026DC-0A8C-45CD-A04B-8C9F628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24CED-368C-4A64-A44E-E5A2D1B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密集比賽或 DOMS 明顯者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DA5C7-F462-425F-BD4F-B5F75B9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18E60-9E02-4DEC-99A0-3D916D8A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偏好食物型恢復策略者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F99A6-052D-4E4F-99FD-45A11605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9CD8D-7262-498D-846B-6069F6A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訓練與蛋白不足卻先買 HMB 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FF5C1-EB1E-4335-9EC6-3EFB73AA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886E5-5086-4DE5-81EC-59F8EF66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低血壓或硝酸鹽/血管用藥者慎用 citrulline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9313E4-B6C1-4E62-91D3-0575A9F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31FA47-5642-4016-8453-19BB3E3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把抗氧化當成越多越好者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77D92-3009-4B4B-BEF9-FE2226B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31CF4A-F519-4723-9833-A1935006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糖分控制者慎選果汁型產品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76460-DF2A-4A8A-98B3-F5B721D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F0003-1F81-4765-B9ED-1D203D28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540C80-7C6E-4522-A303-6CFBD5E2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這一組適合做『進階補劑』，但要清楚說：它們不是第一順位，且效果比肌酸、蛋白、咖啡因更依賴情境。</a:t>
            </a:r>
          </a:p>
        </p:txBody>
      </p:sp>
    </p:spTree>
    <p:extLst>
      <p:ext uri="{BB962C8B-B14F-4D97-AF65-F5344CB8AC3E}">
        <p14:creationId xmlns:p14="http://schemas.microsoft.com/office/powerpoint/2010/main" val="65499223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AC4EE-F6E4-4F03-9650-AD83B67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4E9AE-B850-4E2E-9894-2974416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3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29761-3289-4621-AC6C-D3CDFF3A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C 級｜適合避坑，不適合主打神效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0F9A0-C63D-47EE-ADB3-C1413EDC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Glutamine / GABA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DEB85-D946-42EA-954F-A09436E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29ED9-9F0F-4151-87DD-7210EE20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53FEA-65D2-4A62-B43A-C526E81B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Glutamine athletes systematic review/meta-analysis, Clinical Nutrition, 2019. DOI: 10.1016/j.clnu.2018.03.030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Hepsomali et al. oral GABA stress/sleep systematic review, 2020. PMCID: PMC7527439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GABA + whey resistance training RCT, 2019. PMCID: PMC6522239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133F2-61FD-4D21-B41B-DA4A3AA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9443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018ED-4762-4BD9-9BDB-CFBB43B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96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6520D-3164-4862-B7A4-604E157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6775"/>
            <a:ext cx="495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BF7A5-F861-4C43-AA9E-666CA43A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核心用途：glutamine 偏腸道/免疫/高壓力情境；GABA 偏睡眠/壓力，少量研究連到 GH 或瘦體重，但證據有限。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5AEF8-516D-4E78-A178-945F8DE2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658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F4975-3886-4391-840B-B146CA5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作用原理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39659-0A98-4733-8F60-6C39E7ED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glutamine 支援腸道/免疫與氮代謝；GABA 可能影響放鬆、壓力與睡眠。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962D4-063D-4511-BC3C-0DEEC9F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D1986-8BD5-4E55-8A7F-BCC8CEC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714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69F9D-1C64-47C7-8090-04E9D821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適用人群 / 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22E5A-78C7-4C1A-B7A9-7A5F691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不適用 / 慎用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C1B88-6B49-4F7A-AEE6-D7FA5F27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58A8F-296A-4781-AD95-912C849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極高訓練壓力或腸胃壓力者可評估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C8B21-EFA8-4342-99D2-293C697F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9A6EA-CB24-4EF9-BFFC-96E3BB8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睡眠或壓力管理內容可謹慎談 GABA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593B1-57E4-4C76-97ED-74E0C2E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208B5-7798-4C4F-A605-07C4B421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蛋白質不足者應先補蛋白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B1B66-E3F6-475D-932A-DA561DF6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BF24B-2B1A-4296-9A0C-68197D01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喜歡科學避坑內容的受眾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678D3-E222-4A6F-982A-8C9E3BE4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FC6CA-38A4-4ADE-9EDD-70D70AB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一般增肌者把 glutamine 當主補劑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5E3B4D-02A9-40D6-888D-4C89F783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922AC-CC64-498F-982A-5452B3C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把 GABA=GH=必增肌 當銷售主張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C4869-5BE0-402E-85DC-D1451648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F9D20-5285-452D-83AB-84D40EE7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正在使用鎮靜安眠藥者自行疊加 GABA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1584B4-4BB9-469D-9162-79DA83C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F33F2-AC20-46BB-A4E1-63695B6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孕期、疾病、用藥族群自行嘗試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4C4D49-32B9-4EFA-93A2-A90A42C3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765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84F1A4-E000-4CE4-8124-A546430E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BB13ED-B797-41C3-8F76-9DF665B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6534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這兩個很適合做反行銷內容：不是完全沒用，而是『適用範圍很窄、證據不能被放大』。</a:t>
            </a:r>
          </a:p>
        </p:txBody>
      </p:sp>
    </p:spTree>
    <p:extLst>
      <p:ext uri="{BB962C8B-B14F-4D97-AF65-F5344CB8AC3E}">
        <p14:creationId xmlns:p14="http://schemas.microsoft.com/office/powerpoint/2010/main" val="118550570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27DCB-031B-4416-B1B4-9F61AD31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A2FF-493A-42E2-AD4B-58A1221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66C88-7C96-4CC3-814A-B57783AF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補劑簡報｜不要本末倒置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C2E02-44B6-43C5-8375-ED656389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補劑之外：恢復與抗阻訓練才是地基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2EE75-D573-4031-B48F-C80F40FD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7413A-2739-474E-AB62-5C682F96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DE576-445D-4A2E-B8C4-BBFB04B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ACSM Progression Models in Resistance Training for Healthy Adults, 2009. PMID: 19204579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ACSM simplified position stand PDF, 2009 MSSE 41(3):687-708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ISSN protein and exercise; ISSN creatine position 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4BAE0-E123-4F23-8AC4-5484B00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677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87431-B005-4828-AAEF-F927CB8D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增肌與恢復優先順序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23702-C0F0-4126-89B2-2C7A4093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8B93E-4673-492C-BE19-C8F278A3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6E15D-D053-4FA9-A3A2-542266A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抗阻訓練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9E536-35AB-4EF4-AE39-CF605DC6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漸進超負荷、足夠訓練量、接近力竭、長期一致性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3B359-689F-4A35-B9E2-278FFC93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E558A-864D-43E6-AD54-99FA528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4FE83-DE19-4FFE-8E35-1606432E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能量與蛋白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5174B-4B93-443D-92A6-AD291474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熱量、每日蛋白、餐次分配，先於補劑種類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289BF-C9F8-4402-920E-523C1B1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7F345-6B11-4BD0-91F8-3AF8D8C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695E8-8A8C-4522-AFF5-12B3ECE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睡眠與壓力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FE9A9-8EA2-4E58-A892-6D2E5F7F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671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恢復品質會決定訓練能不能持續累積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966A1-E34B-44BB-A039-D2554305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7A4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1C5E9-0504-4A1F-A39F-8AA3758C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5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7AB7E-80F1-4702-A527-DBD8611E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場景補劑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BD390-B3FE-4913-85DF-0A4E410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529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肌酸、咖啡因、nitrate、omega-3 等只是在對的情境放大效果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1E0EB-F360-4FC2-8115-044025D6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677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F29A6-BC05-40CB-9B7E-A6B6787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內容金句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090E3-C9E0-494B-B5A3-B5A21A9C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054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補劑是放大器，不是替代品。沒有訓練、飲食、睡眠，補劑只是在放大混亂。</a:t>
            </a:r>
          </a:p>
        </p:txBody>
      </p:sp>
    </p:spTree>
    <p:extLst>
      <p:ext uri="{BB962C8B-B14F-4D97-AF65-F5344CB8AC3E}">
        <p14:creationId xmlns:p14="http://schemas.microsoft.com/office/powerpoint/2010/main" val="130148027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5B7DA-BFF2-48D4-B77D-A52792A1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5CAFF-17AB-47D3-B7C7-1698F19D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3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1FF7A-24DB-46DF-80BD-192FFBF4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補劑簡報｜銷售與合規語言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F82C4-63AE-4A47-870C-F856901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33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做知識產品時，可信度就是護城河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27608-7AA0-42B6-9C8F-D07CB65B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BB881-F4D4-4207-9594-43503F91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文獻來源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4416B-9648-4B91-8EE9-094389FC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00100"/>
            <a:ext cx="2857500" cy="53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1. IOC consensus: supplement risk includes contamination, mislabeling and inappropriate use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2. AIS framework: supplement classification changes with evidence and context</a:t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>
              <a:defRPr sz="990" b="0">
                <a:solidFill>
                  <a:srgbClr val="5B6B63"/>
                </a:solidFill>
                <a:latin typeface="Aptos"/>
                <a:ea typeface="Aptos"/>
                <a:cs typeface="Aptos"/>
              </a:defRPr>
            </a:pPr>
            <a:r>
              <a:t>3. WADA / anti-doping risk: choose third-party tested products for athletes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F6F76-2B88-447F-852A-8A4075F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3619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6FF47-0058-4049-9936-77BCD82D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可以說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693A6-25E8-4C48-9C24-A8AB92A6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6ED62-4FA7-433A-A56C-85383963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「在這些情境可能有幫助」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3438B-B692-42C2-B23E-B9D555D1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3DD2F-0B3C-4C16-B745-C3ACC4E3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「證據強度為 A/B/C」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1B75A-12A9-4F04-9763-F35BD023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A2A26-8EBF-41ED-B103-DAE50F1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「先確認訓練與飲食地基」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E0E9-3E4D-4BB4-942F-DC38E3B4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D045F-C171-4F5F-B441-EDC5AA0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「有疾病或用藥請問專業人員」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09E8F-025A-42BF-BA46-087D70F7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09700"/>
            <a:ext cx="3619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3253F-9374-4167-BF43-4B5CF09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38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4438"/>
                </a:solidFill>
                <a:latin typeface="Aptos"/>
                <a:ea typeface="Aptos"/>
                <a:cs typeface="Aptos"/>
              </a:defRPr>
            </a:pPr>
            <a:r>
              <a:t>不要說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F8B7F-D494-4809-8CDA-2D3E4CDF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43D5B-C129-4969-8F54-D325598E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075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「保證增肌/燃脂/治療」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8C5B5-D05F-48CD-9C60-C92D6DF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71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39D1A-40DB-4DCE-A987-EAC8B1EA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0510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「任何人都適合」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884DB-7097-4F36-8619-3D28D92C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B8F98-13EA-4203-832B-5FE9D9F9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「越高劑量越好」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0743F-22A6-4702-96E3-FB4A4B54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231E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CE6E4-5886-47A2-90C1-5AE98482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3380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「有文獻 = 一定有效」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15997-059F-4585-8ABF-2BAB4F1E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1E"/>
                </a:solidFill>
                <a:latin typeface="Aptos"/>
                <a:ea typeface="Aptos"/>
                <a:cs typeface="Aptos"/>
              </a:defRPr>
            </a:pPr>
            <a:r>
              <a:t>最好的產品不是替讀者買補劑，而是讓讀者知道什麼時候不用買。</a:t>
            </a:r>
          </a:p>
        </p:txBody>
      </p:sp>
    </p:spTree>
    <p:extLst>
      <p:ext uri="{BB962C8B-B14F-4D97-AF65-F5344CB8AC3E}">
        <p14:creationId xmlns:p14="http://schemas.microsoft.com/office/powerpoint/2010/main" val="1013166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2026-05-27T03:19:14.2860000Z</dcterms:created>
  <dcterms:modified xsi:type="dcterms:W3CDTF">2026-05-27T03:19:14.2860000Z</dcterms:modified>
</coreProperties>
</file>