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d36fc41f34b66" /><Relationship Type="http://schemas.openxmlformats.org/officeDocument/2006/relationships/extended-properties" Target="/docProps/app.xml" Id="R807a7526ed424c29" /><Relationship Type="http://schemas.openxmlformats.org/officeDocument/2006/relationships/officeDocument" Target="/ppt/presentation.xml" Id="R74dfab2482ad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752c8ea234708"/>
  </p:sldMasterIdLst>
  <p:notesMasterIdLst>
    <p:notesMasterId xmlns:r="http://schemas.openxmlformats.org/officeDocument/2006/relationships" r:id="R5acdac67e39d496a"/>
  </p:notesMasterIdLst>
  <p:sldIdLst>
    <p:sldId xmlns:r="http://schemas.openxmlformats.org/officeDocument/2006/relationships" id="256" r:id="Re130ed43999c4183"/>
    <p:sldId xmlns:r="http://schemas.openxmlformats.org/officeDocument/2006/relationships" id="257" r:id="Rb2d565f8b6de4cab"/>
    <p:sldId xmlns:r="http://schemas.openxmlformats.org/officeDocument/2006/relationships" id="258" r:id="Ra485e693302e439f"/>
    <p:sldId xmlns:r="http://schemas.openxmlformats.org/officeDocument/2006/relationships" id="259" r:id="R9aee5e8979074f8e"/>
    <p:sldId xmlns:r="http://schemas.openxmlformats.org/officeDocument/2006/relationships" id="260" r:id="R93635f692c854cee"/>
    <p:sldId xmlns:r="http://schemas.openxmlformats.org/officeDocument/2006/relationships" id="261" r:id="Rd22d4f87c6eb4834"/>
    <p:sldId xmlns:r="http://schemas.openxmlformats.org/officeDocument/2006/relationships" id="262" r:id="R4ad0c0abf37e4475"/>
    <p:sldId xmlns:r="http://schemas.openxmlformats.org/officeDocument/2006/relationships" id="263" r:id="Ra9c6578689644c8c"/>
    <p:sldId xmlns:r="http://schemas.openxmlformats.org/officeDocument/2006/relationships" id="264" r:id="R4530175c1b86460a"/>
    <p:sldId xmlns:r="http://schemas.openxmlformats.org/officeDocument/2006/relationships" id="265" r:id="R43d7e76f083e404e"/>
    <p:sldId xmlns:r="http://schemas.openxmlformats.org/officeDocument/2006/relationships" id="266" r:id="R29df0be488c841f8"/>
    <p:sldId xmlns:r="http://schemas.openxmlformats.org/officeDocument/2006/relationships" id="267" r:id="Re7c1193a257a4b36"/>
    <p:sldId xmlns:r="http://schemas.openxmlformats.org/officeDocument/2006/relationships" id="268" r:id="R631bc3e70fc944a5"/>
    <p:sldId xmlns:r="http://schemas.openxmlformats.org/officeDocument/2006/relationships" id="269" r:id="R09ed9939d4ed44a5"/>
    <p:sldId xmlns:r="http://schemas.openxmlformats.org/officeDocument/2006/relationships" id="270" r:id="R251f71bd49d74682"/>
    <p:sldId xmlns:r="http://schemas.openxmlformats.org/officeDocument/2006/relationships" id="271" r:id="R6ed9a3654f39442f"/>
    <p:sldId xmlns:r="http://schemas.openxmlformats.org/officeDocument/2006/relationships" id="272" r:id="R0bcffa502ad64297"/>
    <p:sldId xmlns:r="http://schemas.openxmlformats.org/officeDocument/2006/relationships" id="273" r:id="R294b3fe02b854d12"/>
    <p:sldId xmlns:r="http://schemas.openxmlformats.org/officeDocument/2006/relationships" id="274" r:id="Rf460388ebf784d64"/>
    <p:sldId xmlns:r="http://schemas.openxmlformats.org/officeDocument/2006/relationships" id="275" r:id="R7e16be63a685443b"/>
    <p:sldId xmlns:r="http://schemas.openxmlformats.org/officeDocument/2006/relationships" id="276" r:id="R62ebc3626dc2450d"/>
    <p:sldId xmlns:r="http://schemas.openxmlformats.org/officeDocument/2006/relationships" id="277" r:id="R1abb1e0180c744d2"/>
    <p:sldId xmlns:r="http://schemas.openxmlformats.org/officeDocument/2006/relationships" id="278" r:id="Ra4b2d9c56bbd46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752c8ea234708" /><Relationship Type="http://schemas.openxmlformats.org/officeDocument/2006/relationships/theme" Target="/ppt/theme/theme1.xml" Id="Ra86b676edd294883" /><Relationship Type="http://schemas.openxmlformats.org/officeDocument/2006/relationships/notesMaster" Target="/ppt/notesMasters/notesMaster1.xml" Id="R5acdac67e39d496a" /><Relationship Type="http://schemas.openxmlformats.org/officeDocument/2006/relationships/presProps" Target="/ppt/presProps.xml" Id="Re02c7a43c1f347dd" /><Relationship Type="http://schemas.openxmlformats.org/officeDocument/2006/relationships/viewProps" Target="/ppt/viewProps.xml" Id="R59a96742f2664da1" /><Relationship Type="http://schemas.openxmlformats.org/officeDocument/2006/relationships/tableStyles" Target="/ppt/tableStyles.xml" Id="Rd9cdc02744f14f03" /><Relationship Type="http://schemas.openxmlformats.org/officeDocument/2006/relationships/slide" Target="/ppt/slides/slide1.xml" Id="Re130ed43999c4183" /><Relationship Type="http://schemas.openxmlformats.org/officeDocument/2006/relationships/slide" Target="/ppt/slides/slide2.xml" Id="Rb2d565f8b6de4cab" /><Relationship Type="http://schemas.openxmlformats.org/officeDocument/2006/relationships/slide" Target="/ppt/slides/slide3.xml" Id="Ra485e693302e439f" /><Relationship Type="http://schemas.openxmlformats.org/officeDocument/2006/relationships/slide" Target="/ppt/slides/slide4.xml" Id="R9aee5e8979074f8e" /><Relationship Type="http://schemas.openxmlformats.org/officeDocument/2006/relationships/slide" Target="/ppt/slides/slide5.xml" Id="R93635f692c854cee" /><Relationship Type="http://schemas.openxmlformats.org/officeDocument/2006/relationships/slide" Target="/ppt/slides/slide6.xml" Id="Rd22d4f87c6eb4834" /><Relationship Type="http://schemas.openxmlformats.org/officeDocument/2006/relationships/slide" Target="/ppt/slides/slide7.xml" Id="R4ad0c0abf37e4475" /><Relationship Type="http://schemas.openxmlformats.org/officeDocument/2006/relationships/slide" Target="/ppt/slides/slide8.xml" Id="Ra9c6578689644c8c" /><Relationship Type="http://schemas.openxmlformats.org/officeDocument/2006/relationships/slide" Target="/ppt/slides/slide9.xml" Id="R4530175c1b86460a" /><Relationship Type="http://schemas.openxmlformats.org/officeDocument/2006/relationships/slide" Target="/ppt/slides/slide10.xml" Id="R43d7e76f083e404e" /><Relationship Type="http://schemas.openxmlformats.org/officeDocument/2006/relationships/slide" Target="/ppt/slides/slide11.xml" Id="R29df0be488c841f8" /><Relationship Type="http://schemas.openxmlformats.org/officeDocument/2006/relationships/slide" Target="/ppt/slides/slide12.xml" Id="Re7c1193a257a4b36" /><Relationship Type="http://schemas.openxmlformats.org/officeDocument/2006/relationships/slide" Target="/ppt/slides/slide13.xml" Id="R631bc3e70fc944a5" /><Relationship Type="http://schemas.openxmlformats.org/officeDocument/2006/relationships/slide" Target="/ppt/slides/slide14.xml" Id="R09ed9939d4ed44a5" /><Relationship Type="http://schemas.openxmlformats.org/officeDocument/2006/relationships/slide" Target="/ppt/slides/slide15.xml" Id="R251f71bd49d74682" /><Relationship Type="http://schemas.openxmlformats.org/officeDocument/2006/relationships/slide" Target="/ppt/slides/slide16.xml" Id="R6ed9a3654f39442f" /><Relationship Type="http://schemas.openxmlformats.org/officeDocument/2006/relationships/slide" Target="/ppt/slides/slide17.xml" Id="R0bcffa502ad64297" /><Relationship Type="http://schemas.openxmlformats.org/officeDocument/2006/relationships/slide" Target="/ppt/slides/slide18.xml" Id="R294b3fe02b854d12" /><Relationship Type="http://schemas.openxmlformats.org/officeDocument/2006/relationships/slide" Target="/ppt/slides/slide19.xml" Id="Rf460388ebf784d64" /><Relationship Type="http://schemas.openxmlformats.org/officeDocument/2006/relationships/slide" Target="/ppt/slides/slide20.xml" Id="R7e16be63a685443b" /><Relationship Type="http://schemas.openxmlformats.org/officeDocument/2006/relationships/slide" Target="/ppt/slides/slide21.xml" Id="R62ebc3626dc2450d" /><Relationship Type="http://schemas.openxmlformats.org/officeDocument/2006/relationships/slide" Target="/ppt/slides/slide22.xml" Id="R1abb1e0180c744d2" /><Relationship Type="http://schemas.openxmlformats.org/officeDocument/2006/relationships/slide" Target="/ppt/slides/slide23.xml" Id="Ra4b2d9c56bbd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101a182166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523177d7f43ad" /><Relationship Type="http://schemas.openxmlformats.org/officeDocument/2006/relationships/notesMaster" Target="/ppt/notesMasters/notesMaster1.xml" Id="R4d37060e3337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6f6875cac4c25" /><Relationship Type="http://schemas.openxmlformats.org/officeDocument/2006/relationships/notesMaster" Target="/ppt/notesMasters/notesMaster1.xml" Id="R2fc204d9ac95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15b15190447ec" /><Relationship Type="http://schemas.openxmlformats.org/officeDocument/2006/relationships/notesMaster" Target="/ppt/notesMasters/notesMaster1.xml" Id="Re7d6999edb0d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0eb0311344243" /><Relationship Type="http://schemas.openxmlformats.org/officeDocument/2006/relationships/notesMaster" Target="/ppt/notesMasters/notesMaster1.xml" Id="R2279e4b3f1fc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49902f05b40a7" /><Relationship Type="http://schemas.openxmlformats.org/officeDocument/2006/relationships/notesMaster" Target="/ppt/notesMasters/notesMaster1.xml" Id="R2146ec5797b7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90f53ef634810" /><Relationship Type="http://schemas.openxmlformats.org/officeDocument/2006/relationships/notesMaster" Target="/ppt/notesMasters/notesMaster1.xml" Id="R1277f74b42fa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a6c88f8e0488c" /><Relationship Type="http://schemas.openxmlformats.org/officeDocument/2006/relationships/notesMaster" Target="/ppt/notesMasters/notesMaster1.xml" Id="R190e3333d464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e475fcde84332" /><Relationship Type="http://schemas.openxmlformats.org/officeDocument/2006/relationships/notesMaster" Target="/ppt/notesMasters/notesMaster1.xml" Id="R7f15170bf15b4a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de210c69d42c5" /><Relationship Type="http://schemas.openxmlformats.org/officeDocument/2006/relationships/notesMaster" Target="/ppt/notesMasters/notesMaster1.xml" Id="Rd4760e7f0a43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814f3f6dc48ab" /><Relationship Type="http://schemas.openxmlformats.org/officeDocument/2006/relationships/notesMaster" Target="/ppt/notesMasters/notesMaster1.xml" Id="Ra03479cc9144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1cb68174844db2" /><Relationship Type="http://schemas.openxmlformats.org/officeDocument/2006/relationships/notesMaster" Target="/ppt/notesMasters/notesMaster1.xml" Id="Rd27cb62fdb3042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535f2ebbc4f03" /><Relationship Type="http://schemas.openxmlformats.org/officeDocument/2006/relationships/notesMaster" Target="/ppt/notesMasters/notesMaster1.xml" Id="R41dfd7f5a10248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8581532b0a437a" /><Relationship Type="http://schemas.openxmlformats.org/officeDocument/2006/relationships/notesMaster" Target="/ppt/notesMasters/notesMaster1.xml" Id="Ra1346fee1960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177ce610ef44b2" /><Relationship Type="http://schemas.openxmlformats.org/officeDocument/2006/relationships/notesMaster" Target="/ppt/notesMasters/notesMaster1.xml" Id="Rd762e50b34e04b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165ce57165453c" /><Relationship Type="http://schemas.openxmlformats.org/officeDocument/2006/relationships/notesMaster" Target="/ppt/notesMasters/notesMaster1.xml" Id="R0c5bc0a40fdd4b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f914e1f98c403c" /><Relationship Type="http://schemas.openxmlformats.org/officeDocument/2006/relationships/notesMaster" Target="/ppt/notesMasters/notesMaster1.xml" Id="Rf93a879d4b3343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e1d55d37034b71" /><Relationship Type="http://schemas.openxmlformats.org/officeDocument/2006/relationships/notesMaster" Target="/ppt/notesMasters/notesMaster1.xml" Id="R02012367124840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81d84f74ec45a3" /><Relationship Type="http://schemas.openxmlformats.org/officeDocument/2006/relationships/notesMaster" Target="/ppt/notesMasters/notesMaster1.xml" Id="Rf675c88ea13642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2813a403724dac" /><Relationship Type="http://schemas.openxmlformats.org/officeDocument/2006/relationships/notesMaster" Target="/ppt/notesMasters/notesMaster1.xml" Id="Rb2183d59ee3d43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72168a09de46af" /><Relationship Type="http://schemas.openxmlformats.org/officeDocument/2006/relationships/notesMaster" Target="/ppt/notesMasters/notesMaster1.xml" Id="Rcc0c4171b5e04a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7959dd3df94b3b" /><Relationship Type="http://schemas.openxmlformats.org/officeDocument/2006/relationships/notesMaster" Target="/ppt/notesMasters/notesMaster1.xml" Id="R0a1fdbac431e4a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24228ee76b4ca3" /><Relationship Type="http://schemas.openxmlformats.org/officeDocument/2006/relationships/notesMaster" Target="/ppt/notesMasters/notesMaster1.xml" Id="Rac659c31a9164b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37d884d8fb4e29" /><Relationship Type="http://schemas.openxmlformats.org/officeDocument/2006/relationships/notesMaster" Target="/ppt/notesMasters/notesMaster1.xml" Id="Re84e00962d89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87fb74a8348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1aa9cf9e054501" /><Relationship Type="http://schemas.openxmlformats.org/officeDocument/2006/relationships/slideLayout" Target="/ppt/slideLayouts/slideLayout2.xml" Id="R5c56ca065579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6ca065579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3e3ceee1b4682" /><Relationship Type="http://schemas.openxmlformats.org/officeDocument/2006/relationships/notesSlide" Target="/ppt/notesSlides/notesSlide1.xml" Id="R4bb4cc1ea60041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73e85e0d54dd9" /><Relationship Type="http://schemas.openxmlformats.org/officeDocument/2006/relationships/notesSlide" Target="/ppt/notesSlides/notesSlide2.xml" Id="R9cc2bd9667aa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e874fdebb49c6" /><Relationship Type="http://schemas.openxmlformats.org/officeDocument/2006/relationships/notesSlide" Target="/ppt/notesSlides/notesSlide3.xml" Id="Re89ee9b978da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87bc9e4b0417c" /><Relationship Type="http://schemas.openxmlformats.org/officeDocument/2006/relationships/notesSlide" Target="/ppt/notesSlides/notesSlide4.xml" Id="R9d3842a1dcf9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60dd9adaf4229" /><Relationship Type="http://schemas.openxmlformats.org/officeDocument/2006/relationships/notesSlide" Target="/ppt/notesSlides/notesSlide5.xml" Id="R05f175a8aefb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593138cfd6408c" /><Relationship Type="http://schemas.openxmlformats.org/officeDocument/2006/relationships/notesSlide" Target="/ppt/notesSlides/notesSlide6.xml" Id="R507e7eb3696f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5d2166a634993" /><Relationship Type="http://schemas.openxmlformats.org/officeDocument/2006/relationships/notesSlide" Target="/ppt/notesSlides/notesSlide7.xml" Id="Rc3d2d6c94840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6235aeab44a61" /><Relationship Type="http://schemas.openxmlformats.org/officeDocument/2006/relationships/notesSlide" Target="/ppt/notesSlides/notesSlide8.xml" Id="R8b1e4e1bb96043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e1362cea2d4fcf" /><Relationship Type="http://schemas.openxmlformats.org/officeDocument/2006/relationships/notesSlide" Target="/ppt/notesSlides/notesSlide9.xml" Id="R7a423635f8224e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c09395a3d4fb9" /><Relationship Type="http://schemas.openxmlformats.org/officeDocument/2006/relationships/notesSlide" Target="/ppt/notesSlides/notesSlide10.xml" Id="R4db3e0059bc2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aa2d2cc4a4f69" /><Relationship Type="http://schemas.openxmlformats.org/officeDocument/2006/relationships/notesSlide" Target="/ppt/notesSlides/notesSlide11.xml" Id="R69bfa1afb3fc4c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401ffd55a4944" /><Relationship Type="http://schemas.openxmlformats.org/officeDocument/2006/relationships/notesSlide" Target="/ppt/notesSlides/notesSlide12.xml" Id="R07d3bf57fcc44c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6f1c0d8c84ed5" /><Relationship Type="http://schemas.openxmlformats.org/officeDocument/2006/relationships/notesSlide" Target="/ppt/notesSlides/notesSlide13.xml" Id="R45aee3cc86a545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11930fb8549a7" /><Relationship Type="http://schemas.openxmlformats.org/officeDocument/2006/relationships/notesSlide" Target="/ppt/notesSlides/notesSlide14.xml" Id="R0c369e60658448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d3021651492c" /><Relationship Type="http://schemas.openxmlformats.org/officeDocument/2006/relationships/notesSlide" Target="/ppt/notesSlides/notesSlide15.xml" Id="R8b493e901d3641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c437a88d04969" /><Relationship Type="http://schemas.openxmlformats.org/officeDocument/2006/relationships/notesSlide" Target="/ppt/notesSlides/notesSlide16.xml" Id="Rcad70177f34e43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46e00eab44608" /><Relationship Type="http://schemas.openxmlformats.org/officeDocument/2006/relationships/notesSlide" Target="/ppt/notesSlides/notesSlide17.xml" Id="R3640e37a8f4647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ac3635ac34a8d" /><Relationship Type="http://schemas.openxmlformats.org/officeDocument/2006/relationships/notesSlide" Target="/ppt/notesSlides/notesSlide18.xml" Id="Rcc7f742169d94a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65d8df32f4905" /><Relationship Type="http://schemas.openxmlformats.org/officeDocument/2006/relationships/notesSlide" Target="/ppt/notesSlides/notesSlide19.xml" Id="R6082797be5d44d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e42f19d644d64" /><Relationship Type="http://schemas.openxmlformats.org/officeDocument/2006/relationships/notesSlide" Target="/ppt/notesSlides/notesSlide20.xml" Id="R929783d48bf244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77bb765134bbc" /><Relationship Type="http://schemas.openxmlformats.org/officeDocument/2006/relationships/notesSlide" Target="/ppt/notesSlides/notesSlide21.xml" Id="R6eed3062ef9e43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75aaea13f4782" /><Relationship Type="http://schemas.openxmlformats.org/officeDocument/2006/relationships/notesSlide" Target="/ppt/notesSlides/notesSlide22.xml" Id="R96a114bdd54343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4a9e6c60a54f89" /><Relationship Type="http://schemas.openxmlformats.org/officeDocument/2006/relationships/notesSlide" Target="/ppt/notesSlides/notesSlide23.xml" Id="R5507550a9af54a57" 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DC04EA03-54DE-426B-9DE7-0E0C8A58485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6CB2EB69-2289-4CA0-A0F0-1C772148A74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AF8"/>
              </a:gs>
              <a:gs pos="58000">
                <a:srgbClr val="E7F2EC"/>
              </a:gs>
              <a:gs pos="100000">
                <a:srgbClr val="F9F4E6"/>
              </a:gs>
            </a:gsLst>
            <a:lin ang="8100000"/>
          </a:gradFill>
        </ns0:spPr>
      </ns0:sp>
      <ns0:sp>
        <ns0:nvSpPr>
          <ns0:cNvPr id="3" name="">
            <a:extLst>
              <a:ext uri="{FF2B5EF4-FFF2-40B4-BE49-F238E27FC236}">
                <ns2:creationId id="{476BB138-AACB-4E28-8C5D-7FCFF23E2713}"/>
              </a:ext>
            </a:extLst>
          </ns0:cNvPr>
          <ns0:cNvSpPr>
            <a:spLocks noGrp="1"/>
          </ns0:cNvSpPr>
          <ns0:nvPr/>
        </ns0:nvSpPr>
        <ns0:spPr>
          <a:xfrm>
            <a:off x="514350" y="609600"/>
            <a:ext cx="6858000" cy="5715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4" name="">
            <a:extLst>
              <a:ext uri="{FF2B5EF4-FFF2-40B4-BE49-F238E27FC236}">
                <ns2:creationId id="{59F1CE27-0D4A-4D20-B07E-70068C587512}"/>
              </a:ext>
            </a:extLst>
          </ns0:cNvPr>
          <ns0:cNvSpPr>
            <a:spLocks noGrp="1"/>
          </ns0:cNvSpPr>
          <ns0:nvPr/>
        </ns0:nvSpPr>
        <ns0:spPr>
          <a:xfrm>
            <a:off x="533400" y="857250"/>
            <a:ext cx="40005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SPORTS NUTRITION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5655746-6289-46E9-AF0E-1CFECCE3ECC0}"/>
              </a:ext>
            </a:extLst>
          </ns0:cNvPr>
          <ns0:cNvSpPr>
            <a:spLocks noGrp="1"/>
          </ns0:cNvSpPr>
          <ns0:nvPr/>
        </ns0:nvSpPr>
        <ns0:spPr>
          <a:xfrm>
            <a:off x="514350" y="1238250"/>
            <a:ext cx="6667500" cy="666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36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Supplement Decision Deck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CBC31B1-4B06-40EB-9A7E-3B142A7B9968}"/>
              </a:ext>
            </a:extLst>
          </ns0:cNvPr>
          <ns0:cNvSpPr>
            <a:spLocks noGrp="1"/>
          </ns0:cNvSpPr>
          <ns0:nvPr/>
        </ns0:nvSpPr>
        <ns0:spPr>
          <a:xfrm>
            <a:off x="552450" y="2038350"/>
            <a:ext cx="6191250" cy="4191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Who it fits, who should avoid it, core use cases, and 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2F9D033-FD9C-4769-827D-E4647DF04590}"/>
              </a:ext>
            </a:extLst>
          </ns0:cNvPr>
          <ns0:cNvSpPr>
            <a:spLocks noGrp="1"/>
          </ns0:cNvSpPr>
          <ns0:nvPr/>
        </ns0:nvSpPr>
        <ns0:spPr>
          <a:xfrm>
            <a:off x="514350" y="31051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C9A121AC-48C6-453D-8191-C9400F8FDDC0}"/>
              </a:ext>
            </a:extLst>
          </ns0:cNvPr>
          <ns0:cNvSpPr>
            <a:spLocks noGrp="1"/>
          </ns0:cNvSpPr>
          <ns0:nvPr/>
        </ns0:nvSpPr>
        <ns0:spPr>
          <a:xfrm>
            <a:off x="762000" y="3333750"/>
            <a:ext cx="1905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Case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BEFDA0FA-6823-4B00-81C3-FB4027DF84A3}"/>
              </a:ext>
            </a:extLst>
          </ns0:cNvPr>
          <ns0:cNvSpPr>
            <a:spLocks noGrp="1"/>
          </ns0:cNvSpPr>
          <ns0:nvPr/>
        </ns0:nvSpPr>
        <ns0:spPr>
          <a:xfrm>
            <a:off x="762000" y="3695700"/>
            <a:ext cx="2571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Content creators, courses, paid guides, and supplement myth-busting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ABF0B07-2ED5-4B5B-B412-A3F2F2494968}"/>
              </a:ext>
            </a:extLst>
          </ns0:cNvPr>
          <ns0:cNvSpPr>
            <a:spLocks noGrp="1"/>
          </ns0:cNvSpPr>
          <ns0:nvPr/>
        </ns0:nvSpPr>
        <ns0:spPr>
          <a:xfrm>
            <a:off x="4076700" y="31051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E9439D8C-9268-45FC-A09D-DD24602B80C3}"/>
              </a:ext>
            </a:extLst>
          </ns0:cNvPr>
          <ns0:cNvSpPr>
            <a:spLocks noGrp="1"/>
          </ns0:cNvSpPr>
          <ns0:nvPr/>
        </ns0:nvSpPr>
        <ns0:spPr>
          <a:xfrm>
            <a:off x="4324350" y="3333750"/>
            <a:ext cx="1905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Evidence First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983DC39-4759-428D-AC22-CB8A7B7ACF6F}"/>
              </a:ext>
            </a:extLst>
          </ns0:cNvPr>
          <ns0:cNvSpPr>
            <a:spLocks noGrp="1"/>
          </ns0:cNvSpPr>
          <ns0:nvPr/>
        </ns0:nvSpPr>
        <ns0:spPr>
          <a:xfrm>
            <a:off x="4324350" y="3695700"/>
            <a:ext cx="25908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Prioritizes IOC / AIS / ISSN / ACSM / meta-analyses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7CBAFEC6-F90F-4BC2-BE3B-181B42F05EC2}"/>
              </a:ext>
            </a:extLst>
          </ns0:cNvPr>
          <ns0:cNvSpPr>
            <a:spLocks noGrp="1"/>
          </ns0:cNvSpPr>
          <ns0:nvPr/>
        </ns0:nvSpPr>
        <ns0:spPr>
          <a:xfrm>
            <a:off x="7905750" y="0"/>
            <a:ext cx="4286250" cy="6858000"/>
          </a:xfrm>
          <a:prstGeom prst="rect">
            <a:avLst/>
          </a:prstGeom>
          <a:solidFill>
            <a:srgbClr val="16231E"/>
          </a:solidFill>
        </ns0:spPr>
      </ns0:sp>
      <ns0:sp>
        <ns0:nvSpPr>
          <ns0:cNvPr id="14" name="">
            <a:extLst>
              <a:ext uri="{FF2B5EF4-FFF2-40B4-BE49-F238E27FC236}">
                <ns2:creationId id="{B4203C1A-3AFF-42CF-A2D2-67962CB4AD72}"/>
              </a:ext>
            </a:extLst>
          </ns0:cNvPr>
          <ns0:cNvSpPr>
            <a:spLocks noGrp="1"/>
          </ns0:cNvSpPr>
          <ns0:nvPr/>
        </ns0:nvSpPr>
        <ns0:spPr>
          <a:xfrm>
            <a:off x="8286750" y="876300"/>
            <a:ext cx="26670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B7E2CD"/>
                </a:solidFill>
                <a:latin typeface="Aptos"/>
                <a:ea typeface="Aptos"/>
                <a:cs typeface="Aptos"/>
              </a:defRPr>
            </a:pPr>
            <a:r>
              <a:t>Positioning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C979919-DDD0-4957-BDDC-D81DD124C602}"/>
              </a:ext>
            </a:extLst>
          </ns0:cNvPr>
          <ns0:cNvSpPr>
            <a:spLocks noGrp="1"/>
          </ns0:cNvSpPr>
          <ns0:nvPr/>
        </ns0:nvSpPr>
        <ns0:spPr>
          <a:xfrm>
            <a:off x="8286750" y="1352550"/>
            <a:ext cx="3143250" cy="13335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Supplements are not the foundation. Training, nutrition, and sleep are. Supplements only amplify results in the right context.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D34ACC33-BB72-42B1-8103-F92B22C634AC}"/>
              </a:ext>
            </a:extLst>
          </ns0:cNvPr>
          <ns0:cNvSpPr>
            <a:spLocks noGrp="1"/>
          </ns0:cNvSpPr>
          <ns0:nvPr/>
        </ns0:nvSpPr>
        <ns0:spPr>
          <a:xfrm>
            <a:off x="8286750" y="5981700"/>
            <a:ext cx="228600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BFD0C8"/>
                </a:solidFill>
                <a:latin typeface="Aptos"/>
                <a:ea typeface="Aptos"/>
                <a:cs typeface="Aptos"/>
              </a:defRPr>
            </a:pPr>
            <a:r>
              <a:t>Version 2026-05-27</a:t>
            </a:r>
          </a:p>
        </ns0:txBody>
      </ns0:sp>
    </ns0:spTree>
    <ns0:extLst>
      <ns0:ext uri="{BB962C8B-B14F-4D97-AF65-F5344CB8AC3E}">
        <ns3:creationId val="633871637"/>
      </ns0:ext>
    </ns0:extLst>
  </ns0:cSld>
</ns0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BB89159-8C89-4E9A-92A3-6C0707D6510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D9207DC-F7E7-498A-AB89-5CC5F756B1F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03208970-F349-4BA1-A8F5-81605897086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Supplement Deck | Decision Framework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387A9682-4614-4C9A-B3E5-E1045A8ED71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Evidence Grade, Not Marketing Hype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08D6843-8E4C-4E7F-A9CE-F88F20B8196B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1E836151-D562-4B66-82E3-7BAA66C5D419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AAF2FAE-80C1-4665-AB3C-8D0E50986BB9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 statement, Br J Sports Med, 2018,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Sports Supplement Framework / Group A, Australian Institute of Sport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creatine, caffeine, omega-3, beta-alanine, sodium bicarbonate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0A866B4-5ECB-43A6-B119-236DD76A0743}"/>
              </a:ext>
            </a:extLst>
          </ns0:cNvPr>
          <ns0:cNvSpPr>
            <a:spLocks noGrp="1"/>
          </ns0:cNvSpPr>
          <ns0:nvPr/>
        </ns0:nvSpPr>
        <ns0:spPr>
          <a:xfrm>
            <a:off x="495300" y="14287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BF54897E-4589-49AF-BE74-F1D545EDE29A}"/>
              </a:ext>
            </a:extLst>
          </ns0:cNvPr>
          <ns0:cNvSpPr>
            <a:spLocks noGrp="1"/>
          </ns0:cNvSpPr>
          <ns0:nvPr/>
        </ns0:nvSpPr>
        <ns0:spPr>
          <a:xfrm>
            <a:off x="704850" y="15906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10" name="">
            <a:extLst>
              <a:ext uri="{FF2B5EF4-FFF2-40B4-BE49-F238E27FC236}">
                <ns2:creationId id="{FCF6DF38-9A18-4792-AF88-D74422B89FF8}"/>
              </a:ext>
            </a:extLst>
          </ns0:cNvPr>
          <ns0:cNvSpPr>
            <a:spLocks noGrp="1"/>
          </ns0:cNvSpPr>
          <ns0:nvPr/>
        </ns0:nvSpPr>
        <ns0:spPr>
          <a:xfrm>
            <a:off x="704850" y="16668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5C8BD41-6B8D-4174-88D2-1BB3DF19A0F1}"/>
              </a:ext>
            </a:extLst>
          </ns0:cNvPr>
          <ns0:cNvSpPr>
            <a:spLocks noGrp="1"/>
          </ns0:cNvSpPr>
          <ns0:nvPr/>
        </ns0:nvSpPr>
        <ns0:spPr>
          <a:xfrm>
            <a:off x="704850" y="19240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83DF5A60-F899-4D98-A461-FC3124F4AD13}"/>
              </a:ext>
            </a:extLst>
          </ns0:cNvPr>
          <ns0:cNvSpPr>
            <a:spLocks noGrp="1"/>
          </ns0:cNvSpPr>
          <ns0:nvPr/>
        </ns0:nvSpPr>
        <ns0:spPr>
          <a:xfrm>
            <a:off x="1428750" y="16002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Core Supplements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B2963988-7D22-4F44-8FE1-BD62F2632F32}"/>
              </a:ext>
            </a:extLst>
          </ns0:cNvPr>
          <ns0:cNvSpPr>
            <a:spLocks noGrp="1"/>
          </ns0:cNvSpPr>
          <ns0:nvPr/>
        </ns0:nvSpPr>
        <ns0:spPr>
          <a:xfrm>
            <a:off x="3086100" y="16002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Creatine, protein powder, caffeine, nitrate, beta-alanine, sodium bicarbonate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9055FAA5-088B-4BF3-9DB3-7335DEB94121}"/>
              </a:ext>
            </a:extLst>
          </ns0:cNvPr>
          <ns0:cNvSpPr>
            <a:spLocks noGrp="1"/>
          </ns0:cNvSpPr>
          <ns0:nvPr/>
        </ns0:nvSpPr>
        <ns0:spPr>
          <a:xfrm>
            <a:off x="6667500" y="16668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Main content candidates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8C653F3-9B58-42DA-B52C-F29CCF3E49EC}"/>
              </a:ext>
            </a:extLst>
          </ns0:cNvPr>
          <ns0:cNvSpPr>
            <a:spLocks noGrp="1"/>
          </ns0:cNvSpPr>
          <ns0:nvPr/>
        </ns0:nvSpPr>
        <ns0:spPr>
          <a:xfrm>
            <a:off x="495300" y="24193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DA862AA8-C897-429C-99E9-33732C1646B0}"/>
              </a:ext>
            </a:extLst>
          </ns0:cNvPr>
          <ns0:cNvSpPr>
            <a:spLocks noGrp="1"/>
          </ns0:cNvSpPr>
          <ns0:nvPr/>
        </ns0:nvSpPr>
        <ns0:spPr>
          <a:xfrm>
            <a:off x="704850" y="25812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17" name="">
            <a:extLst>
              <a:ext uri="{FF2B5EF4-FFF2-40B4-BE49-F238E27FC236}">
                <ns2:creationId id="{5FD0AF14-CABB-4B2A-B521-F0C3DDD442D1}"/>
              </a:ext>
            </a:extLst>
          </ns0:cNvPr>
          <ns0:cNvSpPr>
            <a:spLocks noGrp="1"/>
          </ns0:cNvSpPr>
          <ns0:nvPr/>
        </ns0:nvSpPr>
        <ns0:spPr>
          <a:xfrm>
            <a:off x="704850" y="26574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2F677EE-4888-46D8-BD0C-416237469B43}"/>
              </a:ext>
            </a:extLst>
          </ns0:cNvPr>
          <ns0:cNvSpPr>
            <a:spLocks noGrp="1"/>
          </ns0:cNvSpPr>
          <ns0:nvPr/>
        </ns0:nvSpPr>
        <ns0:spPr>
          <a:xfrm>
            <a:off x="704850" y="29146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A699785E-68E5-4551-9684-BD54ECE30E18}"/>
              </a:ext>
            </a:extLst>
          </ns0:cNvPr>
          <ns0:cNvSpPr>
            <a:spLocks noGrp="1"/>
          </ns0:cNvSpPr>
          <ns0:nvPr/>
        </ns0:nvSpPr>
        <ns0:spPr>
          <a:xfrm>
            <a:off x="1428750" y="25908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Contextual Supplements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2F3468EC-B38F-4EC7-9D5C-EA5355855CA1}"/>
              </a:ext>
            </a:extLst>
          </ns0:cNvPr>
          <ns0:cNvSpPr>
            <a:spLocks noGrp="1"/>
          </ns0:cNvSpPr>
          <ns0:nvPr/>
        </ns0:nvSpPr>
        <ns0:spPr>
          <a:xfrm>
            <a:off x="3086100" y="25908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omega-3、citrulline、HMB、tart cherry/polyphenols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866D6A2C-BDFB-4767-8856-1134A74CB568}"/>
              </a:ext>
            </a:extLst>
          </ns0:cNvPr>
          <ns0:cNvSpPr>
            <a:spLocks noGrp="1"/>
          </ns0:cNvSpPr>
          <ns0:nvPr/>
        </ns0:nvSpPr>
        <ns0:spPr>
          <a:xfrm>
            <a:off x="6667500" y="26574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Explain population and purpose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6CAED733-9886-4D94-8BBC-3298C674F563}"/>
              </a:ext>
            </a:extLst>
          </ns0:cNvPr>
          <ns0:cNvSpPr>
            <a:spLocks noGrp="1"/>
          </ns0:cNvSpPr>
          <ns0:nvPr/>
        </ns0:nvSpPr>
        <ns0:spPr>
          <a:xfrm>
            <a:off x="495300" y="34099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CF25B688-F64B-47DD-8669-45A3AC5E633A}"/>
              </a:ext>
            </a:extLst>
          </ns0:cNvPr>
          <ns0:cNvSpPr>
            <a:spLocks noGrp="1"/>
          </ns0:cNvSpPr>
          <ns0:nvPr/>
        </ns0:nvSpPr>
        <ns0:spPr>
          <a:xfrm>
            <a:off x="704850" y="35718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24" name="">
            <a:extLst>
              <a:ext uri="{FF2B5EF4-FFF2-40B4-BE49-F238E27FC236}">
                <ns2:creationId id="{6B1E1DA9-F9E9-4E8B-831D-D90B545568BA}"/>
              </a:ext>
            </a:extLst>
          </ns0:cNvPr>
          <ns0:cNvSpPr>
            <a:spLocks noGrp="1"/>
          </ns0:cNvSpPr>
          <ns0:nvPr/>
        </ns0:nvSpPr>
        <ns0:spPr>
          <a:xfrm>
            <a:off x="704850" y="36480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62A8569-54D2-4ED7-A9A5-9EB58D0F817D}"/>
              </a:ext>
            </a:extLst>
          </ns0:cNvPr>
          <ns0:cNvSpPr>
            <a:spLocks noGrp="1"/>
          </ns0:cNvSpPr>
          <ns0:nvPr/>
        </ns0:nvSpPr>
        <ns0:spPr>
          <a:xfrm>
            <a:off x="704850" y="39052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0C224D25-C450-4626-BA44-EC0AB4367D07}"/>
              </a:ext>
            </a:extLst>
          </ns0:cNvPr>
          <ns0:cNvSpPr>
            <a:spLocks noGrp="1"/>
          </ns0:cNvSpPr>
          <ns0:nvPr/>
        </ns0:nvSpPr>
        <ns0:spPr>
          <a:xfrm>
            <a:off x="1428750" y="35814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072EB6C5-FEA4-4750-AF19-D904EBD10B6E}"/>
              </a:ext>
            </a:extLst>
          </ns0:cNvPr>
          <ns0:cNvSpPr>
            <a:spLocks noGrp="1"/>
          </ns0:cNvSpPr>
          <ns0:nvPr/>
        </ns0:nvSpPr>
        <ns0:spPr>
          <a:xfrm>
            <a:off x="3086100" y="35814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Glutamine, GABA, general antioxidant supplements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7F8818D0-E8C2-4973-AB6E-EFE8325D6785}"/>
              </a:ext>
            </a:extLst>
          </ns0:cNvPr>
          <ns0:cNvSpPr>
            <a:spLocks noGrp="1"/>
          </ns0:cNvSpPr>
          <ns0:nvPr/>
        </ns0:nvSpPr>
        <ns0:spPr>
          <a:xfrm>
            <a:off x="6667500" y="36480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Good for myth-busting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D235006-0693-48AE-8BF9-BCB792BE1976}"/>
              </a:ext>
            </a:extLst>
          </ns0:cNvPr>
          <ns0:cNvSpPr>
            <a:spLocks noGrp="1"/>
          </ns0:cNvSpPr>
          <ns0:nvPr/>
        </ns0:nvSpPr>
        <ns0:spPr>
          <a:xfrm>
            <a:off x="495300" y="44005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15755F3C-A0E2-4998-B021-63E6DFC37740}"/>
              </a:ext>
            </a:extLst>
          </ns0:cNvPr>
          <ns0:cNvSpPr>
            <a:spLocks noGrp="1"/>
          </ns0:cNvSpPr>
          <ns0:nvPr/>
        </ns0:nvSpPr>
        <ns0:spPr>
          <a:xfrm>
            <a:off x="704850" y="45624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31" name="">
            <a:extLst>
              <a:ext uri="{FF2B5EF4-FFF2-40B4-BE49-F238E27FC236}">
                <ns2:creationId id="{8FF1EBCD-C870-46FE-A784-69A220A1C13D}"/>
              </a:ext>
            </a:extLst>
          </ns0:cNvPr>
          <ns0:cNvSpPr>
            <a:spLocks noGrp="1"/>
          </ns0:cNvSpPr>
          <ns0:nvPr/>
        </ns0:nvSpPr>
        <ns0:spPr>
          <a:xfrm>
            <a:off x="704850" y="46386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F928B505-179F-4C39-9707-CDE2C0DCD083}"/>
              </a:ext>
            </a:extLst>
          </ns0:cNvPr>
          <ns0:cNvSpPr>
            <a:spLocks noGrp="1"/>
          </ns0:cNvSpPr>
          <ns0:nvPr/>
        </ns0:nvSpPr>
        <ns0:spPr>
          <a:xfrm>
            <a:off x="704850" y="48958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BA8390E6-294A-4F19-B968-AB7327AA98D5}"/>
              </a:ext>
            </a:extLst>
          </ns0:cNvPr>
          <ns0:cNvSpPr>
            <a:spLocks noGrp="1"/>
          </ns0:cNvSpPr>
          <ns0:nvPr/>
        </ns0:nvSpPr>
        <ns0:spPr>
          <a:xfrm>
            <a:off x="1428750" y="45720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Avoid Packaging as a Product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4403E727-D621-4E2E-A97C-CB3A206A5032}"/>
              </a:ext>
            </a:extLst>
          </ns0:cNvPr>
          <ns0:cNvSpPr>
            <a:spLocks noGrp="1"/>
          </ns0:cNvSpPr>
          <ns0:nvPr/>
        </ns0:nvSpPr>
        <ns0:spPr>
          <a:xfrm>
            <a:off x="3086100" y="45720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Overclaimed, unclear ingredients, or multi-stimulant products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E220F466-79EE-496D-8D4D-D86B4EB30D1F}"/>
              </a:ext>
            </a:extLst>
          </ns0:cNvPr>
          <ns0:cNvSpPr>
            <a:spLocks noGrp="1"/>
          </ns0:cNvSpPr>
          <ns0:nvPr/>
        </ns0:nvSpPr>
        <ns0:spPr>
          <a:xfrm>
            <a:off x="6667500" y="46386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High risk / low credibility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E65ED4D6-95B9-4247-88AA-C7466F728A3D}"/>
              </a:ext>
            </a:extLst>
          </ns0:cNvPr>
          <ns0:cNvSpPr>
            <a:spLocks noGrp="1"/>
          </ns0:cNvSpPr>
          <ns0:nvPr/>
        </ns0:nvSpPr>
        <ns0:spPr>
          <a:xfrm>
            <a:off x="666750" y="5619750"/>
            <a:ext cx="7239000" cy="3238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Commercial principle: sell the decision framework, not miracle promises.</a:t>
            </a:r>
          </a:p>
        </ns0:txBody>
      </ns0:sp>
    </ns0:spTree>
    <ns0:extLst>
      <ns0:ext uri="{BB962C8B-B14F-4D97-AF65-F5344CB8AC3E}">
        <ns3:creationId val="1053054422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1BC6B898-BAFD-40C8-B3DD-927DF7FAE72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C8303005-E15B-43FA-98CD-AEB3741DA2D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250F6960-6A25-45AB-8A7E-E575DB029104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Supplement Deck | Source Verification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082F30FC-D68F-4B65-A18F-63867A0797AA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Source Check: Keep Only Traceable References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C04B4C1-E039-4B8E-9940-4A062F4F002A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46A646F5-6A91-4E9B-ACF5-C05120999BC3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0D419705-0413-4DDD-A189-97DC492E477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PubMed / PMC records were checked for PMID, PMCID or DOI traceability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NIH Office of Dietary Supplements pages were used for zinc and multivitamin safety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/ IOC / ISSN / ACSM were prioritized for consensus-level sport nutrition guidance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8DA7ADB-6901-4845-93FD-226CF2C94CEB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AB8AD7AD-C045-4EB3-87F1-B12A612954B6}"/>
              </a:ext>
            </a:extLst>
          </ns0:cNvPr>
          <ns0:cNvSpPr>
            <a:spLocks noGrp="1"/>
          </ns0:cNvSpPr>
          <ns0:nvPr/>
        </ns0:nvSpPr>
        <ns0:spPr>
          <a:xfrm>
            <a:off x="704850" y="1543050"/>
            <a:ext cx="2381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Verified Source Types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D277B39-B53D-461C-AF19-90342CCBF884}"/>
              </a:ext>
            </a:extLst>
          </ns0:cNvPr>
          <ns0:cNvSpPr>
            <a:spLocks noGrp="1"/>
          </ns0:cNvSpPr>
          <ns0:nvPr/>
        </ns0:nvSpPr>
        <ns0:spPr>
          <a:xfrm>
            <a:off x="762000" y="2143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1" name="">
            <a:extLst>
              <a:ext uri="{FF2B5EF4-FFF2-40B4-BE49-F238E27FC236}">
                <ns2:creationId id="{8FA97384-BAF8-435D-822F-C80654601565}"/>
              </a:ext>
            </a:extLst>
          </ns0:cNvPr>
          <ns0:cNvSpPr>
            <a:spLocks noGrp="1"/>
          </ns0:cNvSpPr>
          <ns0:nvPr/>
        </ns0:nvSpPr>
        <ns0:spPr>
          <a:xfrm>
            <a:off x="933450" y="207645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PubMed / PMC: PMID, PMCID, or DOI can be checked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D8224BA-98A4-4D07-A94D-A3D9971B2CD4}"/>
              </a:ext>
            </a:extLst>
          </ns0:cNvPr>
          <ns0:cNvSpPr>
            <a:spLocks noGrp="1"/>
          </ns0:cNvSpPr>
          <ns0:nvPr/>
        </ns0:nvSpPr>
        <ns0:spPr>
          <a:xfrm>
            <a:off x="762000" y="2543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3" name="">
            <a:extLst>
              <a:ext uri="{FF2B5EF4-FFF2-40B4-BE49-F238E27FC236}">
                <ns2:creationId id="{D83015E4-A234-43AE-9303-0989AF69757D}"/>
              </a:ext>
            </a:extLst>
          </ns0:cNvPr>
          <ns0:cNvSpPr>
            <a:spLocks noGrp="1"/>
          </ns0:cNvSpPr>
          <ns0:nvPr/>
        </ns0:nvSpPr>
        <ns0:spPr>
          <a:xfrm>
            <a:off x="933450" y="247650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Official bodies: NIH ODS, AIS, IOC, ACSM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A5BB3D7-8211-440A-A61E-F3DC2A396DE4}"/>
              </a:ext>
            </a:extLst>
          </ns0:cNvPr>
          <ns0:cNvSpPr>
            <a:spLocks noGrp="1"/>
          </ns0:cNvSpPr>
          <ns0:nvPr/>
        </ns0:nvSpPr>
        <ns0:spPr>
          <a:xfrm>
            <a:off x="762000" y="2943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5" name="">
            <a:extLst>
              <a:ext uri="{FF2B5EF4-FFF2-40B4-BE49-F238E27FC236}">
                <ns2:creationId id="{1F7C1498-3544-46E9-9A35-252150FC05C1}"/>
              </a:ext>
            </a:extLst>
          </ns0:cNvPr>
          <ns0:cNvSpPr>
            <a:spLocks noGrp="1"/>
          </ns0:cNvSpPr>
          <ns0:nvPr/>
        </ns0:nvSpPr>
        <ns0:spPr>
          <a:xfrm>
            <a:off x="933450" y="287655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Society statements: ISSN position stands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9B37C253-CACE-4BFE-936D-207F8FD06AA2}"/>
              </a:ext>
            </a:extLst>
          </ns0:cNvPr>
          <ns0:cNvSpPr>
            <a:spLocks noGrp="1"/>
          </ns0:cNvSpPr>
          <ns0:nvPr/>
        </ns0:nvSpPr>
        <ns0:spPr>
          <a:xfrm>
            <a:off x="762000" y="3343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7" name="">
            <a:extLst>
              <a:ext uri="{FF2B5EF4-FFF2-40B4-BE49-F238E27FC236}">
                <ns2:creationId id="{042FDC49-3DF4-423A-9419-D393F9B86D87}"/>
              </a:ext>
            </a:extLst>
          </ns0:cNvPr>
          <ns0:cNvSpPr>
            <a:spLocks noGrp="1"/>
          </ns0:cNvSpPr>
          <ns0:nvPr/>
        </ns0:nvSpPr>
        <ns0:spPr>
          <a:xfrm>
            <a:off x="933450" y="327660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Removed or replaced: unstable years, journals, or vague references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A96B315-15A9-4BBA-825D-A974B63CC647}"/>
              </a:ext>
            </a:extLst>
          </ns0:cNvPr>
          <ns0:cNvSpPr>
            <a:spLocks noGrp="1"/>
          </ns0:cNvSpPr>
          <ns0:nvPr/>
        </ns0:nvSpPr>
        <ns0:spPr>
          <a:xfrm>
            <a:off x="723900" y="3829050"/>
            <a:ext cx="69151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9" name="">
            <a:extLst>
              <a:ext uri="{FF2B5EF4-FFF2-40B4-BE49-F238E27FC236}">
                <ns2:creationId id="{9D16BCB5-12A1-4ADF-BF65-82A12A2B83E1}"/>
              </a:ext>
            </a:extLst>
          </ns0:cNvPr>
          <ns0:cNvSpPr>
            <a:spLocks noGrp="1"/>
          </ns0:cNvSpPr>
          <ns0:nvPr/>
        </ns0:nvSpPr>
        <ns0:spPr>
          <a:xfrm>
            <a:off x="704850" y="4076700"/>
            <a:ext cx="2381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Added Micronutrient References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7C5F9F48-E989-48B0-B708-646551D3DF81}"/>
              </a:ext>
            </a:extLst>
          </ns0:cNvPr>
          <ns0:cNvSpPr>
            <a:spLocks noGrp="1"/>
          </ns0:cNvSpPr>
          <ns0:nvPr/>
        </ns0:nvSpPr>
        <ns0:spPr>
          <a:xfrm>
            <a:off x="762000" y="4457700"/>
            <a:ext cx="666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Zinc: NIH ODS Zinc Fact Sheet, IOC supplement consensus, AIS Group A / zinc.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1FA4461E-909A-48BE-9643-BE157E97F343}"/>
              </a:ext>
            </a:extLst>
          </ns0:cNvPr>
          <ns0:cNvSpPr>
            <a:spLocks noGrp="1"/>
          </ns0:cNvSpPr>
          <ns0:nvPr/>
        </ns0:nvSpPr>
        <ns0:spPr>
          <a:xfrm>
            <a:off x="762000" y="4819650"/>
            <a:ext cx="666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Multivitamin: NIH ODS Multivitamin/mineral Fact Sheet, IOC supplement consensus, AIS framework.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C311980E-8CAB-4FC5-98DF-EEF3029C9B11}"/>
              </a:ext>
            </a:extLst>
          </ns0:cNvPr>
          <ns0:cNvSpPr>
            <a:spLocks noGrp="1"/>
          </ns0:cNvSpPr>
          <ns0:nvPr/>
        </ns0:nvSpPr>
        <ns0:spPr>
          <a:xfrm>
            <a:off x="590550" y="5810250"/>
            <a:ext cx="7239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Note: References intentionally keep PMID / PMCID / DOI / official page names so you can organize them into a knowledge base later.</a:t>
            </a:r>
          </a:p>
        </ns0:txBody>
      </ns0:sp>
    </ns0:spTree>
    <ns0:extLst>
      <ns0:ext uri="{BB962C8B-B14F-4D97-AF65-F5344CB8AC3E}">
        <ns3:creationId val="2011112152"/>
      </ns0:ext>
    </ns0:extLst>
  </ns0:cSld>
</ns0:sld>
</file>

<file path=ppt/slides/slide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2366274-6641-4F2C-8B34-AC8BB144AE5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D4B4641-3714-40CE-8EA2-64656B70130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D5DAA7C0-D869-4A75-9B29-1AABCBE777A7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Supplement Deck | Quick Map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396D58C1-BD53-4141-913C-3E48F97FE95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Supplement Overview: Ask the Goal Before the Product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1108A92-8114-4734-B6AD-9C59694075DC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BAD4C742-C07D-4CD3-BBEE-7488AEB9CBCF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39889EF2-73F6-451E-80A1-30AB6079F2D4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AIS Group A: supported for specific sport situations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2018: supplement use must be scenario-based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ingredient-specific evidence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113BA06-B7CD-4963-BD48-80EC7E41210C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428625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E915CD77-5440-4E54-B9EF-7645E1937F8E}"/>
              </a:ext>
            </a:extLst>
          </ns0:cNvPr>
          <ns0:cNvSpPr>
            <a:spLocks noGrp="1"/>
          </ns0:cNvSpPr>
          <ns0:nvPr/>
        </ns0:nvSpPr>
        <ns0:spPr>
          <a:xfrm>
            <a:off x="714375" y="1543050"/>
            <a:ext cx="10477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Goal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B90E9626-BEE2-4143-887C-76ACF1CC11EB}"/>
              </a:ext>
            </a:extLst>
          </ns0:cNvPr>
          <ns0:cNvSpPr>
            <a:spLocks noGrp="1"/>
          </ns0:cNvSpPr>
          <ns0:nvPr/>
        </ns0:nvSpPr>
        <ns0:spPr>
          <a:xfrm>
            <a:off x="2362200" y="154305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Priority Supplements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3531A2A-0BD7-4D39-82A1-3972CFB4D8DE}"/>
              </a:ext>
            </a:extLst>
          </ns0:cNvPr>
          <ns0:cNvSpPr>
            <a:spLocks noGrp="1"/>
          </ns0:cNvSpPr>
          <ns0:nvPr/>
        </ns0:nvSpPr>
        <ns0:spPr>
          <a:xfrm>
            <a:off x="4762500" y="1543050"/>
            <a:ext cx="20955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Best-Fit Audience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ECA38F8-E4DC-42F0-9982-7FBD9D339089}"/>
              </a:ext>
            </a:extLst>
          </ns0:cNvPr>
          <ns0:cNvSpPr>
            <a:spLocks noGrp="1"/>
          </ns0:cNvSpPr>
          <ns0:nvPr/>
        </ns0:nvSpPr>
        <ns0:spPr>
          <a:xfrm>
            <a:off x="666750" y="1885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3" name="">
            <a:extLst>
              <a:ext uri="{FF2B5EF4-FFF2-40B4-BE49-F238E27FC236}">
                <ns2:creationId id="{1D6B39AB-B393-4FE6-B876-F530F1BA29B6}"/>
              </a:ext>
            </a:extLst>
          </ns0:cNvPr>
          <ns0:cNvSpPr>
            <a:spLocks noGrp="1"/>
          </ns0:cNvSpPr>
          <ns0:nvPr/>
        </ns0:nvSpPr>
        <ns0:spPr>
          <a:xfrm>
            <a:off x="714375" y="1981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Muscle Gain / Strength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6469C30-900C-4864-89CC-7CB53F40D02E}"/>
              </a:ext>
            </a:extLst>
          </ns0:cNvPr>
          <ns0:cNvSpPr>
            <a:spLocks noGrp="1"/>
          </ns0:cNvSpPr>
          <ns0:nvPr/>
        </ns0:nvSpPr>
        <ns0:spPr>
          <a:xfrm>
            <a:off x="2362200" y="1981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Creatine, protein powder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C75CD84-5B72-4BED-B17B-2B9FE7F9C9DC}"/>
              </a:ext>
            </a:extLst>
          </ns0:cNvPr>
          <ns0:cNvSpPr>
            <a:spLocks noGrp="1"/>
          </ns0:cNvSpPr>
          <ns0:nvPr/>
        </ns0:nvSpPr>
        <ns0:spPr>
          <a:xfrm>
            <a:off x="4762500" y="1981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Resistance trainees, low-protein diets, vegetarians, older adults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CAE7C767-ECAC-4E27-86E7-9D3E5441B45A}"/>
              </a:ext>
            </a:extLst>
          </ns0:cNvPr>
          <ns0:cNvSpPr>
            <a:spLocks noGrp="1"/>
          </ns0:cNvSpPr>
          <ns0:nvPr/>
        </ns0:nvSpPr>
        <ns0:spPr>
          <a:xfrm>
            <a:off x="666750" y="2457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7" name="">
            <a:extLst>
              <a:ext uri="{FF2B5EF4-FFF2-40B4-BE49-F238E27FC236}">
                <ns2:creationId id="{12A35725-B13E-4220-8AB2-C6A3424B00A3}"/>
              </a:ext>
            </a:extLst>
          </ns0:cNvPr>
          <ns0:cNvSpPr>
            <a:spLocks noGrp="1"/>
          </ns0:cNvSpPr>
          <ns0:nvPr/>
        </ns0:nvSpPr>
        <ns0:spPr>
          <a:xfrm>
            <a:off x="714375" y="2552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Endurance / High Intensity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E804CAD-D026-41FD-BEEC-69F8D4484B83}"/>
              </a:ext>
            </a:extLst>
          </ns0:cNvPr>
          <ns0:cNvSpPr>
            <a:spLocks noGrp="1"/>
          </ns0:cNvSpPr>
          <ns0:nvPr/>
        </ns0:nvSpPr>
        <ns0:spPr>
          <a:xfrm>
            <a:off x="2362200" y="2552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Caffeine, nitrate, beta-alanine, sodium bicarbonate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BE848D8-400D-46D1-BED2-2389A3BEE182}"/>
              </a:ext>
            </a:extLst>
          </ns0:cNvPr>
          <ns0:cNvSpPr>
            <a:spLocks noGrp="1"/>
          </ns0:cNvSpPr>
          <ns0:nvPr/>
        </ns0:nvSpPr>
        <ns0:spPr>
          <a:xfrm>
            <a:off x="4762500" y="2552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Endurance, combat sports, field/court sports, repeated sprints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7B40EC68-841B-4996-85B8-FF9E3E6E04B9}"/>
              </a:ext>
            </a:extLst>
          </ns0:cNvPr>
          <ns0:cNvSpPr>
            <a:spLocks noGrp="1"/>
          </ns0:cNvSpPr>
          <ns0:nvPr/>
        </ns0:nvSpPr>
        <ns0:spPr>
          <a:xfrm>
            <a:off x="666750" y="3028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1" name="">
            <a:extLst>
              <a:ext uri="{FF2B5EF4-FFF2-40B4-BE49-F238E27FC236}">
                <ns2:creationId id="{E2F74FC0-806C-490D-B056-2252E7695CC2}"/>
              </a:ext>
            </a:extLst>
          </ns0:cNvPr>
          <ns0:cNvSpPr>
            <a:spLocks noGrp="1"/>
          </ns0:cNvSpPr>
          <ns0:nvPr/>
        </ns0:nvSpPr>
        <ns0:spPr>
          <a:xfrm>
            <a:off x="714375" y="3124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Recovery / Health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83023365-D20F-462F-BEF2-F00E75C85BED}"/>
              </a:ext>
            </a:extLst>
          </ns0:cNvPr>
          <ns0:cNvSpPr>
            <a:spLocks noGrp="1"/>
          </ns0:cNvSpPr>
          <ns0:nvPr/>
        </ns0:nvSpPr>
        <ns0:spPr>
          <a:xfrm>
            <a:off x="2362200" y="3124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Omega-3, tart cherry, polyphenols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BB4EB3F1-1176-4E18-9841-7DD62BFC49DE}"/>
              </a:ext>
            </a:extLst>
          </ns0:cNvPr>
          <ns0:cNvSpPr>
            <a:spLocks noGrp="1"/>
          </ns0:cNvSpPr>
          <ns0:nvPr/>
        </ns0:nvSpPr>
        <ns0:spPr>
          <a:xfrm>
            <a:off x="4762500" y="3124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Low fish intake, high training load, dense competition schedule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0B237B47-2CC2-4282-9676-967D155C9230}"/>
              </a:ext>
            </a:extLst>
          </ns0:cNvPr>
          <ns0:cNvSpPr>
            <a:spLocks noGrp="1"/>
          </ns0:cNvSpPr>
          <ns0:nvPr/>
        </ns0:nvSpPr>
        <ns0:spPr>
          <a:xfrm>
            <a:off x="666750" y="3600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5" name="">
            <a:extLst>
              <a:ext uri="{FF2B5EF4-FFF2-40B4-BE49-F238E27FC236}">
                <ns2:creationId id="{5B54AE0F-C5E9-47C5-BB91-DE5FAA6880FB}"/>
              </a:ext>
            </a:extLst>
          </ns0:cNvPr>
          <ns0:cNvSpPr>
            <a:spLocks noGrp="1"/>
          </ns0:cNvSpPr>
          <ns0:nvPr/>
        </ns0:nvSpPr>
        <ns0:spPr>
          <a:xfrm>
            <a:off x="714375" y="3695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Nutrition Gaps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DE255701-3EF0-4242-8EBA-7403AC28FCB0}"/>
              </a:ext>
            </a:extLst>
          </ns0:cNvPr>
          <ns0:cNvSpPr>
            <a:spLocks noGrp="1"/>
          </ns0:cNvSpPr>
          <ns0:nvPr/>
        </ns0:nvSpPr>
        <ns0:spPr>
          <a:xfrm>
            <a:off x="2362200" y="3695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Zinc, vitamin D, multivitamin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8A7DBB26-E6B0-4B6E-9FDD-FD2092A21E59}"/>
              </a:ext>
            </a:extLst>
          </ns0:cNvPr>
          <ns0:cNvSpPr>
            <a:spLocks noGrp="1"/>
          </ns0:cNvSpPr>
          <ns0:nvPr/>
        </ns0:nvSpPr>
        <ns0:spPr>
          <a:xfrm>
            <a:off x="4762500" y="3695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Restricted diets, calorie deficit, vegetarian diets, irregular eating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5D2B40B0-7A18-4DE8-BAE8-B3BFF76D6E2F}"/>
              </a:ext>
            </a:extLst>
          </ns0:cNvPr>
          <ns0:cNvSpPr>
            <a:spLocks noGrp="1"/>
          </ns0:cNvSpPr>
          <ns0:nvPr/>
        </ns0:nvSpPr>
        <ns0:spPr>
          <a:xfrm>
            <a:off x="666750" y="4171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9" name="">
            <a:extLst>
              <a:ext uri="{FF2B5EF4-FFF2-40B4-BE49-F238E27FC236}">
                <ns2:creationId id="{5A2E2249-2974-4ED5-8A9D-AEDB23EEE2F5}"/>
              </a:ext>
            </a:extLst>
          </ns0:cNvPr>
          <ns0:cNvSpPr>
            <a:spLocks noGrp="1"/>
          </ns0:cNvSpPr>
          <ns0:nvPr/>
        </ns0:nvSpPr>
        <ns0:spPr>
          <a:xfrm>
            <a:off x="714375" y="4267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Sleep / Stress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334E1F9B-A729-48C1-92A6-B2A807877E05}"/>
              </a:ext>
            </a:extLst>
          </ns0:cNvPr>
          <ns0:cNvSpPr>
            <a:spLocks noGrp="1"/>
          </ns0:cNvSpPr>
          <ns0:nvPr/>
        </ns0:nvSpPr>
        <ns0:spPr>
          <a:xfrm>
            <a:off x="2362200" y="4267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GABA, magnesium, L-theanine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F0E56FA7-861B-4974-A23A-2D7CADAE0770}"/>
              </a:ext>
            </a:extLst>
          </ns0:cNvPr>
          <ns0:cNvSpPr>
            <a:spLocks noGrp="1"/>
          </ns0:cNvSpPr>
          <ns0:nvPr/>
        </ns0:nvSpPr>
        <ns0:spPr>
          <a:xfrm>
            <a:off x="4762500" y="4267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Poor sleep or high stress, but evidence is weaker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2BA6E2AE-BB6A-4F73-B061-4425EF9ACB21}"/>
              </a:ext>
            </a:extLst>
          </ns0:cNvPr>
          <ns0:cNvSpPr>
            <a:spLocks noGrp="1"/>
          </ns0:cNvSpPr>
          <ns0:nvPr/>
        </ns0:nvSpPr>
        <ns0:spPr>
          <a:xfrm>
            <a:off x="666750" y="4743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33" name="">
            <a:extLst>
              <a:ext uri="{FF2B5EF4-FFF2-40B4-BE49-F238E27FC236}">
                <ns2:creationId id="{72FD138B-7B74-4772-AB66-4DF3425CA9FD}"/>
              </a:ext>
            </a:extLst>
          </ns0:cNvPr>
          <ns0:cNvSpPr>
            <a:spLocks noGrp="1"/>
          </ns0:cNvSpPr>
          <ns0:nvPr/>
        </ns0:nvSpPr>
        <ns0:spPr>
          <a:xfrm>
            <a:off x="714375" y="4838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Immune / Gut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04660451-2729-4D8E-88F3-AC55683E0048}"/>
              </a:ext>
            </a:extLst>
          </ns0:cNvPr>
          <ns0:cNvSpPr>
            <a:spLocks noGrp="1"/>
          </ns0:cNvSpPr>
          <ns0:nvPr/>
        </ns0:nvSpPr>
        <ns0:spPr>
          <a:xfrm>
            <a:off x="2362200" y="4838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Probiotics, glutamine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853B2C02-D024-41B0-8030-2C545AAF5C6B}"/>
              </a:ext>
            </a:extLst>
          </ns0:cNvPr>
          <ns0:cNvSpPr>
            <a:spLocks noGrp="1"/>
          </ns0:cNvSpPr>
          <ns0:nvPr/>
        </ns0:nvSpPr>
        <ns0:spPr>
          <a:xfrm>
            <a:off x="4762500" y="4838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GI symptoms, travel, very high stress, or special populations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4A3FF12C-E7A2-4122-A849-8E7DDBFA9F48}"/>
              </a:ext>
            </a:extLst>
          </ns0:cNvPr>
          <ns0:cNvSpPr>
            <a:spLocks noGrp="1"/>
          </ns0:cNvSpPr>
          <ns0:nvPr/>
        </ns0:nvSpPr>
        <ns0:spPr>
          <a:xfrm>
            <a:off x="552450" y="5905500"/>
            <a:ext cx="7239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Most common selling mistake: presenting Grade C supplements as Grade A, or biomarker changes as performance gains.</a:t>
            </a:r>
          </a:p>
        </ns0:txBody>
      </ns0:sp>
    </ns0:spTree>
    <ns0:extLst>
      <ns0:ext uri="{BB962C8B-B14F-4D97-AF65-F5344CB8AC3E}">
        <ns3:creationId val="550063059"/>
      </ns0:ext>
    </ns0:extLst>
  </ns0:cSld>
</ns0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64F75E80-F734-4624-BD3E-2996D754882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78246B8-31F5-458E-84DB-63B96BBD4DC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6E205CE7-30E4-473F-9D0B-8F6FC926B144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Grade A | The first priority for strength and muscle gain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D0285AA-DC22-4526-A9AB-F8999B5137B7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Creatine Monohydrate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4371D74-FE81-4AC8-B34A-50D406B780A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62D297C8-F5D3-4ABB-A7C0-BD6E0F9ACFD6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18CE049-886E-453F-BCA0-0B4FBC686A7C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Kreider et al. ISSN creatine position stand, JISSN, 2017. PMCID: PMC5469049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 on dietary supplements,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creatine listed for specific performance uses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4660411-F86D-4ADE-8B32-5E8B67F75A6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9" name="">
            <a:extLst>
              <a:ext uri="{FF2B5EF4-FFF2-40B4-BE49-F238E27FC236}">
                <ns2:creationId id="{57B86401-E383-44A6-8176-A9F6442C29E7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4F57D86-0815-49D3-BBF5-94964DFBC589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8D9BA96-EE93-416F-8449-2B272A49B754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high-intensity output, strength, lean mass/muscle mass, and resistance-training adaptations. Common strategy: 3-5 g/day, or loading at 20 g/day for 5-7 days then maintenance.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8AD7A36C-4EBA-475F-91D1-170AFF5C47B4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3EB965B-89CD-454D-A350-63B94700A58B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1B33D78-4C02-45AA-AB84-6B853EC6F221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Increases muscle phosphocreatine stores, helping faster ATP resynthesis during short, high-intensity efforts.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C274689-7E32-4F85-ADDA-024A719D4EDE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EE3D591-B805-4D4A-8FA7-FE63DA3CF8E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0E077265-60D7-4437-9F2A-60B24D91C159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5636344-CFFB-4D8E-8E23-66BC92462BE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2BE5710-F475-416C-B27D-D5EAB4708E9C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E38C33C9-806F-45C9-BAC3-011CF10C7BED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Regular resistance trainees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1B985F0B-EC84-4371-8BAD-235B17CA594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9A7F3643-C425-4659-8104-B09B87A9AAB4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Power, sprint, and field/court sports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1ED56ED5-BD16-4AB8-9335-8B9ED73405DF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583BDE91-57D5-48FC-852E-FC8F35297D44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Vegetarian diets or low creatine intake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876E667-4B36-4FD2-9038-716D14436D65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260D39A0-D5B0-400A-9C65-E70485A3BED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Strength and function maintenance in middle-aged and older adults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E8220AE-3665-4409-BE33-1EA0EFD891D7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566877D0-C743-4FDC-9355-E5795162AEE3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Kidney disease or abnormal kidney function: ask a physician first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9A875FF8-033D-41E9-8411-B86AEB4BDE5B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CB12944-9B3B-4E0C-8863-802AE0BFBF97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if short-term body weight control is strict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0E873A1-E091-4487-82B7-A9E7BBC80D18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3464EF94-AE93-4BCF-81A6-E622BD4A4C85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Pregnancy, adolescents, or medication users need professional review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48B98913-8A71-4500-A8B7-854E439BCE5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F3DD7BB8-353D-4B75-B3D6-2D48282EBCF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muscle gain without training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B5CE15A8-6ECA-4EA5-B925-B37AA1FC4F7A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B3593113-4B16-479F-AEBC-D97CEA0BDCC2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0EB8F2B2-D700-4782-A8FB-6F8C84B3C23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Strong main-product content. Emphasize safety, dosing, and that weight gain is often water/lean mass, not a kidney-damage myth.</a:t>
            </a:r>
          </a:p>
        </ns0:txBody>
      </ns0:sp>
    </ns0:spTree>
    <ns0:extLst>
      <ns0:ext uri="{BB962C8B-B14F-4D97-AF65-F5344CB8AC3E}">
        <ns3:creationId val="1666618983"/>
      </ns0:ext>
    </ns0:extLst>
  </ns0:cSld>
</ns0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10F112D6-C365-4B9F-A7C9-4DADE5D1396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A65A6F8-2EE4-406D-BE21-B72B3114CCA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50BF16C3-E12A-4D7E-85C1-4CCD351CA5A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Grade A | Hit daily total first, then discuss timing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6D3847A9-4937-42D6-BC82-A4F7F59F84F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Protein Powder / EAA / Whey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7B4D1A1-1B70-4BEA-94C5-5B02741DF67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9AC20BD6-85BF-4688-A799-85E0CC07FC6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DBF1905-2161-446A-B7E6-8E331C948B11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Campbell et al. ISSN protein and exercise position stand, JISSN, 2017. DOI: 10.1186/s12970-017-0177-8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Antonio et al. Protein supplementation misconceptions, 2024. PMCID: PMC11022925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Casuso &amp; Goossens protein timing meta-analysis, 2025. PMID: 40647175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64664F6-D6D8-4EF8-AE5B-5CE898C82FD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9" name="">
            <a:extLst>
              <a:ext uri="{FF2B5EF4-FFF2-40B4-BE49-F238E27FC236}">
                <ns2:creationId id="{A52C39FA-DDCF-40A0-9EF2-5DB30D02050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0AF4A77-9119-4126-BC22-D534906C280A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914183C-2FA3-49F6-BE67-EE73A780393F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hypertrophy, recovery, and lean mass maintenance. A common target for many athletes is about 1.4-2.0 g/kg/day; calorie deficits or high training loads require more context.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0E82128-EDAB-4A2E-81BC-3D50B31AD7B7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E465F6D-D5CB-4ABF-8925-47EC62591E2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4D29C72-09A9-4FC1-9D9D-7EF87B65962B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Provides EAA/leucine as substrate and signaling support for muscle protein synthesis, repair, and growth.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9DCA6DC3-81FA-48CA-9041-8CC26A3662E1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679F8BC0-B162-4A32-BBA9-B2B82D6E8CC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55E8A26F-3F69-4C0F-B027-4636A813336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59148C1-2CFB-4782-BEEC-6CAE8007DB8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DA467382-5508-41D9-AD71-5A4B3E5DD423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80402318-DA1C-4BAC-AA61-E07F79302A5A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People with insufficient protein intake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F7BD193D-3C0C-4918-AF83-052B263BD96D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0551BFA9-D9D9-48EB-B666-6B0929CFE843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Resistance trainees in muscle-gain or fat-loss phases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75CC92C8-9CBA-4FDD-9E86-A9AC6EC22E74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0B841E5F-819A-4BB8-A6F6-A09CD7F8A282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Busy users or those with inconvenient food access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4EC5AEDB-65BF-4FAE-9890-88B4A288F9D7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513588DF-5512-4F31-BD6D-E3EA4A11A7ED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Older adults or people with lower appetite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FC88B2B8-6656-48F1-BD39-919732C225A1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8F63EE7D-589A-4C63-A4DB-2CCCFD1BDE4E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 powder needed if daily protein is already sufficient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581E0C0D-B36A-49AD-8A5D-4735AD5A069A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ECA18385-1D55-4C8A-B319-81C3B4088E03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Severe kidney disease requires medical guidance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A251D7AD-ED02-49EC-A5BB-D6BAC713DAF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20CE139F-581A-472D-8492-133CE860A08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Lactose intolerance or whey allergy requires another source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E7A2A7D-FA45-4733-973C-038B3556B1F8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6AEC91D3-A34C-42A2-AE8A-A5632CAD311B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Using BCAA as a complete protein replacement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FBC18924-82AF-4B37-8EC6-FE18D4CCAF0B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C875186-EBF8-47ED-9AC4-C7E80AE4EBA5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8479490-4914-4100-854A-22FBB7238A11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Main message: protein powder is a tool, not magic. Teach total daily intake first, then meal distribution and timing around training.</a:t>
            </a:r>
          </a:p>
        </ns0:txBody>
      </ns0:sp>
    </ns0:spTree>
    <ns0:extLst>
      <ns0:ext uri="{BB962C8B-B14F-4D97-AF65-F5344CB8AC3E}">
        <ns3:creationId val="1147697423"/>
      </ns0:ext>
    </ns0:extLst>
  </ns0:cSld>
</ns0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5AEC1F2-5730-4AD4-990D-97DF8AA9B09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30B3E343-AD82-42D0-8803-6967328FC67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29B1A427-1F1B-4A38-8AB9-AA00C5A8AEAB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Grade A | Acute performance aid, but sleep has a cost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0E5C427-82CA-487A-A663-57AFEF830E8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Caffeine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A023AEE-2845-4704-8A1F-A0DBAE0FD73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65F6E19-0337-4B7D-8C0E-6C664983DA9B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74D7FEC-8998-4D83-A191-56649EC64BD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Guest et al. ISSN caffeine and exercise performance, 2021. PMCID: PMC7777221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caffeine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F6EC2FB-1EDA-4903-976E-D789B76D9B43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35DA7105-6DC4-4709-BD8B-A2F8B197ADD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952581D0-CF41-43E8-A230-89EA0E343BA2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4552623-4BFF-44E1-9A88-464B70BF6C7C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endurance, strength endurance, sprinting, alertness, cognition and performance under sleep restriction. Common dose: 3-6 mg/kg about 60 minutes before exercise.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6079646-F759-4F72-8723-F800A4DF43DD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95624B7-04E8-4591-AAED-42989B889BF6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8B72506-9AF2-41D2-BADD-0ECDE28A1629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Antagonizes adenosine receptors, increasing central alertness, reducing perceived fatigue, and improving willingness to produce effort.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09256DE8-679E-408A-81CF-281A46D05073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5D474095-4C52-4B83-97EF-F0950B89FCDE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B046A550-DB5C-4A05-8965-B3546F39F36A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8B4E28C-82F2-43C0-855C-728CF1ACEA4B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E53CD69-0133-4ED5-8F2C-23DA6FB5772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6ACB424-B802-4B98-B742-9A439FA19744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Endurance and field/court-sport athletes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40FE7E72-D272-47B1-94FE-A84DD1254089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8D8A822F-FD41-470F-91DD-3D902B5276FC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 / repeated sprint training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10B8401D-1D61-46C7-960A-5E1E9FF71038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6686CFAE-5C6C-4DFB-A0EB-901E690904FF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Competition days requiring higher alertness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5E4A9D04-F7B9-4F4A-B61C-7474BAC6216E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417F8589-9363-4732-B7F1-76365CAE9EA6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respond well to caffeine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55ABAFF0-2DF5-4431-AD34-316451D3F7A3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77373FE0-9DC2-41F7-9204-CD71BFC63D58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with anxiety, palpitations, or insomnia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2774079D-F33A-4D05-B4D7-112F3740098C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85AF6B4-9D43-4825-88C9-568EE6B03201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Afternoon/evening training when sleep matters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BE11C5C5-AC15-4BC6-925A-7AAAF95E3D0C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1243E1E3-2D62-4463-9013-4251C79956FA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Pregnancy, hypertension, or rhythm issues require professional review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251B7C6-15A8-4BB7-B646-C24F9E54187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9D653C50-21DD-4146-A5C4-1518BDF30B8D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Stimulant-sensitive users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FD0AD6AB-01B9-4F24-AC44-EF32573BD651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9765D208-38B4-45EC-AABE-632DCACAE5AF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75A49534-5A78-4E13-8360-ED53EF5AED46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Great for 'effective but not for careless use' content. The point is dose, timing, individual response, and sleep tradeoffs.</a:t>
            </a:r>
          </a:p>
        </ns0:txBody>
      </ns0:sp>
    </ns0:spTree>
    <ns0:extLst>
      <ns0:ext uri="{BB962C8B-B14F-4D97-AF65-F5344CB8AC3E}">
        <ns3:creationId val="589625351"/>
      </ns0:ext>
    </ns0:extLst>
  </ns0:cSld>
</ns0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5EA3292-31E0-4110-8915-E0E57E70048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B6D709C6-8354-4C45-AA6B-B2633947A59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42D80C60-0D9B-445D-A348-11A7CA2882B7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Grade A-B | Exercise economy and vascular-metabolic efficiency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AA8FC4BB-13CA-4945-BC0A-73D2ED86EF2A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Nitrate / Beetroot Juice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EEDF1FF2-9CA7-42ED-BFFB-7D8480277493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3D654C8D-60AA-4E3F-9CA9-7809CB093BDC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3002B673-0E6E-4FD1-BCB3-4B0D85A5F323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Jones dietary nitrate supplementation review, Sports Med, 2014. PMID: 24791915 / PMCID: PMC4008816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Ponce-Davila et al. beetroot juice oxidative stress meta-analysis, 2026. PMID: 41642915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nitrate / beetroot juice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3743C53D-6CD0-461D-97B7-C5736BDB63E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33195B7C-B5EE-4A81-89FC-60181250D38B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DDC89B3-9A9F-48B1-98DA-38FAA6D08A21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B7337A0-72E3-4AC3-8BC0-85E69658E1C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nitrate-nitrite-NO pathway, lower oxygen cost during submaximal exercise, and possible improvements in endurance, high-intensity tolerance, blood pressure, and redox markers.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9073966-E4D2-49B5-BF40-C81CF16F9BE5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865FB2C-95D0-4F39-B995-B1A1E03B9CD0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336D2D1A-5CD1-4F84-A12B-787C9B86F2B2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Nitrate converts to nitrite/nitric oxide, influencing vasodilation, oxygen use, and exercise economy.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8661044-FA23-4EF9-A404-8AEC5F474449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E50E6264-D6A8-46E5-B761-CC2DFC3C4EC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EB9EDA9-AEC8-4446-A16B-CF67CBCD1961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F8A95CB0-E672-42CD-9DC9-4E5217A05ED5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B48DAE8-4D98-4388-8D78-96A4C48CD994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F5C36FD1-9CBA-4DB5-B2CA-837CE74E5C9F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Endurance running, cycling, rowing, etc.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916FA50-9865-4D58-87EC-6C4712DDA12C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27FB52A5-0BC2-47FE-8B0E-5D808B3EA4A1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Moderate-to-high intensity continuous or interval events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56589C7-4FF9-45F9-ACF8-35A7D7BE2601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57C32FD5-492C-492C-8DD1-8E263C9E2A66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Non-elite users or stronger responders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CD2DA53A-E46E-4575-BDEF-7C97E7428352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081CBF10-E569-4314-9F37-2E2AD91030EA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preferring food-first supplementation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6B63671-604F-4A51-9F3C-AD4DD31C7735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A7E84B32-18AF-40B7-9B90-B15C31B4B33A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with low blood pressure or related medications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E4DDB783-D927-49FE-837E-CED357BC39F2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1B1D924-5565-4637-A714-8A69C1B22388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Antibacterial mouthwash may blunt the effect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0FA2299-C2D1-4EC5-815C-C5F240EF09EF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617BE06-3962-4AA6-9657-A3D5C2D691FC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GI-sensitive users should test tolerance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9B9684F7-CA90-426A-ABE0-9B055F6EEC0C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B573CDF5-3754-4CBD-92AC-2EC40F10DAF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every time trial to improve significantly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5A17341E-86B4-4AC5-8475-7D84E4388B92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1D43E5A7-9489-47AF-8514-1F79A351AE71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61B170B6-0FAB-4799-ABFB-BC1076FCA830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Beetroot juice is not a magic pump drink. Focus on the NO pathway, exercise economy, dose standardization, and individual response.</a:t>
            </a:r>
          </a:p>
        </ns0:txBody>
      </ns0:sp>
    </ns0:spTree>
    <ns0:extLst>
      <ns0:ext uri="{BB962C8B-B14F-4D97-AF65-F5344CB8AC3E}">
        <ns3:creationId val="1533576823"/>
      </ns0:ext>
    </ns0:extLst>
  </ns0:cSld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AE600C82-496E-4DC1-AE87-7B750420F26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E21ED54B-04FD-4663-A138-1B583F45009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A621D5F-4BF1-498A-A118-433862C09E2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A-B | High-intensity acid-base buffering, not a general hypertrophy necessity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49047EE-7FB8-478B-A43E-05E281B8522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Beta-alanine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1227A562-0361-424A-AEC7-197122FFEFA5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6FCBF74-E2B8-4DA0-AC8F-5E45EE8ECA2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61D9285F-BB2A-47F2-9592-84489BA095D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beta-alanine position stand, JISSN, 2015. DOI: 10.1186/s12970-015-0090-y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beta-alanine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FA358B9-B9A7-4650-B277-C54A59D59D8F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46348822-69DC-493C-999E-753B5B6D227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09FD251-3303-4028-8CC9-AE20515CF8E6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668389B-DE94-4AD6-89B1-DB232DCE98C4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increases muscle carnosine and intracellular H+ buffering. Best for 1-4 minute high-intensity efforts, repeated sprints, combat sports, and short-to-middle swimming/rowing events.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465CA2E-C75C-41A3-A871-228B526A4551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4492208E-4FB6-4459-80A5-C00540A7BDC6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40B9901-DE51-4E3C-942F-58A53D9D876F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Beta-alanine is the rate-limiting precursor for carnosine synthesis; carnosine buffers H+ inside muscle.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C914619-B397-477F-B18E-0ADCD481C65C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14A97F2D-E38F-4BD0-8DEA-0815F45CFBA2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BC68EFC-AA30-4D8C-9A1B-18CDA3F12288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1AA224A-1645-4FCB-992D-2BD6007C0D65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51C6CB6C-6550-47B2-B187-12A4FDF831D7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7F530EF-2F0D-48A6-B4D7-1745DE8A09E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HIIT, combat sports, repeated sprints in field/court sports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48FA831-E4EF-4A22-A2E7-DFA4511A59B4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65C149F1-C094-4C03-9758-AACD8C8F305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1-4 minute high-intensity output events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E145C3DB-BEA3-4D09-9601-EF32FF1F0A87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ABEABFCE-440E-47BA-B208-219C3689BBF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tolerate tingling/paresthesia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3C3DE83-1471-4BD4-B841-242EFC7CE12B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0895A68-10FF-454D-AB45-BBE7450D1A30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willing to supplement for weeks rather than only pre-event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7AE0A620-CBBF-4BD6-A015-8C1B0D192660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249CD71C-7EF8-4CC7-853A-6357249FCAAB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Not a priority for pure maximal strength or low-intensity long endurance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DF3DDD92-E2B2-4128-8007-59C1F1BB5BE3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F9DF0B34-5B0E-4E35-8020-954201AACA44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highly sensitive to paresthesia/tingling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7DA7EC6F-50F3-4541-8D87-7EC12483DC11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1C91AEC-0D65-4622-9D6E-AF92C7E2AECF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immediate muscle gain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502DABFB-B8CF-434A-AFA2-166EC46A7A72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8F8F6A73-8FDE-4EA5-AC87-40AED9DE56C1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confusing it with sodium bicarbonate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9B3E9246-6ABE-40AE-A2B3-F1E2C67E987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0881AAD-9068-4128-9D7E-13185908EC7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2AD940DF-6CB6-408D-9E0D-37A8047F710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Beta-alanine is not sodium bicarbonate. It raises intramuscular carnosine, works through accumulation over time, and depends on event demands and supplementation duration.</a:t>
            </a:r>
          </a:p>
        </ns0:txBody>
      </ns0:sp>
    </ns0:spTree>
    <ns0:extLst>
      <ns0:ext uri="{BB962C8B-B14F-4D97-AF65-F5344CB8AC3E}">
        <ns3:creationId val="930722461"/>
      </ns0:ext>
    </ns0:extLst>
  </ns0:cSld>
</ns0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823F1D8-E855-4895-ADAD-2E7883C10A1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C7CAEF2-F455-47EF-9E0A-15CDC059DB7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14A9BCA-97E8-4A49-82EF-26ED656230AE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A-B | Extracellular buffering, tightly linked to GI tolerance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62DBA18-26EA-452B-977E-89F98D44110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Sodium Bicarbonate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C1584FF4-E004-45BD-9A35-1BD7BF4C0463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D1E15E73-2341-4AF1-9344-2C06120F37C2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DCBE9AC-BB32-44C3-A4CB-F32B01476F6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sodium bicarbonate position stand, JISSN, 2021. DOI: 10.1186/s12970-021-00458-w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sodium bicarbonate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4D977A1D-CCDD-4B36-99AB-3AB803BC1395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B2EABB12-22C8-452C-96D7-AE1F91FE631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38C3487-C8B7-4F37-B930-E8A1D6096165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B8C15F42-EEA2-49E7-9D0A-F4E1E440684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increases blood bicarbonate and extracellular H+ buffering. Best suited to repeated high-intensity efforts, combat sports, and short-to-middle swimming/rowing events.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72B976B-F122-4E71-8611-BC85AA742D40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E9F6DC6B-0073-4952-A8BD-4310E3F4070C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BB5BA8A-59D0-43FA-8897-61EF173D003D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Raises extracellular bicarbonate and pH buffering capacity, supports H+ efflux, and delays acidosis-related fatigue.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5436F0D-7A07-4CF5-A634-846CEFC7DAA7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F3B0594A-1EA8-4454-A3AE-B1D43822AEDB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A42CB1C9-9281-4158-8691-D19AA267925E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DD0C7D08-46C9-4F38-9F60-C0AD34225683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C95E2C0-070F-47F8-9974-47857D2C3890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7CD51E17-9084-4AA9-9BC7-EBFD4866B233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1-7 minute high-intensity or repeated-sprint events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E7F0129-C5C1-4D4C-89D2-0F42E3C74888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1D6EECB2-A749-46A0-B033-14DBF30F6D57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Combat sports, swimming, rowing, and field/court sports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B00FD69-1B5E-48A0-9FCB-5A90072AFA2D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A7ADF15F-4B76-499D-A080-252AB391BF4F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have tested GI tolerance on training days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67A3FC5-7AEE-4EA1-937B-C3BAB91638A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88979031-21ED-4C7E-867D-1C263A01E791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able to plan pre-event dosing and split intake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A362599-A9A2-45E6-9886-064E9B467314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FA16F8A6-2BC4-4278-A9BD-F20207F329A8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GI-sensitive users or those prone to pre-event diarrhea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652DAE8-BA96-43C6-8488-841CF566CD04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4ABDCD68-DA31-4C27-A256-5A679E87AC6E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with sodium restriction, hypertension, or kidney disease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A407A34-99C7-42E4-8051-1CCEE630F9B9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23240E93-935F-4AF2-A6CE-EC055C0B4DD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First-time use on competition day without prior testing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A24CAFEF-F787-47EC-8DAA-AF30EBBAE4F3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E50A0080-9647-4104-9333-20B0B946811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long-term muscle gain like creatine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9B9D3BE9-8AA8-4B5D-8811-EAFB52F6A44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9C62F4A6-41E6-482F-B32B-440A236F5ADA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ABD6E07-34CF-4375-B074-9D9C865302D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Sodium bicarbonate and beta-alanine are both acid-base buffering strategies, but they act in different places: extracellular buffering vs intramuscular carnosine.</a:t>
            </a:r>
          </a:p>
        </ns0:txBody>
      </ns0:sp>
    </ns0:spTree>
    <ns0:extLst>
      <ns0:ext uri="{BB962C8B-B14F-4D97-AF65-F5344CB8AC3E}">
        <ns3:creationId val="1546422367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778FBD05-646B-46C5-B737-27B4B7123BA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37ED67B9-19F9-4C7E-A212-BE661BD6B3C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ABDFB166-A3B8-4BB8-8E6F-E516FB2BC8BA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Grade B | Status management, recovery, and long-term health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D7040E2-CA8E-47D8-85BD-7D0E53C3D5F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Omega-3 EPA/DHA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19410F8-587C-4BED-9E3C-623256B65E91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F014C4BF-8382-456C-83DD-4F875BAA834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AA50F19-31A5-4086-9359-4832584CED3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Jager et al. ISSN omega-3 position stand, 2025. PMCID: PMC11737053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Heileson et al. omega-3 index in athletes, 2025. Journal of Exercise and Nutrition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Fernandez-Lazaro et al. omega-3 recovery systematic review, 2024. PMCID: PMC11243702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47DCA782-BE85-4BC9-B9B2-B87907B932FF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268B17C8-8468-4D55-A18D-91C654E67A5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1CD6EE6-1605-4460-9495-1254DDD322B7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6228B8C-E09D-4FEB-904D-E6D457148D66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EPA/DHA status, cardiovascular health, inflammation and recovery, muscle function, sleep and immune signaling. Better framed as long-term status support, not an acute ergogenic aid.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04A7ABB4-4C8B-4CF5-8E9F-A26304747AB0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D0F0ADC-0EE3-423F-A0D5-C010E27B79D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11C38043-B8B9-4595-BA6E-B6FF88738F13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EPA/DHA become part of cell membranes and help regulate inflammatory mediators, vascular function, and neuromuscular/recovery signaling.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88E0802-F95D-412E-B86D-A812764082FA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E048CBBB-E9F2-43AA-BCDA-5016AE6E8A7F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E3E8B9FA-A4C7-4C7D-823B-1318FA8B5A12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082A7B5A-4FB1-433F-82B2-1A98520BB462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B92BC2E-85FC-40C5-AD0A-0E32AC78DB36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053BBBE1-34AC-4159-910D-B7BA00731AF7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Low fish intake or low omega-3 index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55C381CE-3499-4167-ADDD-F33E4046227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F1467E0E-A421-426C-A68E-1A8501588F5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High training load or high recovery stress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C8611778-AC3B-4FE6-BD22-7769482444E7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99334F58-1786-490D-95DF-716200AD916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Endurance or contact-sport athletes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EFD75CF3-C2E2-46CC-A695-A5ACBF64E72D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960984BC-5ABF-40A2-A629-05FE0A837F4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People prioritizing cardiovascular and long-term health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5599BB70-5BD5-4547-A21F-3E810A348361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B4573832-D739-49BA-80FF-7125935D482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Fish or seafood allergy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CCC4C994-1668-4241-A222-95646987238E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9831547B-3838-46FD-A32A-0C88C4AAB18F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Anticoagulants or perioperative periods require medical review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9528DADB-2EDA-46D4-98B7-A9B1CB38C42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A909E92E-3054-4110-AB98-A5F7C1D7A9F2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with high doses if atrial fibrillation risk is present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048FFC9F-B56C-4D17-B4EA-545F6337D3FB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BBDFF4D7-0840-4FA0-B684-AF6C0B5D804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Not for immediate strength gains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6BF6F9D3-EDF6-4D7D-9312-800EEA9BA86A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2AED7853-3C78-437C-991E-F1159694D75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DDDC3493-EE1E-403E-8023-0221983932C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Best framed as status testing plus scenario-based dosing. Do not sell omega-3 as a universal performance booster.</a:t>
            </a:r>
          </a:p>
        </ns0:txBody>
      </ns0:sp>
    </ns0:spTree>
    <ns0:extLst>
      <ns0:ext uri="{BB962C8B-B14F-4D97-AF65-F5344CB8AC3E}">
        <ns3:creationId val="300414197"/>
      </ns0:ext>
    </ns0:extLst>
  </ns0:cSld>
</ns0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89813FF-5A59-4189-B9E5-4A6C157483E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22920E1-435E-41E3-9DDC-F88ED66B2D8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57488686-572D-448F-AABA-785686E47DAF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B-C | Important when deficient; unnecessary when sufficient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EAF983B-375D-4D70-93BC-67B91E776E19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Zinc Tablets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7C100C6F-C4FA-480B-89B6-0635B5723F26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477A2CD-6C10-4499-AC23-E2AB955B8A8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F3FE962-4EAD-4F93-BDBB-06F358CDA0D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Zinc Fact Sheet for Health Professionals: adult UL 40 mg/day and medication interactions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 / Group A: zinc used for specific deficiency-support scenarios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0C2C3A4-CF47-428F-9100-8CCAA4FB6D1A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392DF95F-3FC0-4A48-A637-49914FA1EBA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86ED6A59-57BB-4EE9-A9DE-1C1AE81CA5B1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453B161-3E39-4E94-90E0-911C62F87C9C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immune function, protein synthesis, wound healing, testosterone/reproductive health, and many enzymatic reactions. Important for deficient users; unlikely to improve performance when zinc status is adequate.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4E10D7E-6599-4D25-B8EC-20A3806E66F2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8FEFBCD-44A2-4B1E-A7AD-C59686EF75E1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B7F2E652-6284-4678-B9BA-C349F674F04E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Acts as a cofactor for many enzymes and transcription factors, supporting immunity, cell division, protein synthesis, and antioxidant defense.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0A847A9-CE9A-4082-84D8-9D5B97E198B6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0D43E305-AE52-4700-8626-797D156414B9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01FC8E6-5F31-4AC9-87A2-04A60BBA2E34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820CAE44-1C18-4787-A521-B99DA4B7D0DE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70D253BC-823F-49AA-91BE-6BBEC69E23B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57040A9-42CC-4118-92C3-721CE362285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Low dietary zinc intake or confirmed deficiency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A2B9E0ED-E1C6-41AA-A4FA-FA782A322C39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E404FE5-5476-42D0-A1E6-349C3381ECB0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Vegetarian/low-meat diets, calorie deficits, or restricted diets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C72DBBF-6F66-496E-96EB-8DC20903AD00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EB9D73B9-819F-4A73-ABC4-F09DE6F2D507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Heavy sweating, poor absorption, or high immune stress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E806242B-5ED8-48E0-9A9C-38C1B869C604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FD41D813-8E98-441A-8930-0F5B347D576D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Short-term correction of a nutrition gap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76CCF190-D890-4F33-816F-805DA924A4E4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11D6F54F-1043-44EC-BA58-BF55C4B505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 long-term high-dose use when zinc intake is adequate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EAB828B-6487-4FFA-973C-27E449790E5F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6C4B265-22F8-49D9-8E4A-8BA147C0B9FA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Long-term high-dose use may cause copper deficiency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C9D01219-3F0B-42E6-AFF9-275CF31EFB4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557D245E-C2F6-4572-B1CD-C0D998D1C69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Separate from antibiotics/penicillamine or consult a professional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7F7804A-BA34-4392-9485-80087F5C7F47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100A6037-AF0D-41DF-A264-043BCD189D07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Not a direct muscle-building shortcut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A9C61263-1022-4A0B-AB4D-0F9511BAECFC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319D3FB-9153-41AE-A408-E554CF7C3AE1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10727BC-1033-4D68-AC8F-8F0EA782583F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Best framed as deficiency correction. The adult UL is commonly cited as 40 mg/day; long-term use should consider total intake and copper status.</a:t>
            </a:r>
          </a:p>
        </ns0:txBody>
      </ns0:sp>
    </ns0:spTree>
    <ns0:extLst>
      <ns0:ext uri="{BB962C8B-B14F-4D97-AF65-F5344CB8AC3E}">
        <ns3:creationId val="994289900"/>
      </ns0:ext>
    </ns0:extLst>
  </ns0:cSld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427B9B4-C7A1-4989-BD8D-F4903EA2F8EE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0B7E0DB-D69B-4555-BC01-A31E2728F8E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C87144BC-52AA-4035-BAEB-796651892B4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B-C | Gap insurance, not a performance supplement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427AB54-AFC2-4F32-88A9-7306F37BBC9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Multivitamin / Multimineral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868AB953-8AC5-4061-89B7-BE46331C8297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501DBB94-2DF9-4D13-8020-53D2DEDAA8C4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DCC2723-588D-4020-B53E-80D0191F1301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Multivitamin/mineral Fact Sheet for Health Professionals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multivitamin/mineral support should be scenario-based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C4F2F7C-C9AF-4453-9726-EBCC5F21994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029BF090-AE7E-4FF2-952A-529C128AC914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B834B8C7-EDD9-4F78-8FAE-6DA19519D2A7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2DEAD2E-C178-4813-B164-AE9F757266AE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filling dietary gaps, especially during calorie deficits, restricted diets, travel/competition phases, low appetite, or low intake of vegetables, whole grains, or animal foods.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6265982-551C-46AD-B8AA-F4CDBA73AA52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5EC675D-BC37-4CD7-B00C-66992C11F06D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E279774-A433-4C04-8493-14103628483D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Provides vitamins and minerals that act as cofactors for energy metabolism, blood formation, immunity, bone health, and antioxidant systems.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1524B87-6D70-45D2-BF1A-38596B35C61E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5A9CEDF0-4FE5-4174-9585-28A50E93A28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936EC0E7-1E9D-4C3C-86DD-29E32144202C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9227210-A92F-4C0E-9A85-7D1E20AF483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2775D30D-5547-498C-9C6C-02FE6C54451B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10EAB755-8F9B-410E-BF49-EC0B06AB52C5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Irregular diet, calorie deficit, or contest-prep weight loss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FAC24F27-AA35-4782-875E-FC953D5D2323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551E9C3B-C377-4482-8E3E-D46ACDFE79B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Vegetarian diets, low produce/dairy intake, or low dietary variety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59BCEB0D-7E7B-4298-B5C8-52D042A40DB4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422C9580-BB3A-4809-95E4-BAF5B866BD9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Travel, competition season, low appetite, or unstable meals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B58EC9B4-E60D-47CE-8254-0DE0151E202C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C791FEBB-3196-41C5-B66A-6DF00DD541AE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Known deficiency not yet fully corrected by diet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23F88286-4A96-4E66-BD28-D499C7D7B2F5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23C02FC6-9B85-45B7-9D7D-A4B711D52353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Balanced diet and no deficiency, but expecting performance gains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1574B0EE-48C3-4974-8138-73ADBE156CB6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F4E8E409-6AAD-48B8-A1EE-5C349041F9BA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Stacking multiple high-dose products and risking excess intake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52D3B667-0302-4B8E-9315-B2E7C57246A6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A9410C74-EB40-4DE7-ADE4-D7381E827879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Iron-containing formulas are not for all men or non-deficient users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4E1CB7E6-6EA5-4778-8087-FF23B8B4708C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2B79BA89-8C47-4B25-BECD-F545A7796BC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Using it to replace produce, protein, and total calorie management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841BAB8E-E346-4108-89C6-7A525517F4A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4EE56C88-3F0E-46E8-BB70-7288EF38B2EC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3FF3D18F-F737-432C-933E-5974D863083C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Frame as basic nutrition insurance, not muscle gain or fat loss. The key is filling real gaps and avoiding duplicate intake.</a:t>
            </a:r>
          </a:p>
        </ns0:txBody>
      </ns0:sp>
    </ns0:spTree>
    <ns0:extLst>
      <ns0:ext uri="{BB962C8B-B14F-4D97-AF65-F5344CB8AC3E}">
        <ns3:creationId val="28247126"/>
      </ns0:ext>
    </ns0:extLst>
  </ns0:cSld>
</ns0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9575CBCD-BEBA-4B4B-99D1-71DF11DB6C8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085EC6E-F25A-4537-BC54-34BAA40B584E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A1D276DB-9672-4337-A19D-04415471C02B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 | Test deficiency first, then discuss performance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CA0B3D30-3A46-41C1-84C3-E52F53FB40C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Vitamin D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08BBB11-1D2E-475F-9D9B-DC1426BAE2E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95E5A002-CDD2-46F8-845D-607710174DB4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7C5BDD2-395B-4DF4-AC7F-9C2F79A657F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Vitamin D Supplementation in Elite Athletes systematic review, 2024. PMID: 38188620 / PMCID: PMC10768611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Vitamin D strength and power meta-analysis in athletes, 2023. PMID: 37841405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C02A30A-11D2-4E26-AF86-98E8C00E7D5A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ACCF867C-2124-4056-A50F-180A9B63A513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FE5424E9-F1A8-4FC2-AF6A-77308DCB63C5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6E4B1501-5444-4A51-8547-8D402D6DA238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bone health, immunity, muscle function, and deficiency correction for low-sunlight or indoor-training populations. Prioritize deficiency; sufficient users should not expect magic.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2100E87-8692-4628-A18C-42AEF289A96C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47FCEF28-7A5F-441A-967C-7696EB2D7C5E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38EBEA9C-EC51-4B9A-9CB4-C74D0298C370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Through 25(OH)D status, it influences calcium-phosphate metabolism, bone remodeling, immune regulation, and muscle-function signaling.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6C2499AC-73DA-4481-9870-BA1A85B346BB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8E875870-C2DF-41FE-8560-A2C80445317A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AC5F35D9-C31A-435E-87EA-93E13DE3F21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C1459F7D-B797-4489-8D94-B39BDB4509F2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40031861-BBDA-4A65-BEFA-F76C7AE56B6C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A34872A-A32E-403A-8E3E-75DC197D19C4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Indoor training, low sunlight, or winter training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A0746ED1-52B4-4989-817F-F18FECD451B8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3E15F9C4-0B36-43DD-B43A-CC14B90564E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Blood test showing low/deficient 25(OH)D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44277332-54EA-4451-8E1B-E89D4BC5393E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78DEADB0-1FFE-463B-B16D-09ED7803E1DE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Higher bone-density or stress-fracture risk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FCF0D5B-9FD1-4E5D-9F9E-D3DB2657DBBD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281536A-2F6E-420C-BAA3-D7AE33274390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Darker skin, heavy sun avoidance, or low dietary intake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A7883C3-6635-44DC-A8E6-A583EFEC2AF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FA5DDD56-B297-487C-9935-B9E634CE690C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Long-term high-dose use without testing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BD2DEB5-419B-473A-9CFC-BE9C8C2F5518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9A6A695B-11E4-4BCF-B018-201194E225EF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Hypercalcemia, kidney stones, or kidney disease require medical review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8CA6940B-05DA-4517-BF43-691D1A6FB958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5E3BF2E8-6FF6-4A24-8068-4E444BCB3D50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Already sufficient users expecting direct muscle or strength gains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2D411F2-C538-4C56-AD11-5327B1E92A04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DC637389-7388-4E3E-A090-B09360B89C7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Stacking multiple vitamin D-containing products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B468B437-23A8-4F96-B14D-CF14EB7CA7E3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CE0EBCFB-617F-468C-AE20-15BED56C41B4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393E2D69-F3FE-4E57-90B9-EA174E269C4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Best framed as test-guided content: check 25(OH)D first, then decide dose and duration. Do not present vitamin D as a universal performance supplement.</a:t>
            </a:r>
          </a:p>
        </ns0:txBody>
      </ns0:sp>
    </ns0:spTree>
    <ns0:extLst>
      <ns0:ext uri="{BB962C8B-B14F-4D97-AF65-F5344CB8AC3E}">
        <ns3:creationId val="2050653568"/>
      </ns0:ext>
    </ns0:extLst>
  </ns0:cSld>
</ns0:sld>
</file>

<file path=ppt/slides/slide1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6841CEF-C9CC-41BD-8119-099DD49DDBF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C88EB6E9-C95C-49AE-BEFD-4E016F6A894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D5B0D756-3F69-4307-B9F9-3CCD7699A97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Grade B | Better for gut and immune contexts than muscle gain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EBD1A9B9-FFE6-4171-AE68-A5341DE7E6B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Probiotics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6D9002D-6612-41B0-8C97-59C903573F7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0D33BAF-4E74-4DD8-B520-ECCEF3BCAA31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680F2FA-6501-4622-BDE4-559258E7D50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position stand: Probiotics, JISSN, 2019. DOI: 10.1186/s12970-019-0329-0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probiotics used for targeted gut/immune support contexts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B5FE67C-CEEB-41FA-B79E-4EA9D80DD842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BF0B67D4-6420-446E-A78D-CE3637945F36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29FCD13-A285-4C29-B7B9-B3B0D94F9984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7D9EB51-4645-42FE-BF63-A709040EECB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gut symptoms, travel/competition periods, upper-respiratory infection risk, and health support under high training stress. Effects depend heavily on strain and dose.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03302A7-BE38-40E5-A4EF-9BEF5F7A1E8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2AC737D-A203-4B41-A8B3-0A4EED13863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EE612ED9-40C1-4368-B16A-7D0EF33434BA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Acts through gut microbiota, barrier function, short-chain fatty acids, and immune signaling to influence GI tolerance and infection risk.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0D652212-9398-48C5-BA09-C6D2BC0842CB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BDD5782-C715-4D65-845D-71A4F954EABC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4E773B7E-DF40-44B4-9842-6A07F92DD23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78C7103-1E37-4073-B766-96F9F49DBECD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6C1584E2-5F01-4B2E-BC7F-FBAAA1945571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52D53F68-FFD4-467E-ADA3-90BA245DBA7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GI-sensitive users or exercise-related GI discomfort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4CB09CF0-838B-4A0D-814E-E4F76AA9D92D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85622F71-C63C-48D2-AC68-3DB9046C7F6D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Travel, dense competition schedules, or changing food environments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77B3FCE-C2A7-4602-A166-C9279C40A173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98B2040E-3332-48C0-AF14-64F4BDD8DB6E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Consider for high training stress with frequent colds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D4056B9-2B76-43E9-8C98-68FC1BFC7803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4B1CBD25-92C2-4AC0-814C-20F87A62DD19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willing to track strain, dose, and response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87AC16BA-2BB4-451E-9EAF-511C12688623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8F032571-DFBA-4B86-8D58-2CA5C7F5E0AE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Severe immunosuppression or serious illness without supervision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39B1C3D-8329-4DA7-A7CF-A879BACF8B41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8C0CDA6-70B8-401C-8E3F-7521E3784B6B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direct muscle gain or fat loss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A3292839-CA2C-4F5F-B58E-7C8406CB07FA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6997F04E-2558-4D06-80AE-81D88762D20B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Looking only at CFU count without knowing the strain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BB4F110E-1643-4A0C-B1CA-E9D838030A8A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528C699F-FA31-41DF-8EB9-7AD42A45CB77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Switching products after only a few days without tracking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E8FE3731-2D97-4BA3-A363-548AB6FA9EA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558C81D0-CB67-426B-8585-2EE43E41D1CC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1A6858D4-2256-4FE1-A953-883389CF2486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The key is not 'more is better'; it is strain, dose, duration, and target symptoms. Good for gut/immune management content.</a:t>
            </a:r>
          </a:p>
        </ns0:txBody>
      </ns0:sp>
    </ns0:spTree>
    <ns0:extLst>
      <ns0:ext uri="{BB962C8B-B14F-4D97-AF65-F5344CB8AC3E}">
        <ns3:creationId val="2142259719"/>
      </ns0:ext>
    </ns0:extLst>
  </ns0:cSld>
</ns0:sld>
</file>

<file path=ppt/slides/slide1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7CA4FED0-15A5-4158-BF5B-CE7B4B0E038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55F23F0C-00DD-4FA6-8142-BC34FB4ABF2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9E234582-62F8-4FD2-98B0-13602067270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B-C | Useful for recovery/soreness discussions, not a training substitute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4B9EDF8-B0FC-4853-9B33-4AD36338CFF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Curcumin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1ABE38C0-D7A7-4918-914B-C1A97D699E3B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2096B48C-3764-46AF-AF29-9C17E97F537E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A378D33-CDBC-4B6D-BB4A-3F2E600A9257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Curcumin, DOMS and inflammation dose-response meta-analysis, 2022. PMID: 35574627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Curcumin and exercise-induced muscle damage meta-analysis, 2023. PMID: 37408367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Curcumin intake and EIMD in athletes systematic review, 2024. PMID: 39623590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7A94284-239C-43A0-93FA-D0CA68E3C963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541083CD-ACBC-4721-9D93-DE22E59750C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7358BFAF-E847-40B5-B1B3-18B00EB3D072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A6D1E6A-7ABD-4856-B6F1-90EE02860D5F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DOMS, post-exercise inflammation, and muscle-damage marker management. Better suited to high recovery stress, dense competition, or noticeable soreness.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8D5338A-D296-4B07-8433-74FEE5969334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E568E11-5887-4221-94DE-A2C45EEF211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B4E62B3-F2FE-4E45-BBAC-7AB1464C0756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May reduce post-exercise soreness and some damage markers through NF-kB, COX-2, oxidative stress, and inflammatory-mediator modulation.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2A339B2-683D-4DAD-879A-F288A0688665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6C4BE007-6F3B-4867-835C-85C201BDB4C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178D241F-9736-4D4D-97C0-F7E410FE357D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345DE42-70D7-4B02-9DFC-B5180A8597CF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50E81074-72A1-411F-AA70-139722808829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44E8462D-B55C-4E8F-B17D-018F0DDC6DFA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High training load or noticeable DOMS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CD59D46E-480C-459D-AF30-23CF87AD5A1C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58395F8C-DC32-4913-9CF3-B841C044F76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Dense competition phases where recovery stress needs support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EDC4B004-7ECF-469F-A065-35E71F300CC5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DEC7ACDC-D8C6-4533-ABCD-6350D31F17CB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prefer plant-polyphenol recovery strategies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39F3027F-EEF9-47FC-BFD6-3755F59486BF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DDFCE2F1-D018-4009-9657-B9BB35E8FD89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understand formulation and bioavailability differences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752A76F-5D02-4E28-8BFB-33283C060DE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A29D6E2A-769C-4D72-97F2-7B700DB4EC99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with anticoagulants, perioperative periods, or gallbladder issues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C33AEA2-5CF7-4A4B-BD21-C7069AD667D5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003B8F7-7E91-4B7D-AB74-78E7B7216599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Reflux or GI-sensitive users should test tolerance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09229E13-47AE-46A7-A9CB-EA11366F77A5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64F67E2A-4A74-4C45-9FD2-29CACC841390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Using it to mask overtraining or poor sleep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7816F1F2-D8FE-44FF-A01D-90264F1ED9EF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41340251-E22B-4540-BBBA-C79555972DC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direct muscle gain or large strength improvements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2E52B106-CC07-438B-B41F-827A1245AD3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5061065C-1D21-4116-BF2B-5A8F13188E29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72E4BF6F-6718-4431-8E68-15F4EA583EA5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Frame as recovery support. Remind readers that stronger anti-inflammatory effects are not always better; training adaptation still needs normal stress signals.</a:t>
            </a:r>
          </a:p>
        </ns0:txBody>
      </ns0:sp>
    </ns0:spTree>
    <ns0:extLst>
      <ns0:ext uri="{BB962C8B-B14F-4D97-AF65-F5344CB8AC3E}">
        <ns3:creationId val="549539692"/>
      </ns0:ext>
    </ns0:extLst>
  </ns0:cSld>
</ns0:sld>
</file>

<file path=ppt/slides/slide1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244E9B7-34EF-4612-A48F-1B3C15CAF9A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E3C1DED-78BF-4FD4-8FB2-87702DCF734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AC33B3A6-F107-4E0B-8CBB-044346180CD1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C-B | Strong mitochondrial/antioxidant concept, inconsistent performance evidence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A8E9E05E-E1E1-4DB0-9577-81558496448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Coenzyme Q10 (CoQ10)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5D37A33-33B5-4BFA-9B8B-64C5DA4CF23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564ADBD-C7B7-4595-BC4A-CD962396C36C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89D3182-B52D-4A13-9A4E-5C2E18F7351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Coenzyme Q10 supplementation in athletes systematic review, 2023. PMID: 37764774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CoQ10 EIMD/performance/oxidative stress GRADE meta-analysis, 2024. PMID: 38479900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CoQ10 exercise performance systematic review/meta-analysis, 2026. PMID: 41457257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25FB034-C05B-49AC-9E86-4AB0965CCE10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E28BD942-5921-4EB5-9ED2-9C0CCA5AE3AA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7E03B0B-0F4B-40F5-8966-51240A61197B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0885ABF-0C1F-426A-9631-7D9C1FFA1666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mitochondrial electron transport, antioxidant status, fatigue, and post-exercise oxidative stress. Performance findings remain inconsistent.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D2ADDE5-3DC3-43E8-B123-8BD59135DC3A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FA377CE-EEA6-4829-8D8B-C064639A890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1B9F306-6A91-41CC-A1E9-D2ABB1B42D16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Functions as part of the mitochondrial electron transport chain and as a fat-soluble antioxidant, supporting ATP production and membrane-lipid protection.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28FF1B6-4807-4E78-829B-F82F210AC111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432496C2-CE78-43B0-9BEE-D1C8C142E9D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E9821371-8F57-4106-A81C-33E37C3D00C2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8EBF87F-6C39-4A09-AC2C-5F1C1EE45DA9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F9CC2D6C-8C73-4B0D-9F59-074BAF96D87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335E5025-1EF1-4F7D-870D-A5CC5FACAA36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Consider with high oxidative stress or high recovery demand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805FCC9B-FE26-4657-9461-054751EA714B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1A9B18F6-8DF4-4A6D-80DF-2055985E3316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Older users or those needing diet/health-status support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0B61AE88-968E-4257-ABFB-6E6BE1800496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F828E6CC-A53A-4F86-BF8A-59725E14FAC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targeting fatigue management who accept inconsistent effects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C628ADA-BEEF-4661-83DC-624CFB17341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F4F02B79-0711-46DB-8FB0-143A7A5B666B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able to choose standardized dosing and track response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384D83E4-1D89-4A12-9079-C35E669C0DAA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4F09D3BA-0AF9-44F7-9AE0-DE4A24172D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clear acute performance enhancement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2EC44F0-4153-4264-9EFB-CAB9B2BB89D9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607EB877-027F-4461-9332-2D7436A987F5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Anticoagulant users should consult a professional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1F0B6746-0DB7-4378-B25B-741103F84BDD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54E364C-F837-41AC-8BAA-6793D141B2D2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Using CoQ10 as a main fat-loss or muscle-gain tool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A483A0AE-AA4D-4F28-8ACB-708EC394EBDB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DC7ECB0A-A98D-427D-AF96-2DC5EDA014E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Limited budget while basics are not yet in place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4608C65B-AF6E-4CEA-871D-8C727257866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D04C019F-311F-429D-BF86-D88A401A6289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B7C19EC6-90BA-44E2-B0C2-BDB38C234D8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Place in advanced/health-status content, not as a Grade A performance supplement. Keep the claim conservative: markers may improve, performance results are inconsistent.</a:t>
            </a:r>
          </a:p>
        </ns0:txBody>
      </ns0:sp>
    </ns0:spTree>
    <ns0:extLst>
      <ns0:ext uri="{BB962C8B-B14F-4D97-AF65-F5344CB8AC3E}">
        <ns3:creationId val="173483172"/>
      </ns0:ext>
    </ns0:extLst>
  </ns0:cSld>
</ns0:sld>
</file>

<file path=ppt/slides/slide1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EE7D615C-E2A5-417B-B3E9-81C584D592E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A632DDF-1221-44B8-BA29-D4A11DF0785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6D70E9B7-4D92-44F0-A041-EB223AA07303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Grade B-C | Check ingredients, not just the pump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DFC2B9D-EE26-4893-B8C5-B826FAE437A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Pre-workout / Pump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AD9E7D04-FEDF-4264-8FB8-A5242796FBF7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54CE7593-C826-4511-9406-D2B08C73563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4E4E5BD-D316-4180-BF8E-EDE53C4C2EE3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Multi-ingredient pre-workout supplements review, JISSN, 2018. DOI: 10.1186/s12970-018-0247-6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caffeine position stand, 2021. PMCID: PMC7777221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D4E79D4-1917-45D3-8F88-0EC28A66334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9" name="">
            <a:extLst>
              <a:ext uri="{FF2B5EF4-FFF2-40B4-BE49-F238E27FC236}">
                <ns2:creationId id="{1C27B7BB-7142-4872-BA43-107F2B94588E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3F4BED15-303C-4632-839E-323EC897045F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08460A0-C407-43EE-A3DC-8C3CD2E4B359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pre-training energy, pump, focus, and local blood flow. Common ingredients include citrulline, arginine, nitrate, caffeine, and beta-alanine.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2C2E956-3B79-4D73-94E7-B79E7A0CADD5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2F55341-031E-46AE-A5AC-10D3FD7A5B5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34A35FD-1316-472A-96D1-739CAF7E7F7A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Usually combines NO-pathway ingredients, stimulants, and acid-base buffers to influence blood flow, alertness, perceived effort, and training volume.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6584876-42AE-4B77-A6A1-678C47A9D090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C7D6BC6-7F95-45DC-AC4C-989E7882AFF8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6A5BF369-C524-4A26-B418-8C34A590BBB3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EA7088F-76C3-4345-83FF-9DC220190167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66E8A15-351F-4CAC-A3EA-19AF60A0C4E6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E0C2D482-1A35-47A2-BED1-E542CC9568BD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needing pre-training focus and subjective drive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0F7A329B-BD08-42C5-BB03-0F2B796D9682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464B557-AC6C-456A-B79E-8C6BA79B79EC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can read ingredient doses and stimulant content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473F2E27-6357-4E33-98EC-2962D8596F7C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296B76E3-84E5-44CC-B06D-751859CAE27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seeking short-term pump or training feel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08A52EE-C0EE-46C8-B301-ADBD7422F949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D7F38744-48BB-420F-8F53-5307FA6EC667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know caffeine does not impair their sleep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2986AC01-0D4D-47D6-AC02-558F321573C2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EBA5A273-512E-4B1A-9B36-9977BBF01505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Palpitations, anxiety, hypertension, or stimulant sensitivity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C7D95F96-A669-470F-846A-4B98B0B74F41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36B0DF0E-ABD9-41BC-9854-D53FEA75CE29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Evening training when sleep is easily disrupted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A64938E-D405-40BB-B0F7-90161939662C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4366EF0-EAB6-4634-B9CE-211ABB0F15EB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Opaque formulas or proprietary blends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0B2F8BBB-2A1A-4CE2-A1F8-459DC2A7DC7F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9EF53BAD-D1DC-4F55-ACFE-0C3363D6D066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Athletes who have not checked third-party testing and anti-doping risk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436772AB-4B32-4B38-AFE7-175DCC176D5C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00FD9C73-2E78-4DE0-90B4-CEBC4F9C398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45773A5B-CA7C-4746-865B-0CC2BEAE7A7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Pre-workout is a product category, not a single supplement. Teach ingredient breakdown, dosing, total caffeine, sleep, and cardiovascular risk.</a:t>
            </a:r>
          </a:p>
        </ns0:txBody>
      </ns0:sp>
    </ns0:spTree>
    <ns0:extLst>
      <ns0:ext uri="{BB962C8B-B14F-4D97-AF65-F5344CB8AC3E}">
        <ns3:creationId val="641940505"/>
      </ns0:ext>
    </ns0:extLst>
  </ns0:cSld>
</ns0:sld>
</file>

<file path=ppt/slides/slide1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C2436689-BB7B-4217-B291-20036524616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DAD34F0-853A-4A73-8CFC-F80453C0D2B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2C7AAA2-CA39-4546-A442-40A21069118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B-C | NO-related, but often displaced by citrulline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ECD668A-73F7-4933-9386-D63F15685CB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L-Arginine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30A8AF3-CEE0-4C3A-952D-4ED96DFA4D7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2899C85C-3C72-449B-A467-C38459D97CA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C687F72-B82E-477B-9A77-8D6351A5210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Arginine athletic performance systematic review/meta-analysis, Nutrients, 2020. PMID: 32370176 / PMCID: PMC7282262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compare NO-related ingredients by evidence and context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DCCB01D8-1B24-4C73-B66E-EAE0DC766F8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BE51FBE7-0D6F-4CCC-93F9-F91BC423CE6A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15951EE-A1F4-4980-8DDF-CFB4341BA44E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2596C6F-39E9-4039-92D1-4518D73E438D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NO substrate, blood flow/pump, and some aerobic or anaerobic performance contexts. Acute studies often use about 0.15 g/kg 60-90 minutes pre-exercise.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C8CD64F-2342-445A-ABDF-7BD36E812F6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CB8759C7-326C-46B1-8157-B780169D4239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AD4CDDAE-5677-4E1D-B721-F70A5E07859F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Acts as a substrate for nitric oxide synthase and converts to NO, influencing vasodilation, blood flow, and the metabolic environment.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54E6AA5-78CC-4498-B13B-274303EF77BA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A98B1642-3AAD-4071-A105-CF6BB25D46A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EAC49C1-B0B4-40CD-A5F5-CDDC456C0094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EB876068-14DF-497A-BF25-B75E1CDC6E2D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ADEAD58-CCB9-4BF3-B724-E2B38AE3DC28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0CC1C11-6095-48F7-84B9-D7F736B5F76E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testing NO/pump response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5C6E9221-BBA1-43C5-B051-ADD738D1A550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4319FA6-3A35-42E2-9DD5-D6038F409352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cannot or do not want to use citrulline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C145D2C0-AE41-4182-90BA-F23543082520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44999D58-F721-4E20-9BAF-DA7604BF496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Trial use in aerobic or high-intensity contexts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7C7DACC-3257-4531-8A1A-273B6FB30CC7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FF24319-E923-486D-A9DE-D0045F48AAA8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willing to test GI tolerance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4A6F158F-FEAC-4322-9D7F-422EEAAA291E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9357D07E-A71C-4E28-B6CE-2AA52EA3DB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Low blood pressure or vasodilator/antihypertensive medication users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928C83E9-DE5E-4147-AFEF-79EA03907969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638B268C-4B7B-4F67-8302-F315D0519316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caution if herpes outbreaks recur easily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14A43CB-38F7-4109-BFAE-6EED7762BB74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18695C42-1E0C-4865-BFA1-F3F527673847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GI-sensitive users or those intolerant of high doses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7CC3BBD8-2969-4061-8942-C82ED67787C1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A46E0911-F5B4-449E-A08A-0A2B40E2E96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Expecting it to beat citrulline or nitrate in every context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7BB5377B-1610-413A-B18E-F72A29A8234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3DF5C824-0894-40C0-82FA-3A73A5DD630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8433E10C-233D-4141-BEC9-73F7FB58114B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Arginine is worth discussing, but place it inside an NO-supplement comparison. A strong angle is the difference between citrulline, nitrate, and arginine.</a:t>
            </a:r>
          </a:p>
        </ns0:txBody>
      </ns0:sp>
    </ns0:spTree>
    <ns0:extLst>
      <ns0:ext uri="{BB962C8B-B14F-4D97-AF65-F5344CB8AC3E}">
        <ns3:creationId val="936055607"/>
      </ns0:ext>
    </ns0:extLst>
  </ns0:cSld>
</ns0:sld>
</file>

<file path=ppt/slides/slide2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556E038-AD9D-48EC-A2DE-15B676F2F88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86BB598-F449-4427-9409-A60A99C15C67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726AD548-B977-44E1-9A88-E5EBB5D31EF1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Grade B-C | Worth discussing, but context is mandatory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5E4214C-8966-46D7-B441-F7CC5708A01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/ HMB / Polyphenols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AC188B97-1654-4699-9AD6-7C98BC03E2E5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15365ED7-631C-47B5-A762-23F19074327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7351B9E-ACC4-4722-B94E-B86651111AFB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citrulline on endurance performance systematic review/meta-analysis, 2023. PMCID: PMC10167868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HMB position stand, JISSN, 2013. PMID: 23374455 / DOI: 10.1186/1550-2783-10-6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Kuehl et al. tart cherry juice muscle pain RCT, JISSN, 2010. PMCID: PMC2874510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F0DD46F-3FC0-46AA-A332-FB5A20F5D911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3C607482-91C8-4646-AADD-FEBD5E6C9B42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4FC24BD0-5437-4C2E-878A-975CF2A08670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5248319-BDAF-4BC0-9DE0-3C72F3F4D245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citrulline for NO/blood flow and high-intensity performance; HMB for older adults, beginners, or calorie deficits; tart cherry/polyphenols for recovery, DOMS, and antioxidant support.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BB0C7C2-0A68-4C20-ADB7-44D295615B9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5070882B-084A-4A7F-AD2E-4D39455F4707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2F4F101-81CF-4A5D-8364-57BC190127E5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increases arginine/NO; HMB influences protein breakdown/synthesis; polyphenols modulate oxidative stress and inflammation.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B06BA6AB-A2B6-4BBB-B030-F261C83F7185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94DFD686-9150-4387-A741-4DB160361963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C0E6C58C-A478-4C85-9D25-4E1136CFC87D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E1FCC26-505D-48A5-B412-6328DFA47B9C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A86109E-0532-4FAF-85D6-89E7BAEA6BA5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5B974CE-930D-4A4B-A5C3-EBF4D9086ED6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Trainees seeking better pump/blood flow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0294E863-B8CE-4CAE-9828-D8EAB26BD154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DF91EAEE-555A-48D9-90DD-D2AB9119C20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Consider HMB for older adults, beginners, or calorie deficits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4A026DC-0A8C-45CD-A04B-8C9F6281E445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24A24CED-368C-4A64-A44E-E5A2D1B2C0E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Dense competition schedules or noticeable DOMS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135DA5C7-F462-425F-BD4F-B5F75B9AB56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C4518E60-9E02-4DEC-99A0-3D916D8A8F17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Users who prefer food-based recovery strategies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F96F99A6-052D-4E4F-99FD-45A116050E9E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10E9CD8D-7262-498D-846B-6069F6A5C5B9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Buying HMB before fixing training and protein intake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E4FF5C1-EB1E-4335-9EC6-3EFB73AA72C3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FD886E5-5086-4DE5-81EC-59F8EF662201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Use citrulline cautiously with low blood pressure or nitrate/vascular medications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99313E4-B6C1-4E62-91D3-0575A9F0BB91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0931FA47-5642-4016-8453-19BB3E33B731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Thinking more antioxidants are always better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F577D92-3009-4B4B-BEF9-FE2226B0413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3631CF4A-F519-4723-9833-A193500613A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Choose juice-based products carefully if controlling sugar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DD376460-DF2A-4A8A-98B3-F5B721DDE673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CE4F0003-1F81-4765-B9ED-1D203D28BE76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B8540C80-7C6E-4522-A303-6CFBD5E2710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Good for advanced supplement content, but be clear: these are not first-line supplements and are more context-dependent than creatine, protein powder, and caffeine.</a:t>
            </a:r>
          </a:p>
        </ns0:txBody>
      </ns0:sp>
    </ns0:spTree>
    <ns0:extLst>
      <ns0:ext uri="{BB962C8B-B14F-4D97-AF65-F5344CB8AC3E}">
        <ns3:creationId val="654992236"/>
      </ns0:ext>
    </ns0:extLst>
  </ns0:cSld>
</ns0:sld>
</file>

<file path=ppt/slides/slide2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E4CAC4EE-F6E4-4F03-9650-AD83B6782E6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804E9AE-B850-4E2E-9894-29744167D3A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AAF29761-3289-4621-AC6C-D3CDFF3A390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Grade C | Good for myth-busting, not miracle claims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E820F9A0-C63D-47EE-ADB3-C1413EDC1ED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/ GABA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C2DEB85-D946-42EA-954F-A09436E1DF21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F3629ED9-9F0F-4151-87DD-7210EE208180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0D53FEA-65D2-4A62-B43A-C526E81BD224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Glutamine athletes systematic review/meta-analysis, Clinical Nutrition, 2019. DOI: 10.1016/j.clnu.2018.03.030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Hepsomali et al. oral GABA stress/sleep systematic review, 2020. PMCID: PMC7527439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GABA + whey resistance training RCT, 2019. PMCID: PMC6522239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06133F2-61FD-4D21-B41B-DA4A3AAC6CA0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9" name="">
            <a:extLst>
              <a:ext uri="{FF2B5EF4-FFF2-40B4-BE49-F238E27FC236}">
                <ns2:creationId id="{7DA018ED-4762-4BD9-9BDB-CFBB43B53A36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2E06520D-3164-4862-B7A4-604E1577036C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766BF7A5-F861-4C43-AA9E-666CA43A0B5D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Core use: glutamine mainly for gut/immune/high-stress contexts; GABA mainly for sleep/stress. Some studies connect it to GH or lean mass, but evidence is limited.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C235AEF8-516D-4E78-A178-945F8DE2096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2C9F4975-3886-4391-840B-B146CA574CAD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Mechanism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76139659-0A98-4733-8F60-6C39E7ED74F9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supports gut/immune function and nitrogen metabolism; GABA may affect relaxation, stress, and sleep.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18C962D4-063D-4511-BC3C-0DEEC9FF9D24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141D1986-8BD5-4E55-8A7F-BCC8CEC1534C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22369F9D-1C64-47C7-8090-04E9D821F8EF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Suitable Users / Contexts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1622E5A-78C7-4C1A-B7A9-7A5F691BD366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Not Suitable / Use Caution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39C1B88-6B49-4F7A-AEE6-D7FA5F278A58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B2C58A8F-296A-4781-AD95-912C849A87E2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Consider only with very high training or gut stress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EACC8B21-EFA8-4342-99D2-293C697FF22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4339A6EA-CB24-4EF9-BFFC-96E3BB8A5C81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Discuss GABA cautiously in sleep/stress content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66A593B1-57E4-4C76-97ED-74E0C2ECB718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B77208B5-7798-4C4F-A605-07C4B4210EC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Fix protein intake first if protein is low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09B1B66-E3F6-475D-932A-DA561DF6252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BC2BF24B-2B1A-4296-9A0C-68197D01BC7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Audience interested in evidence-based myth-busting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C63678D3-E222-4A6F-982A-8C9E3BE4C5E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530FC6CA-38A4-4ADE-9EDD-70D70AB413C7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General hypertrophy users treating glutamine as a primary supplement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2C5E3B4D-02A9-40D6-888D-4C89F78332A6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E8E922AC-CC64-498F-982A-5452B3C55A96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Selling GABA = GH = guaranteed muscle gain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02C4869-5BE0-402E-85DC-D14516488C5F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4ECF9D20-5285-452D-83AB-84D40EE737F6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Stacking GABA with sedatives/sleep medications without guidance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71584B4-4BB9-469D-9162-79DA83C0F9F3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1F1F33F2-AC20-46BB-A4E1-63695B69212F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Pregnancy, medical conditions, or medications without professional guidance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AA4C4D49-32B9-4EFA-93A2-A90A42C3738E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DA84F1A4-E000-4CE4-8124-A546430E6FC2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How to Frame It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D4BB13ED-B797-41C3-8F76-9DF665BEF34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These are useful for anti-hype content: not useless, but narrow in use and easy to overclaim.</a:t>
            </a:r>
          </a:p>
        </ns0:txBody>
      </ns0:sp>
    </ns0:spTree>
    <ns0:extLst>
      <ns0:ext uri="{BB962C8B-B14F-4D97-AF65-F5344CB8AC3E}">
        <ns3:creationId val="1185505708"/>
      </ns0:ext>
    </ns0:extLst>
  </ns0:cSld>
</ns0:sld>
</file>

<file path=ppt/slides/slide2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0027DCB-031B-4416-B1B4-9F61AD31DC5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DE4A2FF-493A-42E2-AD4B-58A12214F50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48266C88-7C96-4CC3-814A-B57783AFF08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Supplement Deck | Keep the Foundation First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527C2E02-44B6-43C5-8375-ED6563897D38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Beyond Supplements: Recovery and Resistance Training Are the Foundation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252EE75-D573-4031-B48F-C80F40FDF9C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30A7413A-2739-474E-AB62-5C682F96062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BFDE576-445D-4A2E-B8C4-BBFB04B0A44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ACSM Progression Models in Resistance Training for Healthy Adults, 2009. PMID: 19204579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ACSM simplified position stand PDF, 2009 MSSE 41(3):687-708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protein and exercise; ISSN creatine position stand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5C4BAE0-E123-4F23-8AC4-5484B000F1C6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EEE87431-B005-4828-AAEF-F927CB8D7BCD}"/>
              </a:ext>
            </a:extLst>
          </ns0:cNvPr>
          <ns0:cNvSpPr>
            <a:spLocks noGrp="1"/>
          </ns0:cNvSpPr>
          <ns0:nvPr/>
        </ns0:nvSpPr>
        <ns0:spPr>
          <a:xfrm>
            <a:off x="704850" y="1562100"/>
            <a:ext cx="3048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9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Priority Order for Hypertrophy and Recovery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03923702-C0F0-4126-89B2-2C7A40933275}"/>
              </a:ext>
            </a:extLst>
          </ns0:cNvPr>
          <ns0:cNvSpPr>
            <a:spLocks noGrp="1"/>
          </ns0:cNvSpPr>
          <ns0:nvPr/>
        </ns0:nvSpPr>
        <ns0:spPr>
          <a:xfrm>
            <a:off x="742950" y="20955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1" name="">
            <a:extLst>
              <a:ext uri="{FF2B5EF4-FFF2-40B4-BE49-F238E27FC236}">
                <ns2:creationId id="{1D18B93E-4673-492C-BE19-C8F278A3E2FC}"/>
              </a:ext>
            </a:extLst>
          </ns0:cNvPr>
          <ns0:cNvSpPr>
            <a:spLocks noGrp="1"/>
          </ns0:cNvSpPr>
          <ns0:nvPr/>
        </ns0:nvSpPr>
        <ns0:spPr>
          <a:xfrm>
            <a:off x="857250" y="21336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AE86E15D-D053-4FA9-A3A2-542266A30EEF}"/>
              </a:ext>
            </a:extLst>
          </ns0:cNvPr>
          <ns0:cNvSpPr>
            <a:spLocks noGrp="1"/>
          </ns0:cNvSpPr>
          <ns0:nvPr/>
        </ns0:nvSpPr>
        <ns0:spPr>
          <a:xfrm>
            <a:off x="1333500" y="20764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Resistance Training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C449E536-35AB-4EF4-AE39-CF605DC6A819}"/>
              </a:ext>
            </a:extLst>
          </ns0:cNvPr>
          <ns0:cNvSpPr>
            <a:spLocks noGrp="1"/>
          </ns0:cNvSpPr>
          <ns0:nvPr/>
        </ns0:nvSpPr>
        <ns0:spPr>
          <a:xfrm>
            <a:off x="2990850" y="20955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Progressive overload, enough volume, proximity to failure, long-term consistency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E953B359-689F-4A35-B9E2-278FFC930FAA}"/>
              </a:ext>
            </a:extLst>
          </ns0:cNvPr>
          <ns0:cNvSpPr>
            <a:spLocks noGrp="1"/>
          </ns0:cNvSpPr>
          <ns0:nvPr/>
        </ns0:nvSpPr>
        <ns0:spPr>
          <a:xfrm>
            <a:off x="742950" y="27813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5" name="">
            <a:extLst>
              <a:ext uri="{FF2B5EF4-FFF2-40B4-BE49-F238E27FC236}">
                <ns2:creationId id="{0A7E558A-864D-43E6-AD54-99FA528DDEBC}"/>
              </a:ext>
            </a:extLst>
          </ns0:cNvPr>
          <ns0:cNvSpPr>
            <a:spLocks noGrp="1"/>
          </ns0:cNvSpPr>
          <ns0:nvPr/>
        </ns0:nvSpPr>
        <ns0:spPr>
          <a:xfrm>
            <a:off x="857250" y="28194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17A4FE83-DE19-4FFE-8E35-1606432E2C72}"/>
              </a:ext>
            </a:extLst>
          </ns0:cNvPr>
          <ns0:cNvSpPr>
            <a:spLocks noGrp="1"/>
          </ns0:cNvSpPr>
          <ns0:nvPr/>
        </ns0:nvSpPr>
        <ns0:spPr>
          <a:xfrm>
            <a:off x="1333500" y="27622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Energy and Protein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8285174B-4B93-443D-92A6-AD29147441D9}"/>
              </a:ext>
            </a:extLst>
          </ns0:cNvPr>
          <ns0:cNvSpPr>
            <a:spLocks noGrp="1"/>
          </ns0:cNvSpPr>
          <ns0:nvPr/>
        </ns0:nvSpPr>
        <ns0:spPr>
          <a:xfrm>
            <a:off x="2990850" y="27813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Calories, daily protein, and meal distribution come before supplement choice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4F289BF-C9F8-4402-920E-523C1B13797C}"/>
              </a:ext>
            </a:extLst>
          </ns0:cNvPr>
          <ns0:cNvSpPr>
            <a:spLocks noGrp="1"/>
          </ns0:cNvSpPr>
          <ns0:nvPr/>
        </ns0:nvSpPr>
        <ns0:spPr>
          <a:xfrm>
            <a:off x="742950" y="3467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9" name="">
            <a:extLst>
              <a:ext uri="{FF2B5EF4-FFF2-40B4-BE49-F238E27FC236}">
                <ns2:creationId id="{0F67F345-6B11-4BD0-91F8-3AF8D8CC31C9}"/>
              </a:ext>
            </a:extLst>
          </ns0:cNvPr>
          <ns0:cNvSpPr>
            <a:spLocks noGrp="1"/>
          </ns0:cNvSpPr>
          <ns0:nvPr/>
        </ns0:nvSpPr>
        <ns0:spPr>
          <a:xfrm>
            <a:off x="857250" y="35052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54D695E8-8A8C-4522-AFF5-12B3ECE057CB}"/>
              </a:ext>
            </a:extLst>
          </ns0:cNvPr>
          <ns0:cNvSpPr>
            <a:spLocks noGrp="1"/>
          </ns0:cNvSpPr>
          <ns0:nvPr/>
        </ns0:nvSpPr>
        <ns0:spPr>
          <a:xfrm>
            <a:off x="1333500" y="34480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Sleep and Stress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CBFE9A9-8EA2-4E58-A892-6D2E5F7FB2B0}"/>
              </a:ext>
            </a:extLst>
          </ns0:cNvPr>
          <ns0:cNvSpPr>
            <a:spLocks noGrp="1"/>
          </ns0:cNvSpPr>
          <ns0:nvPr/>
        </ns0:nvSpPr>
        <ns0:spPr>
          <a:xfrm>
            <a:off x="2990850" y="34671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Recovery quality determines whether training can keep accumulating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131966A1-E34B-44BB-A039-D25543056B68}"/>
              </a:ext>
            </a:extLst>
          </ns0:cNvPr>
          <ns0:cNvSpPr>
            <a:spLocks noGrp="1"/>
          </ns0:cNvSpPr>
          <ns0:nvPr/>
        </ns0:nvSpPr>
        <ns0:spPr>
          <a:xfrm>
            <a:off x="742950" y="41529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23" name="">
            <a:extLst>
              <a:ext uri="{FF2B5EF4-FFF2-40B4-BE49-F238E27FC236}">
                <ns2:creationId id="{0331C5E9-0504-4A1F-A39F-8AA3758C3B61}"/>
              </a:ext>
            </a:extLst>
          </ns0:cNvPr>
          <ns0:cNvSpPr>
            <a:spLocks noGrp="1"/>
          </ns0:cNvSpPr>
          <ns0:nvPr/>
        </ns0:nvSpPr>
        <ns0:spPr>
          <a:xfrm>
            <a:off x="857250" y="41910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A7F7AB7E-80F1-4702-A527-DBD8611EF0BB}"/>
              </a:ext>
            </a:extLst>
          </ns0:cNvPr>
          <ns0:cNvSpPr>
            <a:spLocks noGrp="1"/>
          </ns0:cNvSpPr>
          <ns0:nvPr/>
        </ns0:nvSpPr>
        <ns0:spPr>
          <a:xfrm>
            <a:off x="1333500" y="41338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Contextual Supplements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FF2BD390-B3FE-4913-85DF-0A4E410726F8}"/>
              </a:ext>
            </a:extLst>
          </ns0:cNvPr>
          <ns0:cNvSpPr>
            <a:spLocks noGrp="1"/>
          </ns0:cNvSpPr>
          <ns0:nvPr/>
        </ns0:nvSpPr>
        <ns0:spPr>
          <a:xfrm>
            <a:off x="2990850" y="41529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Creatine, caffeine, nitrate, omega-3, and similar tools only amplify results in the right context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59A1E0EB-F360-4FC2-8115-044025D63AC8}"/>
              </a:ext>
            </a:extLst>
          </ns0:cNvPr>
          <ns0:cNvSpPr>
            <a:spLocks noGrp="1"/>
          </ns0:cNvSpPr>
          <ns0:nvPr/>
        </ns0:nvSpPr>
        <ns0:spPr>
          <a:xfrm>
            <a:off x="457200" y="5334000"/>
            <a:ext cx="7677150" cy="685800"/>
          </a:xfrm>
          <a:prstGeom prst="roundRect">
            <a:avLst>
              <a:gd name="adj" fmla="val 11111"/>
            </a:avLst>
          </a:prstGeom>
          <a:solidFill>
            <a:srgbClr val="FFF3E6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EECF29A6-BC05-40CB-9B7E-A6B6787ADE97}"/>
              </a:ext>
            </a:extLst>
          </ns0:cNvPr>
          <ns0:cNvSpPr>
            <a:spLocks noGrp="1"/>
          </ns0:cNvSpPr>
          <ns0:nvPr/>
        </ns0:nvSpPr>
        <ns0:spPr>
          <a:xfrm>
            <a:off x="666750" y="5524500"/>
            <a:ext cx="9525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Key Line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B9A090E3-C9E0-494B-B5A3-B5A21A9C40E7}"/>
              </a:ext>
            </a:extLst>
          </ns0:cNvPr>
          <ns0:cNvSpPr>
            <a:spLocks noGrp="1"/>
          </ns0:cNvSpPr>
          <ns0:nvPr/>
        </ns0:nvSpPr>
        <ns0:spPr>
          <a:xfrm>
            <a:off x="1581150" y="5505450"/>
            <a:ext cx="6191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Supplements are amplifiers, not replacements. Without training, nutrition, and sleep, they only amplify chaos.</a:t>
            </a:r>
          </a:p>
        </ns0:txBody>
      </ns0:sp>
    </ns0:spTree>
    <ns0:extLst>
      <ns0:ext uri="{BB962C8B-B14F-4D97-AF65-F5344CB8AC3E}">
        <ns3:creationId val="1301480279"/>
      </ns0:ext>
    </ns0:extLst>
  </ns0:cSld>
</ns0:sld>
</file>

<file path=ppt/slides/slide2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495B7DA-BFF2-48D4-B77D-A52792A1942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435CAFF-17AB-47D3-B7C7-1698F19D7B1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1DC1FF7A-24DB-46DF-80BD-192FFBF41212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Supplement Deck | Sales and Compliance Language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C3EF82C4-63AE-4A47-870C-F856901E98C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For Knowledge Products, Credibility Is the Moat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F827608-7AA0-42B6-9C8F-D07CB65B6836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32BB881-F4D4-4207-9594-43503F916C42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References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DC4416B-9648-4B91-8EE9-094389FC24F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consensus: supplement risk includes contamination, mislabeling and inappropriate use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framework: supplement classification changes with evidence and context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WADA / anti-doping risk: choose third-party tested products for athletes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8DBF6F76-2B88-447F-852A-8A4075F7CD90}"/>
              </a:ext>
            </a:extLst>
          </ns0:cNvPr>
          <ns0:cNvSpPr>
            <a:spLocks noGrp="1"/>
          </ns0:cNvSpPr>
          <ns0:nvPr/>
        </ns0:nvSpPr>
        <ns0:spPr>
          <a:xfrm>
            <a:off x="495300" y="1409700"/>
            <a:ext cx="3619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0776FF47-0058-4049-9936-77BCD82D0730}"/>
              </a:ext>
            </a:extLst>
          </ns0:cNvPr>
          <ns0:cNvSpPr>
            <a:spLocks noGrp="1"/>
          </ns0:cNvSpPr>
          <ns0:nvPr/>
        </ns0:nvSpPr>
        <ns0:spPr>
          <a:xfrm>
            <a:off x="742950" y="1638300"/>
            <a:ext cx="17145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Say This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297693A6-25E8-4C48-9C24-A8AB92A6847E}"/>
              </a:ext>
            </a:extLst>
          </ns0:cNvPr>
          <ns0:cNvSpPr>
            <a:spLocks noGrp="1"/>
          </ns0:cNvSpPr>
          <ns0:nvPr/>
        </ns0:nvSpPr>
        <ns0:spPr>
          <a:xfrm>
            <a:off x="762000" y="22574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1" name="">
            <a:extLst>
              <a:ext uri="{FF2B5EF4-FFF2-40B4-BE49-F238E27FC236}">
                <ns2:creationId id="{66A6ED62-4FA7-433A-A56C-85383963AEB8}"/>
              </a:ext>
            </a:extLst>
          </ns0:cNvPr>
          <ns0:cNvSpPr>
            <a:spLocks noGrp="1"/>
          </ns0:cNvSpPr>
          <ns0:nvPr/>
        </ns0:nvSpPr>
        <ns0:spPr>
          <a:xfrm>
            <a:off x="933450" y="21907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"May help in these contexts"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7D3438B-B692-42C2-B23E-B9D555D1D77C}"/>
              </a:ext>
            </a:extLst>
          </ns0:cNvPr>
          <ns0:cNvSpPr>
            <a:spLocks noGrp="1"/>
          </ns0:cNvSpPr>
          <ns0:nvPr/>
        </ns0:nvSpPr>
        <ns0:spPr>
          <a:xfrm>
            <a:off x="762000" y="27717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3" name="">
            <a:extLst>
              <a:ext uri="{FF2B5EF4-FFF2-40B4-BE49-F238E27FC236}">
                <ns2:creationId id="{0F33DD2F-0B3C-4C16-B745-C3ACC4E3AE8B}"/>
              </a:ext>
            </a:extLst>
          </ns0:cNvPr>
          <ns0:cNvSpPr>
            <a:spLocks noGrp="1"/>
          </ns0:cNvSpPr>
          <ns0:nvPr/>
        </ns0:nvSpPr>
        <ns0:spPr>
          <a:xfrm>
            <a:off x="933450" y="27051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"Evidence strength is A/B/C"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111B75A-12A9-4F04-9763-F35BD023717A}"/>
              </a:ext>
            </a:extLst>
          </ns0:cNvPr>
          <ns0:cNvSpPr>
            <a:spLocks noGrp="1"/>
          </ns0:cNvSpPr>
          <ns0:nvPr/>
        </ns0:nvSpPr>
        <ns0:spPr>
          <a:xfrm>
            <a:off x="762000" y="3286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5" name="">
            <a:extLst>
              <a:ext uri="{FF2B5EF4-FFF2-40B4-BE49-F238E27FC236}">
                <ns2:creationId id="{32DA2A26-8EBF-41ED-B103-DAE50F16AABE}"/>
              </a:ext>
            </a:extLst>
          </ns0:cNvPr>
          <ns0:cNvSpPr>
            <a:spLocks noGrp="1"/>
          </ns0:cNvSpPr>
          <ns0:nvPr/>
        </ns0:nvSpPr>
        <ns0:spPr>
          <a:xfrm>
            <a:off x="933450" y="32194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"Confirm training and nutrition foundations first"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CE2AE0E9-3E4D-4BB4-942F-DC38E3B4585C}"/>
              </a:ext>
            </a:extLst>
          </ns0:cNvPr>
          <ns0:cNvSpPr>
            <a:spLocks noGrp="1"/>
          </ns0:cNvSpPr>
          <ns0:nvPr/>
        </ns0:nvSpPr>
        <ns0:spPr>
          <a:xfrm>
            <a:off x="762000" y="38004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7" name="">
            <a:extLst>
              <a:ext uri="{FF2B5EF4-FFF2-40B4-BE49-F238E27FC236}">
                <ns2:creationId id="{E09D045F-C171-4F5F-B441-EDC5AA09A0F1}"/>
              </a:ext>
            </a:extLst>
          </ns0:cNvPr>
          <ns0:cNvSpPr>
            <a:spLocks noGrp="1"/>
          </ns0:cNvSpPr>
          <ns0:nvPr/>
        </ns0:nvSpPr>
        <ns0:spPr>
          <a:xfrm>
            <a:off x="933450" y="37338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"Consult a professional if you have medical conditions or medications"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5209E8F-025A-42BF-BA46-087D70F71A00}"/>
              </a:ext>
            </a:extLst>
          </ns0:cNvPr>
          <ns0:cNvSpPr>
            <a:spLocks noGrp="1"/>
          </ns0:cNvSpPr>
          <ns0:nvPr/>
        </ns0:nvSpPr>
        <ns0:spPr>
          <a:xfrm>
            <a:off x="4495800" y="1409700"/>
            <a:ext cx="3619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15D3253F-9374-4167-BF43-4B5CF09A19D3}"/>
              </a:ext>
            </a:extLst>
          </ns0:cNvPr>
          <ns0:cNvSpPr>
            <a:spLocks noGrp="1"/>
          </ns0:cNvSpPr>
          <ns0:nvPr/>
        </ns0:nvSpPr>
        <ns0:spPr>
          <a:xfrm>
            <a:off x="4743450" y="1638300"/>
            <a:ext cx="17145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Do Not Say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100F8B7F-D494-4809-8CDA-2D3E4CDFDC17}"/>
              </a:ext>
            </a:extLst>
          </ns0:cNvPr>
          <ns0:cNvSpPr>
            <a:spLocks noGrp="1"/>
          </ns0:cNvSpPr>
          <ns0:nvPr/>
        </ns0:nvSpPr>
        <ns0:spPr>
          <a:xfrm>
            <a:off x="4762500" y="22574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1" name="">
            <a:extLst>
              <a:ext uri="{FF2B5EF4-FFF2-40B4-BE49-F238E27FC236}">
                <ns2:creationId id="{ECC43D5B-C129-4969-8F54-D325598E70E2}"/>
              </a:ext>
            </a:extLst>
          </ns0:cNvPr>
          <ns0:cNvSpPr>
            <a:spLocks noGrp="1"/>
          </ns0:cNvSpPr>
          <ns0:nvPr/>
        </ns0:nvSpPr>
        <ns0:spPr>
          <a:xfrm>
            <a:off x="4933950" y="21907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"Guaranteed muscle gain/fat loss/treatment"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6768C5B5-D05F-48CD-9C60-C92D6DFBB358}"/>
              </a:ext>
            </a:extLst>
          </ns0:cNvPr>
          <ns0:cNvSpPr>
            <a:spLocks noGrp="1"/>
          </ns0:cNvSpPr>
          <ns0:nvPr/>
        </ns0:nvSpPr>
        <ns0:spPr>
          <a:xfrm>
            <a:off x="4762500" y="27717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3" name="">
            <a:extLst>
              <a:ext uri="{FF2B5EF4-FFF2-40B4-BE49-F238E27FC236}">
                <ns2:creationId id="{EFA39D1A-40DB-4DCE-A987-EAC8B1EA1B8D}"/>
              </a:ext>
            </a:extLst>
          </ns0:cNvPr>
          <ns0:cNvSpPr>
            <a:spLocks noGrp="1"/>
          </ns0:cNvSpPr>
          <ns0:nvPr/>
        </ns0:nvSpPr>
        <ns0:spPr>
          <a:xfrm>
            <a:off x="4933950" y="27051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"Suitable for everyone"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218884DB-7097-4F36-8619-3D28D92C586A}"/>
              </a:ext>
            </a:extLst>
          </ns0:cNvPr>
          <ns0:cNvSpPr>
            <a:spLocks noGrp="1"/>
          </ns0:cNvSpPr>
          <ns0:nvPr/>
        </ns0:nvSpPr>
        <ns0:spPr>
          <a:xfrm>
            <a:off x="4762500" y="3286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5" name="">
            <a:extLst>
              <a:ext uri="{FF2B5EF4-FFF2-40B4-BE49-F238E27FC236}">
                <ns2:creationId id="{0E3B8F98-13EA-4203-832B-5FE9D9F9B2F2}"/>
              </a:ext>
            </a:extLst>
          </ns0:cNvPr>
          <ns0:cNvSpPr>
            <a:spLocks noGrp="1"/>
          </ns0:cNvSpPr>
          <ns0:nvPr/>
        </ns0:nvSpPr>
        <ns0:spPr>
          <a:xfrm>
            <a:off x="4933950" y="32194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"Higher dose is always better"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D650743F-22A6-4702-96E3-FB4A4B5420DC}"/>
              </a:ext>
            </a:extLst>
          </ns0:cNvPr>
          <ns0:cNvSpPr>
            <a:spLocks noGrp="1"/>
          </ns0:cNvSpPr>
          <ns0:nvPr/>
        </ns0:nvSpPr>
        <ns0:spPr>
          <a:xfrm>
            <a:off x="4762500" y="38004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7" name="">
            <a:extLst>
              <a:ext uri="{FF2B5EF4-FFF2-40B4-BE49-F238E27FC236}">
                <ns2:creationId id="{E78CE6E4-5886-47A2-90C1-5AE984826772}"/>
              </a:ext>
            </a:extLst>
          </ns0:cNvPr>
          <ns0:cNvSpPr>
            <a:spLocks noGrp="1"/>
          </ns0:cNvSpPr>
          <ns0:nvPr/>
        </ns0:nvSpPr>
        <ns0:spPr>
          <a:xfrm>
            <a:off x="4933950" y="37338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"A study exists = it definitely works"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7BD15997-059F-4585-8ABF-2BAB4F1EB826}"/>
              </a:ext>
            </a:extLst>
          </ns0:cNvPr>
          <ns0:cNvSpPr>
            <a:spLocks noGrp="1"/>
          </ns0:cNvSpPr>
          <ns0:nvPr/>
        </ns0:nvSpPr>
        <ns0:spPr>
          <a:xfrm>
            <a:off x="666750" y="5572125"/>
            <a:ext cx="72390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The best product does not just tell readers what to buy; it teaches them when not to buy.</a:t>
            </a:r>
          </a:p>
        </ns0:txBody>
      </ns0:sp>
    </ns0:spTree>
    <ns0:extLst>
      <ns0:ext uri="{BB962C8B-B14F-4D97-AF65-F5344CB8AC3E}">
        <ns3:creationId val="101316644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2026-05-27T03:19:14.2860000Z</dcterms:created>
  <dcterms:modified xsi:type="dcterms:W3CDTF">2026-05-27T03:19:14.2860000Z</dcterms:modified>
</coreProperties>
</file>